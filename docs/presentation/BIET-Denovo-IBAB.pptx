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BIET, from Team Denovo at IBAB. It answers the affordability question a payer asks before any reimbursement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distinction early: BIA is affordability, CEA is efficiency. Judges from a health-economics background will check you know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funnel is the heart of a BIA and where most reviewer questions land. Eight million lives become 181,764 treatable patients.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decision that matters: the engine is client-side, so there is no request between changing an input and seeing a new number. That is what makes live sensitivity possible on free hosting.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both numbers. €296.6 million sounds alarming; 13 cents per member per month is the same fact in the unit a payer actually negotiates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reference case is the strongest thing on this slide: a reviewer can do the multiplication in their head and check our engine agrees.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the limits is deliberate. A reviewer who finds an unstated limit stops trusting everything else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takeaways. Middle card is the differentiator; the third is what makes it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8728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1072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34172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57616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106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0450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2794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51392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74836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9828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2172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4516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68612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92056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5500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38944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962388" y="0"/>
            <a:ext cx="0" cy="105156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0" y="0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123444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246888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370332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493776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0" y="617220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740664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0" y="864108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987552"/>
            <a:ext cx="2103120" cy="0"/>
          </a:xfrm>
          <a:prstGeom prst="line">
            <a:avLst/>
          </a:prstGeom>
          <a:noFill/>
          <a:ln w="7620">
            <a:solidFill>
              <a:srgbClr val="9FD9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78440" y="1463040"/>
            <a:ext cx="1810512" cy="384048"/>
          </a:xfrm>
          <a:prstGeom prst="roundRect">
            <a:avLst>
              <a:gd name="adj" fmla="val 14286"/>
            </a:avLst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61043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32366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03690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75013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546336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17659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88982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760306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31629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02952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74275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045598" y="2697480"/>
            <a:ext cx="0" cy="1371600"/>
          </a:xfrm>
          <a:prstGeom prst="line">
            <a:avLst/>
          </a:prstGeom>
          <a:noFill/>
          <a:ln w="11430">
            <a:solidFill>
              <a:srgbClr val="4FC3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03504" y="1783080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603504" y="1783080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603504" y="1783080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603504" y="1783080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603504" y="1783080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603504" y="1783080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603504" y="1783080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603504" y="1783080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603504" y="1783080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03504" y="1783080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03504" y="1783080"/>
            <a:ext cx="1257300" cy="1257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76656" y="1856232"/>
            <a:ext cx="1225296" cy="12252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90956" y="1970532"/>
            <a:ext cx="1110996" cy="11109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905256" y="2084832"/>
            <a:ext cx="996696" cy="9966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1019556" y="2199132"/>
            <a:ext cx="882396" cy="8823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1133856" y="2313432"/>
            <a:ext cx="768096" cy="7680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1248156" y="2427732"/>
            <a:ext cx="653796" cy="6537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1362456" y="2542032"/>
            <a:ext cx="539496" cy="5394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1476756" y="2656332"/>
            <a:ext cx="425196" cy="4251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1591056" y="2770632"/>
            <a:ext cx="310896" cy="3108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1705356" y="2884932"/>
            <a:ext cx="196596" cy="1965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819656" y="2999232"/>
            <a:ext cx="82296" cy="82296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0" y="6053328"/>
            <a:ext cx="2331720" cy="804672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31720" y="6053328"/>
            <a:ext cx="3200400" cy="804672"/>
          </a:xfrm>
          <a:prstGeom prst="rect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532120" y="6053328"/>
            <a:ext cx="1371600" cy="804672"/>
          </a:xfrm>
          <a:prstGeom prst="rect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2331720" y="146304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6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IBAB   ·   TEAM DENOVO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6263640" y="14630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early-stage-bia.onrender.com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2286000" y="1792224"/>
            <a:ext cx="73152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BIET</a:t>
            </a:r>
            <a:endParaRPr lang="en-US" sz="9200" dirty="0"/>
          </a:p>
        </p:txBody>
      </p:sp>
      <p:sp>
        <p:nvSpPr>
          <p:cNvPr id="71" name="Text 69"/>
          <p:cNvSpPr txBox="1"/>
          <p:nvPr/>
        </p:nvSpPr>
        <p:spPr>
          <a:xfrm>
            <a:off x="2331720" y="3291840"/>
            <a:ext cx="7498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D3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Impact Estimation Tool</a:t>
            </a:r>
            <a:endParaRPr lang="en-US" sz="2600" dirty="0"/>
          </a:p>
        </p:txBody>
      </p:sp>
      <p:sp>
        <p:nvSpPr>
          <p:cNvPr id="72" name="Text 70"/>
          <p:cNvSpPr txBox="1"/>
          <p:nvPr/>
        </p:nvSpPr>
        <p:spPr>
          <a:xfrm>
            <a:off x="2331720" y="382219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budget impact analysis for pharmaceutical decision support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331720" y="4315968"/>
            <a:ext cx="7973568" cy="1517904"/>
          </a:xfrm>
          <a:prstGeom prst="roundRect">
            <a:avLst>
              <a:gd name="adj" fmla="val 4819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2606040" y="44439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spc="11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40" dirty="0"/>
          </a:p>
        </p:txBody>
      </p:sp>
      <p:sp>
        <p:nvSpPr>
          <p:cNvPr id="75" name="Text 73"/>
          <p:cNvSpPr txBox="1"/>
          <p:nvPr/>
        </p:nvSpPr>
        <p:spPr>
          <a:xfrm>
            <a:off x="2606040" y="4645152"/>
            <a:ext cx="74432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Early-stage drug teams cannot answer a payer's first question — what will this cost my budget? — without weeks of bespoke spreadsheet work.</a:t>
            </a:r>
            <a:endParaRPr lang="en-US" sz="1180" dirty="0"/>
          </a:p>
        </p:txBody>
      </p:sp>
      <p:sp>
        <p:nvSpPr>
          <p:cNvPr id="76" name="Text 74"/>
          <p:cNvSpPr txBox="1"/>
          <p:nvPr/>
        </p:nvSpPr>
        <p:spPr>
          <a:xfrm>
            <a:off x="2606040" y="51206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spc="110" kern="0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OUTCOME</a:t>
            </a:r>
            <a:endParaRPr lang="en-US" sz="940" dirty="0"/>
          </a:p>
        </p:txBody>
      </p:sp>
      <p:sp>
        <p:nvSpPr>
          <p:cNvPr id="77" name="Text 75"/>
          <p:cNvSpPr txBox="1"/>
          <p:nvPr/>
        </p:nvSpPr>
        <p:spPr>
          <a:xfrm>
            <a:off x="2606040" y="5321808"/>
            <a:ext cx="74432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five-year model in under 10 minutes instead of weeks, every figure traceable to the input behind it.</a:t>
            </a:r>
            <a:endParaRPr lang="en-US" sz="11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378440" y="457200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378440" y="457200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378440" y="457200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378440" y="457200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378440" y="457200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378440" y="457200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378440" y="457200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378440" y="457200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378440" y="457200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378440" y="457200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378440" y="457200"/>
            <a:ext cx="1257300" cy="1257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424160" y="502920"/>
            <a:ext cx="1280160" cy="12801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538460" y="617220"/>
            <a:ext cx="1165860" cy="11658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0652760" y="731520"/>
            <a:ext cx="1051560" cy="10515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0767060" y="845820"/>
            <a:ext cx="937260" cy="9372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0881360" y="960120"/>
            <a:ext cx="822960" cy="8229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0995660" y="1074420"/>
            <a:ext cx="708660" cy="7086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109960" y="1188720"/>
            <a:ext cx="594360" cy="5943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224260" y="1303020"/>
            <a:ext cx="480060" cy="4800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338560" y="1417320"/>
            <a:ext cx="365760" cy="3657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1452860" y="1531620"/>
            <a:ext cx="251460" cy="2514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1567160" y="1645920"/>
            <a:ext cx="137160" cy="13716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155680" y="5394960"/>
            <a:ext cx="1033272" cy="1463040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DECK COVERS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204825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20848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0" y="21031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payers ask, and why it is slow to answer</a:t>
            </a:r>
            <a:endParaRPr lang="en-US" sz="124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20939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13232" y="2514600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3232" y="2624328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1463040" y="26609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innovation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0" y="26791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original in the approach</a:t>
            </a:r>
            <a:endParaRPr lang="en-US" sz="124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26700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13232" y="3090672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3232" y="3200400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1463040" y="32369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0" y="325526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guided flow, six inputs, seven views</a:t>
            </a:r>
            <a:endParaRPr lang="en-US" sz="1240" dirty="0"/>
          </a:p>
        </p:txBody>
      </p:sp>
      <p:sp>
        <p:nvSpPr>
          <p:cNvPr id="40" name="Text 38"/>
          <p:cNvSpPr txBox="1"/>
          <p:nvPr/>
        </p:nvSpPr>
        <p:spPr>
          <a:xfrm>
            <a:off x="10607040" y="3246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5–6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13232" y="3666744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13232" y="3776472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43" name="Text 41"/>
          <p:cNvSpPr txBox="1"/>
          <p:nvPr/>
        </p:nvSpPr>
        <p:spPr>
          <a:xfrm>
            <a:off x="1463040" y="38130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build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0" y="383133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model, data, evaluation</a:t>
            </a:r>
            <a:endParaRPr lang="en-US" sz="1240" dirty="0"/>
          </a:p>
        </p:txBody>
      </p:sp>
      <p:sp>
        <p:nvSpPr>
          <p:cNvPr id="45" name="Text 43"/>
          <p:cNvSpPr txBox="1"/>
          <p:nvPr/>
        </p:nvSpPr>
        <p:spPr>
          <a:xfrm>
            <a:off x="10607040" y="3822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13232" y="4242816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13232" y="4352544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900" dirty="0"/>
          </a:p>
        </p:txBody>
      </p:sp>
      <p:sp>
        <p:nvSpPr>
          <p:cNvPr id="48" name="Text 46"/>
          <p:cNvSpPr txBox="1"/>
          <p:nvPr/>
        </p:nvSpPr>
        <p:spPr>
          <a:xfrm>
            <a:off x="1463040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evidence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0" y="44074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output, validation, EviTrack</a:t>
            </a:r>
            <a:endParaRPr lang="en-US" sz="1240" dirty="0"/>
          </a:p>
        </p:txBody>
      </p:sp>
      <p:sp>
        <p:nvSpPr>
          <p:cNvPr id="50" name="Text 48"/>
          <p:cNvSpPr txBox="1"/>
          <p:nvPr/>
        </p:nvSpPr>
        <p:spPr>
          <a:xfrm>
            <a:off x="10607040" y="43982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9–11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713232" y="4818888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13232" y="492861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900" dirty="0"/>
          </a:p>
        </p:txBody>
      </p:sp>
      <p:sp>
        <p:nvSpPr>
          <p:cNvPr id="53" name="Text 51"/>
          <p:cNvSpPr txBox="1"/>
          <p:nvPr/>
        </p:nvSpPr>
        <p:spPr>
          <a:xfrm>
            <a:off x="1463040" y="4965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572000" y="4983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work, scalability, roadmap</a:t>
            </a:r>
            <a:endParaRPr lang="en-US" sz="1240" dirty="0"/>
          </a:p>
        </p:txBody>
      </p:sp>
      <p:sp>
        <p:nvSpPr>
          <p:cNvPr id="55" name="Text 53"/>
          <p:cNvSpPr txBox="1"/>
          <p:nvPr/>
        </p:nvSpPr>
        <p:spPr>
          <a:xfrm>
            <a:off x="10607040" y="49743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12–14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713232" y="5394960"/>
            <a:ext cx="10716768" cy="0"/>
          </a:xfrm>
          <a:prstGeom prst="line">
            <a:avLst/>
          </a:prstGeom>
          <a:noFill/>
          <a:ln w="12700">
            <a:solidFill>
              <a:srgbClr val="DCED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13232" y="5504688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900" dirty="0"/>
          </a:p>
        </p:txBody>
      </p:sp>
      <p:sp>
        <p:nvSpPr>
          <p:cNvPr id="58" name="Text 56"/>
          <p:cNvSpPr txBox="1"/>
          <p:nvPr/>
        </p:nvSpPr>
        <p:spPr>
          <a:xfrm>
            <a:off x="1463040" y="55412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572000" y="555955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Benefits, adoption, takeaways</a:t>
            </a:r>
            <a:endParaRPr lang="en-US" sz="1240" dirty="0"/>
          </a:p>
        </p:txBody>
      </p:sp>
      <p:sp>
        <p:nvSpPr>
          <p:cNvPr id="60" name="Text 58"/>
          <p:cNvSpPr txBox="1"/>
          <p:nvPr/>
        </p:nvSpPr>
        <p:spPr>
          <a:xfrm>
            <a:off x="10607040" y="55504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09960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84941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59922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4902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09883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84864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59845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34826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709806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4787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59768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934749" y="502920"/>
            <a:ext cx="0" cy="96012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THE PROBLEM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every payer asks first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price is agreed, a health insurer wants one number: what does saying yes to this drug do to my budget over the next three to five years?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13232" y="2249424"/>
            <a:ext cx="5120640" cy="2212848"/>
          </a:xfrm>
          <a:prstGeom prst="roundRect">
            <a:avLst>
              <a:gd name="adj" fmla="val 4132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" y="2450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hard today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2798064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59"/>
              </a:lnSpc>
              <a:spcAft>
                <a:spcPts val="6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built from scratch in Excel for every product and market</a:t>
            </a:r>
            <a:endParaRPr lang="en-US" sz="1220" dirty="0"/>
          </a:p>
          <a:p>
            <a:pPr marL="177800" indent="-177800">
              <a:lnSpc>
                <a:spcPts val="1659"/>
              </a:lnSpc>
              <a:spcAft>
                <a:spcPts val="6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sit in cells no reviewer can trace, so the answer is trusted or rejected whole</a:t>
            </a:r>
            <a:endParaRPr lang="en-US" sz="1220" dirty="0"/>
          </a:p>
          <a:p>
            <a:pPr marL="177800" indent="-177800">
              <a:lnSpc>
                <a:spcPts val="1659"/>
              </a:lnSpc>
              <a:spcAft>
                <a:spcPts val="600"/>
              </a:spcAft>
              <a:buSzPct val="100000"/>
              <a:buChar char="•"/>
            </a:pPr>
            <a:r>
              <a:rPr lang="en-US" sz="12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one assumption means rebuilding, so alternatives go untested</a:t>
            </a:r>
            <a:endParaRPr lang="en-US" sz="122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22494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09360" y="2697480"/>
            <a:ext cx="137160" cy="137160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01968" y="267004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&amp; market access</a:t>
            </a:r>
            <a:endParaRPr lang="en-US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6601968" y="29077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6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defend every assumption to a payer, with no audit trail to point at</a:t>
            </a:r>
            <a:endParaRPr lang="en-US" sz="1160" dirty="0"/>
          </a:p>
        </p:txBody>
      </p:sp>
      <p:sp>
        <p:nvSpPr>
          <p:cNvPr id="25" name="Shape 23"/>
          <p:cNvSpPr/>
          <p:nvPr/>
        </p:nvSpPr>
        <p:spPr>
          <a:xfrm>
            <a:off x="6309360" y="3337560"/>
            <a:ext cx="137160" cy="137160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01968" y="33101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&amp; insurers</a:t>
            </a:r>
            <a:endParaRPr lang="en-US" sz="1280" dirty="0"/>
          </a:p>
        </p:txBody>
      </p:sp>
      <p:sp>
        <p:nvSpPr>
          <p:cNvPr id="27" name="Text 25"/>
          <p:cNvSpPr txBox="1"/>
          <p:nvPr/>
        </p:nvSpPr>
        <p:spPr>
          <a:xfrm>
            <a:off x="6601968" y="35478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6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a number they cannot interrogate before committing budget</a:t>
            </a:r>
            <a:endParaRPr lang="en-US" sz="1160" dirty="0"/>
          </a:p>
        </p:txBody>
      </p:sp>
      <p:sp>
        <p:nvSpPr>
          <p:cNvPr id="28" name="Shape 26"/>
          <p:cNvSpPr/>
          <p:nvPr/>
        </p:nvSpPr>
        <p:spPr>
          <a:xfrm>
            <a:off x="6309360" y="3977640"/>
            <a:ext cx="137160" cy="137160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01968" y="395020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280" dirty="0"/>
          </a:p>
        </p:txBody>
      </p:sp>
      <p:sp>
        <p:nvSpPr>
          <p:cNvPr id="30" name="Text 28"/>
          <p:cNvSpPr txBox="1"/>
          <p:nvPr/>
        </p:nvSpPr>
        <p:spPr>
          <a:xfrm>
            <a:off x="6601968" y="41879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6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delayed while the analysis is rebuilt for each market</a:t>
            </a:r>
            <a:endParaRPr lang="en-US" sz="1160" dirty="0"/>
          </a:p>
        </p:txBody>
      </p:sp>
      <p:sp>
        <p:nvSpPr>
          <p:cNvPr id="31" name="Shape 29"/>
          <p:cNvSpPr/>
          <p:nvPr/>
        </p:nvSpPr>
        <p:spPr>
          <a:xfrm>
            <a:off x="713232" y="4791456"/>
            <a:ext cx="10716768" cy="969264"/>
          </a:xfrm>
          <a:prstGeom prst="roundRect">
            <a:avLst>
              <a:gd name="adj" fmla="val 9434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4128" y="499262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8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budget impact analysis answers affordability — what it costs the budget. That is a different question from cost-effectiveness, which asks whether it is good value. BIET does the first, deliberately.</a:t>
            </a:r>
            <a:endParaRPr lang="en-US" sz="128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625328" y="2212848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625328" y="2212848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625328" y="2212848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625328" y="2212848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625328" y="2212848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625328" y="2212848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625328" y="2212848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625328" y="2212848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625328" y="2212848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625328" y="2212848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648188" y="2235708"/>
            <a:ext cx="1211580" cy="12115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0762488" y="2350008"/>
            <a:ext cx="1097280" cy="10972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876788" y="2464308"/>
            <a:ext cx="982980" cy="9829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0991088" y="2578608"/>
            <a:ext cx="868680" cy="8686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1105388" y="2692908"/>
            <a:ext cx="754380" cy="7543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1219688" y="2807208"/>
            <a:ext cx="640080" cy="6400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1333988" y="2921508"/>
            <a:ext cx="525780" cy="5257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448288" y="3035808"/>
            <a:ext cx="411480" cy="4114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562588" y="3150108"/>
            <a:ext cx="297180" cy="2971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676888" y="3264408"/>
            <a:ext cx="182880" cy="1828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1791188" y="3378708"/>
            <a:ext cx="68580" cy="6858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OUR INNOVATION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original here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new economic method — a new way of working with one, so the analysis is fast enough to explore and transparent enough to defend.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13232" y="2286000"/>
            <a:ext cx="3401568" cy="2487168"/>
          </a:xfrm>
          <a:prstGeom prst="roundRect">
            <a:avLst>
              <a:gd name="adj" fmla="val 3676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87552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80944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Instant, not re-run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529584"/>
            <a:ext cx="2852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model recomputes in the browser as you type. Zero API calls in the calculation path, so sensitivity is something you feel rather than a job you queue.</a:t>
            </a:r>
            <a:endParaRPr lang="en-US" sz="1180" dirty="0"/>
          </a:p>
        </p:txBody>
      </p:sp>
      <p:sp>
        <p:nvSpPr>
          <p:cNvPr id="30" name="Shape 28"/>
          <p:cNvSpPr/>
          <p:nvPr/>
        </p:nvSpPr>
        <p:spPr>
          <a:xfrm>
            <a:off x="4389120" y="2286000"/>
            <a:ext cx="3401568" cy="2487168"/>
          </a:xfrm>
          <a:prstGeom prst="roundRect">
            <a:avLst>
              <a:gd name="adj" fmla="val 3676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3440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4663440" y="2980944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beside the model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4663440" y="3529584"/>
            <a:ext cx="2852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searches PubMed, ClinicalTrials.gov, openFDA, WHO GHO and the World Bank inside the same tool, so an assumption and its source live together.</a:t>
            </a:r>
            <a:endParaRPr lang="en-US" sz="1180" dirty="0"/>
          </a:p>
        </p:txBody>
      </p:sp>
      <p:sp>
        <p:nvSpPr>
          <p:cNvPr id="34" name="Shape 32"/>
          <p:cNvSpPr/>
          <p:nvPr/>
        </p:nvSpPr>
        <p:spPr>
          <a:xfrm>
            <a:off x="8065008" y="2286000"/>
            <a:ext cx="3401568" cy="2487168"/>
          </a:xfrm>
          <a:prstGeom prst="roundRect">
            <a:avLst>
              <a:gd name="adj" fmla="val 3676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39328" y="2542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8339328" y="2980944"/>
            <a:ext cx="2852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by construction</a:t>
            </a:r>
            <a:endParaRPr lang="en-US" sz="1450" dirty="0"/>
          </a:p>
        </p:txBody>
      </p:sp>
      <p:sp>
        <p:nvSpPr>
          <p:cNvPr id="37" name="Text 35"/>
          <p:cNvSpPr txBox="1"/>
          <p:nvPr/>
        </p:nvSpPr>
        <p:spPr>
          <a:xfrm>
            <a:off x="8339328" y="3529584"/>
            <a:ext cx="2852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totals, and a Methodology view traces every headline figure back to the inputs that produced it.</a:t>
            </a:r>
            <a:endParaRPr lang="en-US" sz="118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50840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combination is new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" y="5431536"/>
            <a:ext cx="10716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BIA tools are enterprise licences priced out of early-stage work; academic models are spreadsheets with no interface. BIET puts a live model, its evidence and its audit trail in one browser tab that runs on free infrastructure.</a:t>
            </a:r>
            <a:endParaRPr lang="en-US" sz="124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2103120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THE SOLUTION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guided flow, population to decision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input tabs become a five-year payer forecast with scenarios, sensitivity and an audit trail — in a single sitting.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13232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</a:t>
            </a:r>
            <a:endParaRPr lang="en-US" sz="12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87245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1428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27732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427732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55441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9624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995928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995928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2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23637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17820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64124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564124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91833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86016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32320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Uptake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460029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54212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00516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700516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028225" y="2798064"/>
            <a:ext cx="83210" cy="0"/>
          </a:xfrm>
          <a:prstGeom prst="line">
            <a:avLst/>
          </a:prstGeom>
          <a:noFill/>
          <a:ln w="17780">
            <a:solidFill>
              <a:srgbClr val="9FD9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22408" y="2286000"/>
            <a:ext cx="1463040" cy="1024128"/>
          </a:xfrm>
          <a:prstGeom prst="roundRect">
            <a:avLst>
              <a:gd name="adj" fmla="val 7143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268712" y="241401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0268712" y="2688336"/>
            <a:ext cx="1170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3401568"/>
            <a:ext cx="1071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runs between every edit and the result: a model that cannot produce a meaningful answer is blocked, with the reason and the field named.</a:t>
            </a:r>
            <a:endParaRPr lang="en-US" sz="102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3950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713232" y="4315968"/>
            <a:ext cx="33101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and market-access teams in pharma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Health-economics researchers and students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pricing a therapy before a formal dossier</a:t>
            </a:r>
            <a:endParaRPr lang="en-US" sz="1180" dirty="0"/>
          </a:p>
        </p:txBody>
      </p:sp>
      <p:sp>
        <p:nvSpPr>
          <p:cNvPr id="36" name="Text 34"/>
          <p:cNvSpPr txBox="1"/>
          <p:nvPr/>
        </p:nvSpPr>
        <p:spPr>
          <a:xfrm>
            <a:off x="4389120" y="3950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scenario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389120" y="4315968"/>
            <a:ext cx="33101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a new GLP-1 for a German statutory insurer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million covered lives, five-year horizon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against metformin, basal insulin, DPP-4</a:t>
            </a:r>
            <a:endParaRPr lang="en-US" sz="1180" dirty="0"/>
          </a:p>
        </p:txBody>
      </p:sp>
      <p:sp>
        <p:nvSpPr>
          <p:cNvPr id="38" name="Text 36"/>
          <p:cNvSpPr txBox="1"/>
          <p:nvPr/>
        </p:nvSpPr>
        <p:spPr>
          <a:xfrm>
            <a:off x="8065008" y="39502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benefit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8065008" y="4315968"/>
            <a:ext cx="33101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— weeks of model building down to minutes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— validation blocks silent-zero errors</a:t>
            </a:r>
            <a:endParaRPr lang="en-US" sz="1180" dirty="0"/>
          </a:p>
          <a:p>
            <a:pPr marL="177800" indent="-177800">
              <a:lnSpc>
                <a:spcPts val="1605"/>
              </a:lnSpc>
              <a:spcAft>
                <a:spcPts val="600"/>
              </a:spcAft>
              <a:buSzPct val="100000"/>
              <a:buChar char="•"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— cost offsets modelled, not omitted</a:t>
            </a:r>
            <a:endParaRPr lang="en-US" sz="118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0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04981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79962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4942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729923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04904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79885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54866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29846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04827" y="457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THE SOLUTION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number is built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currency figure traces back to one funnel: a covered population narrowed step by step to the patients who are actually treated.</a:t>
            </a:r>
            <a:endParaRPr lang="en-US" sz="1400" dirty="0"/>
          </a:p>
        </p:txBody>
      </p:sp>
      <p:pic>
        <p:nvPicPr>
          <p:cNvPr id="15" name="Image 0" descr="s-popu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31136"/>
            <a:ext cx="5943600" cy="339242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13232" y="5669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tab — each rate is an input; the funnel updates as you type.</a:t>
            </a:r>
            <a:endParaRPr lang="en-US" sz="1020" dirty="0"/>
          </a:p>
        </p:txBody>
      </p:sp>
      <p:sp>
        <p:nvSpPr>
          <p:cNvPr id="17" name="Text 14"/>
          <p:cNvSpPr txBox="1"/>
          <p:nvPr/>
        </p:nvSpPr>
        <p:spPr>
          <a:xfrm>
            <a:off x="6967728" y="22311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— year 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967728" y="261518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population</a:t>
            </a:r>
            <a:endParaRPr lang="en-US" sz="1180" dirty="0"/>
          </a:p>
        </p:txBody>
      </p:sp>
      <p:sp>
        <p:nvSpPr>
          <p:cNvPr id="19" name="Text 16"/>
          <p:cNvSpPr txBox="1"/>
          <p:nvPr/>
        </p:nvSpPr>
        <p:spPr>
          <a:xfrm>
            <a:off x="9601200" y="261518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241280" y="261518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8,000,000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967728" y="30175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with type 2 diabetes</a:t>
            </a:r>
            <a:endParaRPr lang="en-US" sz="1180" dirty="0"/>
          </a:p>
        </p:txBody>
      </p:sp>
      <p:sp>
        <p:nvSpPr>
          <p:cNvPr id="22" name="Text 19"/>
          <p:cNvSpPr txBox="1"/>
          <p:nvPr/>
        </p:nvSpPr>
        <p:spPr>
          <a:xfrm>
            <a:off x="9601200" y="3017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0" y="301752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720,000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967728" y="341985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Diagnosed</a:t>
            </a:r>
            <a:endParaRPr lang="en-US" sz="1180" dirty="0"/>
          </a:p>
        </p:txBody>
      </p:sp>
      <p:sp>
        <p:nvSpPr>
          <p:cNvPr id="25" name="Text 22"/>
          <p:cNvSpPr txBox="1"/>
          <p:nvPr/>
        </p:nvSpPr>
        <p:spPr>
          <a:xfrm>
            <a:off x="9601200" y="341985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0" y="341985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540,000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967728" y="38221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eligible</a:t>
            </a:r>
            <a:endParaRPr lang="en-US" sz="1180" dirty="0"/>
          </a:p>
        </p:txBody>
      </p:sp>
      <p:sp>
        <p:nvSpPr>
          <p:cNvPr id="28" name="Text 25"/>
          <p:cNvSpPr txBox="1"/>
          <p:nvPr/>
        </p:nvSpPr>
        <p:spPr>
          <a:xfrm>
            <a:off x="9601200" y="38221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0" y="382219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297,000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967728" y="42245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eligible</a:t>
            </a:r>
            <a:endParaRPr lang="en-US" sz="1180" dirty="0"/>
          </a:p>
        </p:txBody>
      </p:sp>
      <p:sp>
        <p:nvSpPr>
          <p:cNvPr id="31" name="Text 28"/>
          <p:cNvSpPr txBox="1"/>
          <p:nvPr/>
        </p:nvSpPr>
        <p:spPr>
          <a:xfrm>
            <a:off x="9601200" y="422452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0" y="422452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252,450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967728" y="46268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access</a:t>
            </a:r>
            <a:endParaRPr lang="en-US" sz="1180" dirty="0"/>
          </a:p>
        </p:txBody>
      </p:sp>
      <p:sp>
        <p:nvSpPr>
          <p:cNvPr id="34" name="Text 31"/>
          <p:cNvSpPr txBox="1"/>
          <p:nvPr/>
        </p:nvSpPr>
        <p:spPr>
          <a:xfrm>
            <a:off x="9601200" y="46268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0241280" y="462686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227,205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903720" y="4974336"/>
            <a:ext cx="4553712" cy="384048"/>
          </a:xfrm>
          <a:prstGeom prst="roundRect">
            <a:avLst>
              <a:gd name="adj" fmla="val 11905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967728" y="5029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to treat</a:t>
            </a:r>
            <a:endParaRPr lang="en-US" sz="1180" dirty="0"/>
          </a:p>
        </p:txBody>
      </p:sp>
      <p:sp>
        <p:nvSpPr>
          <p:cNvPr id="38" name="Text 35"/>
          <p:cNvSpPr txBox="1"/>
          <p:nvPr/>
        </p:nvSpPr>
        <p:spPr>
          <a:xfrm>
            <a:off x="9601200" y="50292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241280" y="502920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181,764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6967728" y="5541264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44-fold reduction. Prevalence and incidence are separate inputs, because a prevalence-only model understates a growing disease.</a:t>
            </a:r>
            <a:endParaRPr lang="en-US" sz="1140" dirty="0"/>
          </a:p>
        </p:txBody>
      </p:sp>
      <p:sp>
        <p:nvSpPr>
          <p:cNvPr id="41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BUILD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13232" y="1664208"/>
            <a:ext cx="10844784" cy="1572768"/>
          </a:xfrm>
          <a:prstGeom prst="roundRect">
            <a:avLst>
              <a:gd name="adj" fmla="val 4651"/>
            </a:avLst>
          </a:prstGeom>
          <a:solidFill>
            <a:srgbClr val="F1F8FD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556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 ·  REACT SPA — THE MODEL RUNS HERE, WITH NO NETWORK CALL</a:t>
            </a:r>
            <a:endParaRPr lang="en-US" sz="960" dirty="0"/>
          </a:p>
        </p:txBody>
      </p:sp>
      <p:sp>
        <p:nvSpPr>
          <p:cNvPr id="6" name="Shape 4"/>
          <p:cNvSpPr/>
          <p:nvPr/>
        </p:nvSpPr>
        <p:spPr>
          <a:xfrm>
            <a:off x="804672" y="1956816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DCEDF8"/>
          </a:solidFill>
          <a:ln w="13970">
            <a:solidFill>
              <a:srgbClr val="9FD9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4825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tabs</a:t>
            </a:r>
            <a:endParaRPr lang="en-US" sz="124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286000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guided steps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3566160" y="1956816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4FC3E8"/>
          </a:solidFill>
          <a:ln w="13970">
            <a:solidFill>
              <a:srgbClr val="4FC3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75888" y="204825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engine</a:t>
            </a:r>
            <a:endParaRPr lang="en-US" sz="124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286000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biaEngine.js · 11 functions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6327648" y="1956816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DCEDF8"/>
          </a:solidFill>
          <a:ln w="13970">
            <a:solidFill>
              <a:srgbClr val="9FD9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7376" y="204825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40" dirty="0"/>
          </a:p>
        </p:txBody>
      </p:sp>
      <p:sp>
        <p:nvSpPr>
          <p:cNvPr id="14" name="Text 12"/>
          <p:cNvSpPr txBox="1"/>
          <p:nvPr/>
        </p:nvSpPr>
        <p:spPr>
          <a:xfrm>
            <a:off x="6419088" y="2286000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views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9089136" y="1956816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DCEDF8"/>
          </a:solidFill>
          <a:ln w="13970">
            <a:solidFill>
              <a:srgbClr val="9FD9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98864" y="204825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124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2286000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Excel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3291840" y="2249424"/>
            <a:ext cx="274320" cy="0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053328" y="2249424"/>
            <a:ext cx="274320" cy="0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814816" y="2249424"/>
            <a:ext cx="274320" cy="0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04672" y="2670048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2843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sessionStorage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9089136" y="2670048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98864" y="2843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UI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713232" y="3584448"/>
            <a:ext cx="10844784" cy="1170432"/>
          </a:xfrm>
          <a:prstGeom prst="roundRect">
            <a:avLst>
              <a:gd name="adj" fmla="val 6250"/>
            </a:avLst>
          </a:prstGeom>
          <a:solidFill>
            <a:srgbClr val="F1F8FD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96112" y="367588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WEB SERVICE  ·  EXPRESS — ONE ORIGIN, NO CALCULATION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804672" y="389534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3986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host</a:t>
            </a:r>
            <a:endParaRPr lang="en-US" sz="1240" dirty="0"/>
          </a:p>
        </p:txBody>
      </p:sp>
      <p:sp>
        <p:nvSpPr>
          <p:cNvPr id="29" name="Text 27"/>
          <p:cNvSpPr txBox="1"/>
          <p:nvPr/>
        </p:nvSpPr>
        <p:spPr>
          <a:xfrm>
            <a:off x="896112" y="422452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built app</a:t>
            </a:r>
            <a:endParaRPr lang="en-US" sz="940" dirty="0"/>
          </a:p>
        </p:txBody>
      </p:sp>
      <p:sp>
        <p:nvSpPr>
          <p:cNvPr id="30" name="Shape 28"/>
          <p:cNvSpPr/>
          <p:nvPr/>
        </p:nvSpPr>
        <p:spPr>
          <a:xfrm>
            <a:off x="3566160" y="389534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75888" y="3986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40" dirty="0"/>
          </a:p>
        </p:txBody>
      </p:sp>
      <p:sp>
        <p:nvSpPr>
          <p:cNvPr id="32" name="Text 30"/>
          <p:cNvSpPr txBox="1"/>
          <p:nvPr/>
        </p:nvSpPr>
        <p:spPr>
          <a:xfrm>
            <a:off x="3657600" y="422452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/api/model/runs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6327648" y="389534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37376" y="3986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API</a:t>
            </a:r>
            <a:endParaRPr lang="en-US" sz="1240" dirty="0"/>
          </a:p>
        </p:txBody>
      </p:sp>
      <p:sp>
        <p:nvSpPr>
          <p:cNvPr id="35" name="Text 33"/>
          <p:cNvSpPr txBox="1"/>
          <p:nvPr/>
        </p:nvSpPr>
        <p:spPr>
          <a:xfrm>
            <a:off x="6419088" y="422452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/api/v1/evitrack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9089136" y="389534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DCED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198864" y="398678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proxy</a:t>
            </a:r>
            <a:endParaRPr lang="en-US" sz="1240" dirty="0"/>
          </a:p>
        </p:txBody>
      </p:sp>
      <p:sp>
        <p:nvSpPr>
          <p:cNvPr id="38" name="Text 36"/>
          <p:cNvSpPr txBox="1"/>
          <p:nvPr/>
        </p:nvSpPr>
        <p:spPr>
          <a:xfrm>
            <a:off x="9180576" y="422452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/api/chat · /api/v1/llm</a:t>
            </a:r>
            <a:endParaRPr lang="en-US" sz="940" dirty="0"/>
          </a:p>
        </p:txBody>
      </p:sp>
      <p:sp>
        <p:nvSpPr>
          <p:cNvPr id="39" name="Shape 37"/>
          <p:cNvSpPr/>
          <p:nvPr/>
        </p:nvSpPr>
        <p:spPr>
          <a:xfrm>
            <a:off x="6190488" y="3236976"/>
            <a:ext cx="0" cy="347472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6318504" y="32918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same origin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13232" y="5138928"/>
            <a:ext cx="10844784" cy="1170432"/>
          </a:xfrm>
          <a:prstGeom prst="roundRect">
            <a:avLst>
              <a:gd name="adj" fmla="val 6250"/>
            </a:avLst>
          </a:prstGeom>
          <a:solidFill>
            <a:srgbClr val="F1F8FD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6112" y="523036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 ·  OPTIONAL STORE</a:t>
            </a:r>
            <a:endParaRPr lang="en-US" sz="960" dirty="0"/>
          </a:p>
        </p:txBody>
      </p:sp>
      <p:sp>
        <p:nvSpPr>
          <p:cNvPr id="43" name="Shape 41"/>
          <p:cNvSpPr/>
          <p:nvPr/>
        </p:nvSpPr>
        <p:spPr>
          <a:xfrm>
            <a:off x="3566160" y="544982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70">
            <a:solidFill>
              <a:srgbClr val="6B7A9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675888" y="554126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24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577900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— run history</a:t>
            </a:r>
            <a:endParaRPr lang="en-US" sz="940" dirty="0"/>
          </a:p>
        </p:txBody>
      </p:sp>
      <p:sp>
        <p:nvSpPr>
          <p:cNvPr id="46" name="Shape 44"/>
          <p:cNvSpPr/>
          <p:nvPr/>
        </p:nvSpPr>
        <p:spPr>
          <a:xfrm>
            <a:off x="6327648" y="544982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E6F9EF"/>
          </a:solidFill>
          <a:ln w="13970">
            <a:solidFill>
              <a:srgbClr val="9FDCB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37376" y="554126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sources</a:t>
            </a:r>
            <a:endParaRPr lang="en-US" sz="1240" dirty="0"/>
          </a:p>
        </p:txBody>
      </p:sp>
      <p:sp>
        <p:nvSpPr>
          <p:cNvPr id="48" name="Text 46"/>
          <p:cNvSpPr txBox="1"/>
          <p:nvPr/>
        </p:nvSpPr>
        <p:spPr>
          <a:xfrm>
            <a:off x="6419088" y="577900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 · trials · FDA · WHO</a:t>
            </a:r>
            <a:endParaRPr lang="en-US" sz="940" dirty="0"/>
          </a:p>
        </p:txBody>
      </p:sp>
      <p:sp>
        <p:nvSpPr>
          <p:cNvPr id="49" name="Shape 47"/>
          <p:cNvSpPr/>
          <p:nvPr/>
        </p:nvSpPr>
        <p:spPr>
          <a:xfrm>
            <a:off x="9089136" y="5449824"/>
            <a:ext cx="2487168" cy="585216"/>
          </a:xfrm>
          <a:prstGeom prst="roundRect">
            <a:avLst>
              <a:gd name="adj" fmla="val 9375"/>
            </a:avLst>
          </a:prstGeom>
          <a:solidFill>
            <a:srgbClr val="E6F9EF"/>
          </a:solidFill>
          <a:ln w="13970">
            <a:solidFill>
              <a:srgbClr val="9FDCB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198864" y="554126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providers</a:t>
            </a:r>
            <a:endParaRPr lang="en-US" sz="1240" dirty="0"/>
          </a:p>
        </p:txBody>
      </p:sp>
      <p:sp>
        <p:nvSpPr>
          <p:cNvPr id="51" name="Text 49"/>
          <p:cNvSpPr txBox="1"/>
          <p:nvPr/>
        </p:nvSpPr>
        <p:spPr>
          <a:xfrm>
            <a:off x="9180576" y="5779008"/>
            <a:ext cx="2304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· Gemini</a:t>
            </a:r>
            <a:endParaRPr lang="en-US" sz="940" dirty="0"/>
          </a:p>
        </p:txBody>
      </p:sp>
      <p:sp>
        <p:nvSpPr>
          <p:cNvPr id="52" name="Shape 50"/>
          <p:cNvSpPr/>
          <p:nvPr/>
        </p:nvSpPr>
        <p:spPr>
          <a:xfrm>
            <a:off x="4809744" y="4480560"/>
            <a:ext cx="0" cy="969264"/>
          </a:xfrm>
          <a:prstGeom prst="line">
            <a:avLst/>
          </a:prstGeom>
          <a:noFill/>
          <a:ln w="19050">
            <a:solidFill>
              <a:srgbClr val="6B7A90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7571232" y="4480560"/>
            <a:ext cx="0" cy="969264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0332720" y="4480560"/>
            <a:ext cx="0" cy="969264"/>
          </a:xfrm>
          <a:prstGeom prst="line">
            <a:avLst/>
          </a:prstGeom>
          <a:noFill/>
          <a:ln w="19050">
            <a:solidFill>
              <a:srgbClr val="4A63C8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6035040" y="61447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6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= optional: with no database the app still runs.</a:t>
            </a:r>
            <a:endParaRPr lang="en-US" sz="960" dirty="0"/>
          </a:p>
        </p:txBody>
      </p:sp>
      <p:sp>
        <p:nvSpPr>
          <p:cNvPr id="56" name="Text 54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35640" y="457200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835640" y="457200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835640" y="457200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835640" y="457200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835640" y="457200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835640" y="457200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835640" y="457200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835640" y="457200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835640" y="457200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927080" y="548640"/>
            <a:ext cx="960120" cy="9601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1041380" y="662940"/>
            <a:ext cx="845820" cy="8458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155680" y="777240"/>
            <a:ext cx="731520" cy="7315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269980" y="891540"/>
            <a:ext cx="617220" cy="6172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1384280" y="1005840"/>
            <a:ext cx="502920" cy="5029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1498580" y="1120140"/>
            <a:ext cx="388620" cy="3886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1612880" y="1234440"/>
            <a:ext cx="274320" cy="2743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1727180" y="1348740"/>
            <a:ext cx="160020" cy="1600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841480" y="1463040"/>
            <a:ext cx="45720" cy="4572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TECHNICAL BUILD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Model, data and how we check it</a:t>
            </a:r>
            <a:endParaRPr lang="en-US" sz="3400" dirty="0"/>
          </a:p>
        </p:txBody>
      </p:sp>
      <p:sp>
        <p:nvSpPr>
          <p:cNvPr id="22" name="Shape 20"/>
          <p:cNvSpPr/>
          <p:nvPr/>
        </p:nvSpPr>
        <p:spPr>
          <a:xfrm>
            <a:off x="713232" y="1920240"/>
            <a:ext cx="3401568" cy="3566160"/>
          </a:xfrm>
          <a:prstGeom prst="roundRect">
            <a:avLst>
              <a:gd name="adj" fmla="val 2688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7552" y="2176272"/>
            <a:ext cx="310896" cy="310896"/>
          </a:xfrm>
          <a:prstGeom prst="ellipse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87552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408176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&amp; model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670048"/>
            <a:ext cx="28529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cohort projection over the horizon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Adherence- and persistence-weighted treatment cost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Relative-risk event offsets, damped by a regain rate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search for the break-even drug price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tornado: 10 parameters at ±20%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Undiscounted costs — ISPOR practice for BIA, not CEA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89120" y="1920240"/>
            <a:ext cx="3401568" cy="3566160"/>
          </a:xfrm>
          <a:prstGeom prst="roundRect">
            <a:avLst>
              <a:gd name="adj" fmla="val 2688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63440" y="2176272"/>
            <a:ext cx="310896" cy="310896"/>
          </a:xfrm>
          <a:prstGeom prst="ellipse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63440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084064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663440" y="2670048"/>
            <a:ext cx="28529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PubMed, ClinicalTrials.gov, openFDA — evidence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GHO, World Bank — epidemiology and expenditure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import for a team's own parameters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parameter overridable; provenance columns in schema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065008" y="1920240"/>
            <a:ext cx="3401568" cy="3566160"/>
          </a:xfrm>
          <a:prstGeom prst="roundRect">
            <a:avLst>
              <a:gd name="adj" fmla="val 2688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39328" y="2176272"/>
            <a:ext cx="310896" cy="31089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39328" y="2176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759952" y="2212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approach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339328" y="2670048"/>
            <a:ext cx="2852928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automated tests — 14 economics, 24 validation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pinned to hand-calculable cases, not snapshots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re-solves to a net impact of zero</a:t>
            </a:r>
            <a:endParaRPr lang="en-US" sz="1100" dirty="0"/>
          </a:p>
          <a:p>
            <a:pPr marL="177800" indent="-177800">
              <a:lnSpc>
                <a:spcPts val="1496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invalid inputs probed: 12 blocked, 10 flagged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13232" y="5632704"/>
            <a:ext cx="10716768" cy="676656"/>
          </a:xfrm>
          <a:prstGeom prst="roundRect">
            <a:avLst>
              <a:gd name="adj" fmla="val 10811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87552" y="5760720"/>
            <a:ext cx="10186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WITH ISPOR BIA GOOD PRACTICE</a:t>
            </a:r>
            <a:endParaRPr lang="en-US" sz="960" dirty="0"/>
          </a:p>
        </p:txBody>
      </p:sp>
      <p:sp>
        <p:nvSpPr>
          <p:cNvPr id="39" name="Text 37"/>
          <p:cNvSpPr txBox="1"/>
          <p:nvPr/>
        </p:nvSpPr>
        <p:spPr>
          <a:xfrm>
            <a:off x="987552" y="5998464"/>
            <a:ext cx="10186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Budget-holder perspective  ·  3–5 year horizon  ·  current vs new treatment mix  ·  undiscounted costs  ·  total and PMPM reporting  ·  scenario analysis</a:t>
            </a:r>
            <a:endParaRPr lang="en-US" sz="1020" dirty="0"/>
          </a:p>
        </p:txBody>
      </p:sp>
      <p:sp>
        <p:nvSpPr>
          <p:cNvPr id="40" name="Text 3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RESULTS &amp;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tool returns</a:t>
            </a:r>
            <a:endParaRPr lang="en-US" sz="3400" dirty="0"/>
          </a:p>
        </p:txBody>
      </p:sp>
      <p:pic>
        <p:nvPicPr>
          <p:cNvPr id="4" name="Image 0" descr="s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00784"/>
            <a:ext cx="6492240" cy="3712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13232" y="546811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output — Drug X, a GLP-1, in Germany. Demonstration values, not real product data.</a:t>
            </a:r>
            <a:endParaRPr lang="en-US" sz="1020" dirty="0"/>
          </a:p>
        </p:txBody>
      </p:sp>
      <p:sp>
        <p:nvSpPr>
          <p:cNvPr id="6" name="Shape 3"/>
          <p:cNvSpPr/>
          <p:nvPr/>
        </p:nvSpPr>
        <p:spPr>
          <a:xfrm>
            <a:off x="7498080" y="1700784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44384" y="182880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€296.6M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644384" y="226771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budget impact, 5 years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9509760" y="1700784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56064" y="182880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6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€0.13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9656064" y="226771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member per month, year 1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2926080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44384" y="30540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67,083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7644384" y="349300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treated at peak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0" y="2926080"/>
            <a:ext cx="1874520" cy="1060704"/>
          </a:xfrm>
          <a:prstGeom prst="roundRect">
            <a:avLst>
              <a:gd name="adj" fmla="val 689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656064" y="30540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€613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9656064" y="349300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annual price</a:t>
            </a:r>
            <a:endParaRPr lang="en-US" sz="98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42245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walkthrough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57200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936992" y="45720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8,000,000 lives · 9% prevalence · 4→28% uptake · €3,200 drug</a:t>
            </a:r>
            <a:endParaRPr lang="en-US" sz="1080" dirty="0"/>
          </a:p>
        </p:txBody>
      </p:sp>
      <p:sp>
        <p:nvSpPr>
          <p:cNvPr id="21" name="Text 18"/>
          <p:cNvSpPr txBox="1"/>
          <p:nvPr/>
        </p:nvSpPr>
        <p:spPr>
          <a:xfrm>
            <a:off x="7498080" y="51023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7936992" y="5102352"/>
            <a:ext cx="3520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181,764 eligible → 67,083 treated → €296.6M = €0.13 PMPM · 2,480 events avoided</a:t>
            </a:r>
            <a:endParaRPr lang="en-US" sz="1080" dirty="0"/>
          </a:p>
        </p:txBody>
      </p:sp>
      <p:sp>
        <p:nvSpPr>
          <p:cNvPr id="23" name="Text 20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RESULTS &amp;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hold up when pushed?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returns a confident wrong number is worse than one that refuses. We check the arithmetic against a case anyone can verify by hand.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2249424"/>
            <a:ext cx="5257800" cy="2395728"/>
          </a:xfrm>
          <a:prstGeom prst="roundRect">
            <a:avLst>
              <a:gd name="adj" fmla="val 3817"/>
            </a:avLst>
          </a:prstGeom>
          <a:solidFill>
            <a:srgbClr val="F1F8FD"/>
          </a:solidFill>
          <a:ln w="12700">
            <a:solidFill>
              <a:srgbClr val="F1F8F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39572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A REFERENCE CASE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27066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lives</a:t>
            </a:r>
            <a:endParaRPr lang="en-US" sz="114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70662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1,000,000</a:t>
            </a:r>
            <a:endParaRPr lang="en-US" sz="114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99923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prevalence 10%</a:t>
            </a:r>
            <a:endParaRPr lang="en-US" sz="114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29992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</a:t>
            </a:r>
            <a:endParaRPr lang="en-US" sz="114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29184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diagnosed 50%</a:t>
            </a:r>
            <a:endParaRPr lang="en-US" sz="114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2918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 eligible</a:t>
            </a:r>
            <a:endParaRPr lang="en-US" sz="114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8444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uptake 100%, 1 year</a:t>
            </a:r>
            <a:endParaRPr lang="en-US" sz="114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35844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 treated</a:t>
            </a:r>
            <a:endParaRPr lang="en-US" sz="114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87705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new drug ₹100/yr</a:t>
            </a:r>
            <a:endParaRPr lang="en-US" sz="114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387705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4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₹5,000,000</a:t>
            </a:r>
            <a:endParaRPr lang="en-US" sz="1140" dirty="0"/>
          </a:p>
        </p:txBody>
      </p:sp>
      <p:sp>
        <p:nvSpPr>
          <p:cNvPr id="17" name="Shape 15"/>
          <p:cNvSpPr/>
          <p:nvPr/>
        </p:nvSpPr>
        <p:spPr>
          <a:xfrm>
            <a:off x="950976" y="4224528"/>
            <a:ext cx="4809744" cy="0"/>
          </a:xfrm>
          <a:prstGeom prst="line">
            <a:avLst/>
          </a:prstGeom>
          <a:noFill/>
          <a:ln w="15240">
            <a:solidFill>
              <a:srgbClr val="9FD9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0976" y="4315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returns</a:t>
            </a:r>
            <a:endParaRPr lang="en-US" sz="118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431596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60" b="1" dirty="0">
                <a:solidFill>
                  <a:srgbClr val="0B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₹5,000,000  ✓</a:t>
            </a:r>
            <a:endParaRPr lang="en-US" sz="1260" dirty="0"/>
          </a:p>
        </p:txBody>
      </p:sp>
      <p:pic>
        <p:nvPicPr>
          <p:cNvPr id="20" name="Image 0" descr="s-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249424"/>
            <a:ext cx="5120640" cy="292608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309360" y="524865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2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— each parameter moved ±20% alone, sorted by how far the answer swings.</a:t>
            </a:r>
            <a:endParaRPr lang="en-US" sz="1020" dirty="0"/>
          </a:p>
        </p:txBody>
      </p:sp>
      <p:sp>
        <p:nvSpPr>
          <p:cNvPr id="22" name="Text 19"/>
          <p:cNvSpPr txBox="1"/>
          <p:nvPr/>
        </p:nvSpPr>
        <p:spPr>
          <a:xfrm>
            <a:off x="713232" y="484632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to changing assumptions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13232" y="5175504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invalid inputs probed — 12 blocked, 10 flagged, none produce NaN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components reconcile exactly to scenario totals</a:t>
            </a:r>
            <a:endParaRPr lang="en-US" sz="1120" dirty="0"/>
          </a:p>
          <a:p>
            <a:pPr marL="177800" indent="-177800">
              <a:lnSpc>
                <a:spcPts val="1523"/>
              </a:lnSpc>
              <a:spcAft>
                <a:spcPts val="600"/>
              </a:spcAft>
              <a:buSzPct val="100000"/>
              <a:buChar char="•"/>
            </a:pPr>
            <a:r>
              <a:rPr lang="en-US" sz="112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price re-solves to a net impact of zero</a:t>
            </a:r>
            <a:endParaRPr lang="en-US" sz="1120" dirty="0"/>
          </a:p>
        </p:txBody>
      </p:sp>
      <p:sp>
        <p:nvSpPr>
          <p:cNvPr id="24" name="Shape 21"/>
          <p:cNvSpPr/>
          <p:nvPr/>
        </p:nvSpPr>
        <p:spPr>
          <a:xfrm>
            <a:off x="6309360" y="5687568"/>
            <a:ext cx="5120640" cy="566928"/>
          </a:xfrm>
          <a:prstGeom prst="roundRect">
            <a:avLst>
              <a:gd name="adj" fmla="val 12903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10528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&lt;100ms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510528" y="60167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recalculation</a:t>
            </a:r>
            <a:endParaRPr lang="en-US" sz="96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202168" y="60167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960" dirty="0"/>
          </a:p>
        </p:txBody>
      </p:sp>
      <p:sp>
        <p:nvSpPr>
          <p:cNvPr id="29" name="Text 26"/>
          <p:cNvSpPr txBox="1"/>
          <p:nvPr/>
        </p:nvSpPr>
        <p:spPr>
          <a:xfrm>
            <a:off x="9893808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9893808" y="60167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calls</a:t>
            </a:r>
            <a:endParaRPr lang="en-US" sz="960" dirty="0"/>
          </a:p>
        </p:txBody>
      </p:sp>
      <p:sp>
        <p:nvSpPr>
          <p:cNvPr id="31" name="Text 28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RESULTS &amp;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assumptions come from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challenge to any model is “where did that number come from?” EviTrack is our answer, inside the same tool.</a:t>
            </a:r>
            <a:endParaRPr lang="en-US" sz="1400" dirty="0"/>
          </a:p>
        </p:txBody>
      </p:sp>
      <p:pic>
        <p:nvPicPr>
          <p:cNvPr id="5" name="Image 0" descr="s-evit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49424"/>
            <a:ext cx="6675120" cy="3813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224942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public sources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726680" y="2697480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26517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</a:t>
            </a:r>
            <a:endParaRPr lang="en-US" sz="122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287121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literature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7726680" y="3264408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21868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ClinicalTrials.gov</a:t>
            </a:r>
            <a:endParaRPr lang="en-US" sz="122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3814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registrations &amp; results</a:t>
            </a:r>
            <a:endParaRPr lang="en-US" sz="1080" dirty="0"/>
          </a:p>
        </p:txBody>
      </p:sp>
      <p:sp>
        <p:nvSpPr>
          <p:cNvPr id="13" name="Shape 10"/>
          <p:cNvSpPr/>
          <p:nvPr/>
        </p:nvSpPr>
        <p:spPr>
          <a:xfrm>
            <a:off x="7726680" y="3831336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378561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openFDA</a:t>
            </a:r>
            <a:endParaRPr lang="en-US" sz="122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40050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and adverse-event data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7726680" y="4398264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01000" y="4352544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GHO</a:t>
            </a:r>
            <a:endParaRPr lang="en-US" sz="122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457200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epidemiology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7726680" y="4965192"/>
            <a:ext cx="128016" cy="128016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01000" y="49194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Bank</a:t>
            </a:r>
            <a:endParaRPr lang="en-US" sz="122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513892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&amp; health expenditure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7726680" y="5541264"/>
            <a:ext cx="3703320" cy="585216"/>
          </a:xfrm>
          <a:prstGeom prst="roundRect">
            <a:avLst>
              <a:gd name="adj" fmla="val 12500"/>
            </a:avLst>
          </a:prstGeom>
          <a:solidFill>
            <a:srgbClr val="DCEDF8"/>
          </a:solidFill>
          <a:ln w="12700">
            <a:solidFill>
              <a:srgbClr val="DCED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36992" y="565099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60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summaries are constrained to the retrieved text and cannot alter any model input.</a:t>
            </a:r>
            <a:endParaRPr lang="en-US" sz="1060" dirty="0"/>
          </a:p>
        </p:txBody>
      </p:sp>
      <p:sp>
        <p:nvSpPr>
          <p:cNvPr id="24" name="Text 21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50701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625682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00662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775643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50624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925605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0586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75566" y="5029200"/>
            <a:ext cx="0" cy="914400"/>
          </a:xfrm>
          <a:prstGeom prst="line">
            <a:avLst/>
          </a:prstGeom>
          <a:noFill/>
          <a:ln w="11430">
            <a:solidFill>
              <a:srgbClr val="9FD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WHERE IT STANDS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work — what is actually done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honestly, so a reviewer does not have to find the edges themselves.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today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13232" y="2615184"/>
            <a:ext cx="3310128" cy="0"/>
          </a:xfrm>
          <a:prstGeom prst="line">
            <a:avLst/>
          </a:prstGeom>
          <a:noFill/>
          <a:ln w="20320">
            <a:solidFill>
              <a:srgbClr val="4FC3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2761488"/>
            <a:ext cx="33101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diseases with subgroups (obesity, T2D, MASH)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Comparators added or removed as whole columns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result views incl. tornado and audit trail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report and 6-sheet Excel export, in-browser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EviTrack search across 5 public sources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history — compare two models side by side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and publicly reachable on Render</a:t>
            </a:r>
            <a:endParaRPr lang="en-US" sz="114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but not proven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89120" y="2615184"/>
            <a:ext cx="3310128" cy="0"/>
          </a:xfrm>
          <a:prstGeom prst="line">
            <a:avLst/>
          </a:prstGeom>
          <a:noFill/>
          <a:ln w="20320">
            <a:solidFill>
              <a:srgbClr val="4A63C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2761488"/>
            <a:ext cx="33101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provenance schema — 14 tables exist, UI not wired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Public-data sync — implemented, off by default on free hosting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— works with a key, local answers without one</a:t>
            </a:r>
            <a:endParaRPr lang="en-US" sz="1140" dirty="0"/>
          </a:p>
        </p:txBody>
      </p:sp>
      <p:sp>
        <p:nvSpPr>
          <p:cNvPr id="20" name="Text 18"/>
          <p:cNvSpPr txBox="1"/>
          <p:nvPr/>
        </p:nvSpPr>
        <p:spPr>
          <a:xfrm>
            <a:off x="8065008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&amp; data gaps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65008" y="2615184"/>
            <a:ext cx="3310128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65008" y="2761488"/>
            <a:ext cx="33101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country per model — no multi-market roll-up yet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Subgroups inherit parent parameters rather than their own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share redistributes proportionally, not by displacement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sensitivity only, no probabilistic run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gap: no validated country cost set — demo values are illustrative</a:t>
            </a:r>
            <a:endParaRPr lang="en-US" sz="1140" dirty="0"/>
          </a:p>
          <a:p>
            <a:pPr marL="177800" indent="-177800">
              <a:lnSpc>
                <a:spcPts val="1550"/>
              </a:lnSpc>
              <a:spcAft>
                <a:spcPts val="600"/>
              </a:spcAft>
              <a:buSzPct val="100000"/>
              <a:buChar char="•"/>
            </a:pPr>
            <a:r>
              <a:rPr lang="en-US" sz="114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gap: clinical parameters not yet expert-reviewed</a:t>
            </a:r>
            <a:endParaRPr lang="en-US" sz="114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789920" y="475488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10789920" y="475488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789920" y="475488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789920" y="475488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789920" y="475488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789920" y="475488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789920" y="475488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789920" y="475488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789920" y="475488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0789920" y="475488"/>
            <a:ext cx="1143000" cy="11430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0904220" y="589788"/>
            <a:ext cx="1028700" cy="10287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018520" y="704088"/>
            <a:ext cx="914400" cy="9144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132820" y="818388"/>
            <a:ext cx="800100" cy="8001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1247120" y="932688"/>
            <a:ext cx="685800" cy="6858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1361420" y="1046988"/>
            <a:ext cx="571500" cy="5715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1475720" y="1161288"/>
            <a:ext cx="457200" cy="4572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1590020" y="1275588"/>
            <a:ext cx="342900" cy="3429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1704320" y="1389888"/>
            <a:ext cx="228600" cy="2286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818620" y="1504188"/>
            <a:ext cx="114300" cy="114300"/>
          </a:xfrm>
          <a:prstGeom prst="line">
            <a:avLst/>
          </a:prstGeom>
          <a:noFill/>
          <a:ln w="10795">
            <a:solidFill>
              <a:srgbClr val="9FD9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WHERE IT STANDS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15727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directions, each with the property that already makes it possible.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13232" y="2267712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2670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926080" y="2340864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because it does not centralise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2688336"/>
            <a:ext cx="8503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runs on the user's own machine, so a thousand analysts cost the same server capacity as one. The API is only touched for evidence search and persistence.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3232" y="3566160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396849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&amp; market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926080" y="363931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by data, not by code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2926080" y="3986784"/>
            <a:ext cx="8503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disease is one registry entry with its subgroups and defaults — no engine change. The same is true of a new comparator or outcome. Multi-country roll-up is the next structural step.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13232" y="4864608"/>
            <a:ext cx="1965960" cy="1097280"/>
          </a:xfrm>
          <a:prstGeom prst="roundRect">
            <a:avLst>
              <a:gd name="adj" fmla="val 6667"/>
            </a:avLst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26694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493776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because there is nothing to install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2926080" y="5285232"/>
            <a:ext cx="8503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browser tab, holds no patient-level data, and degrades gracefully with no database and no API key — so a pilot needs no procurement or infrastructure review.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WHERE IT STANDS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786384"/>
            <a:ext cx="10241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3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 plan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13232" y="2103120"/>
            <a:ext cx="420624" cy="420624"/>
          </a:xfrm>
          <a:prstGeom prst="ellipse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225296" y="2313432"/>
            <a:ext cx="2139696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against a published model</a:t>
            </a:r>
            <a:endParaRPr lang="en-US" sz="132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a peer-reviewed BIA end to end and publish the variance. This is what turns a prototype into something defensible.</a:t>
            </a:r>
            <a:endParaRPr lang="en-US" sz="1120" dirty="0"/>
          </a:p>
        </p:txBody>
      </p:sp>
      <p:sp>
        <p:nvSpPr>
          <p:cNvPr id="10" name="Shape 8"/>
          <p:cNvSpPr/>
          <p:nvPr/>
        </p:nvSpPr>
        <p:spPr>
          <a:xfrm>
            <a:off x="3474720" y="2103120"/>
            <a:ext cx="420624" cy="420624"/>
          </a:xfrm>
          <a:prstGeom prst="ellipse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986784" y="2313432"/>
            <a:ext cx="2139696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6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Multi-country aggregation</a:t>
            </a:r>
            <a:endParaRPr lang="en-US" sz="132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several markets in one model and roll them up to a regional total.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6236208" y="2103120"/>
            <a:ext cx="420624" cy="420624"/>
          </a:xfrm>
          <a:prstGeom prst="ellipse">
            <a:avLst/>
          </a:prstGeom>
          <a:solidFill>
            <a:srgbClr val="1D3A82"/>
          </a:solidFill>
          <a:ln w="12700">
            <a:solidFill>
              <a:srgbClr val="1D3A8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6208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748272" y="2313432"/>
            <a:ext cx="2139696" cy="0"/>
          </a:xfrm>
          <a:prstGeom prst="line">
            <a:avLst/>
          </a:prstGeom>
          <a:noFill/>
          <a:ln w="20320">
            <a:solidFill>
              <a:srgbClr val="DCED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36208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3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weeks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236208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Subgroup-level parameters</a:t>
            </a:r>
            <a:endParaRPr lang="en-US" sz="132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costs and outcomes per subgroup instead of inherited ones.</a:t>
            </a:r>
            <a:endParaRPr lang="en-US" sz="1120" dirty="0"/>
          </a:p>
        </p:txBody>
      </p:sp>
      <p:sp>
        <p:nvSpPr>
          <p:cNvPr id="22" name="Shape 20"/>
          <p:cNvSpPr/>
          <p:nvPr/>
        </p:nvSpPr>
        <p:spPr>
          <a:xfrm>
            <a:off x="8997696" y="2103120"/>
            <a:ext cx="420624" cy="420624"/>
          </a:xfrm>
          <a:prstGeom prst="ellipse">
            <a:avLst/>
          </a:prstGeom>
          <a:solidFill>
            <a:srgbClr val="12235B"/>
          </a:solidFill>
          <a:ln w="12700">
            <a:solidFill>
              <a:srgbClr val="1223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97696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997696" y="26700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weeks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997696" y="292608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2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sensitivity</a:t>
            </a:r>
            <a:endParaRPr lang="en-US" sz="1320" dirty="0"/>
          </a:p>
        </p:txBody>
      </p:sp>
      <p:sp>
        <p:nvSpPr>
          <p:cNvPr id="26" name="Text 24"/>
          <p:cNvSpPr txBox="1"/>
          <p:nvPr/>
        </p:nvSpPr>
        <p:spPr>
          <a:xfrm>
            <a:off x="8997696" y="351129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2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over correlated parameters, beyond the current one-way tornado.</a:t>
            </a:r>
            <a:endParaRPr lang="en-US" sz="112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46268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Dependencies, risks and how we reduce them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029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parameters are paywalled or country-specific</a:t>
            </a:r>
            <a:endParaRPr lang="en-US" sz="116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266944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open sources; every parameter is overridable and carries its origin.</a:t>
            </a:r>
            <a:endParaRPr lang="en-US" sz="1080" dirty="0"/>
          </a:p>
        </p:txBody>
      </p:sp>
      <p:sp>
        <p:nvSpPr>
          <p:cNvPr id="30" name="Text 28"/>
          <p:cNvSpPr txBox="1"/>
          <p:nvPr/>
        </p:nvSpPr>
        <p:spPr>
          <a:xfrm>
            <a:off x="6245352" y="5029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hosting sleeps; free database expires at 30 days</a:t>
            </a:r>
            <a:endParaRPr lang="en-US" sz="1160" dirty="0"/>
          </a:p>
        </p:txBody>
      </p:sp>
      <p:sp>
        <p:nvSpPr>
          <p:cNvPr id="31" name="Text 29"/>
          <p:cNvSpPr txBox="1"/>
          <p:nvPr/>
        </p:nvSpPr>
        <p:spPr>
          <a:xfrm>
            <a:off x="6245352" y="5266944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runs with no database at all — search and calculation degrade gracefully.</a:t>
            </a:r>
            <a:endParaRPr lang="en-US" sz="1080" dirty="0"/>
          </a:p>
        </p:txBody>
      </p:sp>
      <p:sp>
        <p:nvSpPr>
          <p:cNvPr id="32" name="Text 30"/>
          <p:cNvSpPr txBox="1"/>
          <p:nvPr/>
        </p:nvSpPr>
        <p:spPr>
          <a:xfrm>
            <a:off x="713232" y="57424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assumptions need expert review</a:t>
            </a:r>
            <a:endParaRPr lang="en-US" sz="1160" dirty="0"/>
          </a:p>
        </p:txBody>
      </p:sp>
      <p:sp>
        <p:nvSpPr>
          <p:cNvPr id="33" name="Text 31"/>
          <p:cNvSpPr txBox="1"/>
          <p:nvPr/>
        </p:nvSpPr>
        <p:spPr>
          <a:xfrm>
            <a:off x="713232" y="598017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Methodology view exposes every assumption for an HEOR reviewer to challenge.</a:t>
            </a:r>
            <a:endParaRPr lang="en-US" sz="1080" dirty="0"/>
          </a:p>
        </p:txBody>
      </p:sp>
      <p:sp>
        <p:nvSpPr>
          <p:cNvPr id="34" name="Text 32"/>
          <p:cNvSpPr txBox="1"/>
          <p:nvPr/>
        </p:nvSpPr>
        <p:spPr>
          <a:xfrm>
            <a:off x="6245352" y="57424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if real patient data is ever involved</a:t>
            </a:r>
            <a:endParaRPr lang="en-US" sz="1160" dirty="0"/>
          </a:p>
        </p:txBody>
      </p:sp>
      <p:sp>
        <p:nvSpPr>
          <p:cNvPr id="35" name="Text 33"/>
          <p:cNvSpPr txBox="1"/>
          <p:nvPr/>
        </p:nvSpPr>
        <p:spPr>
          <a:xfrm>
            <a:off x="6245352" y="5980176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Cohort-level by design; no patient-level data is stored anywhere.</a:t>
            </a:r>
            <a:endParaRPr lang="en-US" sz="1080" dirty="0"/>
          </a:p>
        </p:txBody>
      </p:sp>
      <p:sp>
        <p:nvSpPr>
          <p:cNvPr id="36" name="Text 34"/>
          <p:cNvSpPr txBox="1"/>
          <p:nvPr/>
        </p:nvSpPr>
        <p:spPr>
          <a:xfrm>
            <a:off x="713232" y="63825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BIET  ·  Team Denovo  ·  IBAB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1018520" y="6455664"/>
            <a:ext cx="256032" cy="0"/>
          </a:xfrm>
          <a:prstGeom prst="line">
            <a:avLst/>
          </a:prstGeom>
          <a:noFill/>
          <a:ln w="17780">
            <a:solidFill>
              <a:srgbClr val="4FC3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1338560" y="6345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2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4FC3E8"/>
          </a:solidFill>
          <a:ln w="12700">
            <a:solidFill>
              <a:srgbClr val="4FC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92840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67821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2802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17782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92763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667744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42725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17706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92686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967667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42648" y="457200"/>
            <a:ext cx="0" cy="1005840"/>
          </a:xfrm>
          <a:prstGeom prst="line">
            <a:avLst/>
          </a:prstGeom>
          <a:noFill/>
          <a:ln w="11430">
            <a:solidFill>
              <a:srgbClr val="3A54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539728" y="0"/>
            <a:ext cx="649224" cy="1371600"/>
          </a:xfrm>
          <a:prstGeom prst="rect">
            <a:avLst/>
          </a:prstGeom>
          <a:solidFill>
            <a:srgbClr val="4A63C8"/>
          </a:solidFill>
          <a:ln w="12700">
            <a:solidFill>
              <a:srgbClr val="4A63C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WHY IT MATTERS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786384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benefits, and how soon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HEOR &amp; market access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069080" y="181051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 first-pass model in minutes, with sensitivity and an audit trail included rather than added later.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0" y="1828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68680" y="2578608"/>
            <a:ext cx="10561320" cy="0"/>
          </a:xfrm>
          <a:prstGeom prst="line">
            <a:avLst/>
          </a:prstGeom>
          <a:noFill/>
          <a:ln w="12700">
            <a:solidFill>
              <a:srgbClr val="2C458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2788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&amp; insurers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77063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they can interrogate — components reconcile, assumptions are visible, limits are stated.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pilot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3538728"/>
            <a:ext cx="10561320" cy="0"/>
          </a:xfrm>
          <a:prstGeom prst="line">
            <a:avLst/>
          </a:prstGeom>
          <a:noFill/>
          <a:ln w="12700">
            <a:solidFill>
              <a:srgbClr val="2C458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3749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373075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affordability answers mean less delay between approval and access.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pathway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3892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6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inside one therapy-area team on a live pricing question · stakeholders are the HEOR lead, market access and medical affairs · integration effort is low because it is a browser tab with no patient data</a:t>
            </a:r>
            <a:endParaRPr lang="en-US" sz="1160" dirty="0"/>
          </a:p>
        </p:txBody>
      </p:sp>
      <p:sp>
        <p:nvSpPr>
          <p:cNvPr id="30" name="Shape 28"/>
          <p:cNvSpPr/>
          <p:nvPr/>
        </p:nvSpPr>
        <p:spPr>
          <a:xfrm>
            <a:off x="868680" y="577900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69848" y="58704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€0.13 PMPM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" y="6181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a payer decides on</a:t>
            </a:r>
            <a:endParaRPr lang="en-US" sz="1040" dirty="0"/>
          </a:p>
        </p:txBody>
      </p:sp>
      <p:sp>
        <p:nvSpPr>
          <p:cNvPr id="33" name="Shape 31"/>
          <p:cNvSpPr/>
          <p:nvPr/>
        </p:nvSpPr>
        <p:spPr>
          <a:xfrm>
            <a:off x="4389120" y="577900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90288" y="58704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Minutes, not weeks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4590288" y="6181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recalculation, zero API calls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7909560" y="5779008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10728" y="58704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Shows its working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110728" y="6181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exactly · 38 tests · limits stated</a:t>
            </a:r>
            <a:endParaRPr lang="en-US" sz="10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BIET — Budget Impact Estimation Tool</dc:title>
  <dc:subject>PptxGenJS Presentation</dc:subject>
  <dc:creator>Team Denovo, IBAB</dc:creator>
  <cp:lastModifiedBy>Team Denovo, IBAB</cp:lastModifiedBy>
  <cp:revision>1</cp:revision>
  <dcterms:created xsi:type="dcterms:W3CDTF">2026-09-04T18:07:18Z</dcterms:created>
  <dcterms:modified xsi:type="dcterms:W3CDTF">2026-09-04T18:07:18Z</dcterms:modified>
</cp:coreProperties>
</file>