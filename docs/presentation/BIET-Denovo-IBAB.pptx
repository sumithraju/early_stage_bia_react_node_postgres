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BIET, from Team Denovo at IBAB. It answers the affordability question a payer asks before any reimbursement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distinction early: BIA is affordability, CEA is efficiency. Judges from a health-economics background will check you know the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funnel is the heart of a BIA and where most reviewer questions land. Eight million lives become 181,764 treatable patients.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decision that matters: the engine is client-side, so there is no request between changing an input and seeing a new number. That is what makes live sensitivity possible on free hosting.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both numbers. €296.6 million sounds alarming; 13 cents per member per month is the same fact in the unit a payer actually negotiates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reference case is the strongest thing on this slide: a reviewer can do the multiplication in their head and check our engine agrees.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the limits is deliberate. A reviewer who finds an unstated limit stops trusting everything else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three takeaways. Middle card is the differentiator; the third is what makes it credible.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0" cy="1051560"/>
          </a:xfrm>
          <a:prstGeom prst="line">
            <a:avLst/>
          </a:prstGeom>
          <a:noFill/>
          <a:ln w="7620">
            <a:solidFill>
              <a:srgbClr val="9FD9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87284" y="0"/>
            <a:ext cx="0" cy="1051560"/>
          </a:xfrm>
          <a:prstGeom prst="line">
            <a:avLst/>
          </a:prstGeom>
          <a:noFill/>
          <a:ln w="7620">
            <a:solidFill>
              <a:srgbClr val="9FD9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10728" y="0"/>
            <a:ext cx="0" cy="1051560"/>
          </a:xfrm>
          <a:prstGeom prst="line">
            <a:avLst/>
          </a:prstGeom>
          <a:noFill/>
          <a:ln w="7620">
            <a:solidFill>
              <a:srgbClr val="9FD9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34172" y="0"/>
            <a:ext cx="0" cy="1051560"/>
          </a:xfrm>
          <a:prstGeom prst="line">
            <a:avLst/>
          </a:prstGeom>
          <a:noFill/>
          <a:ln w="7620">
            <a:solidFill>
              <a:srgbClr val="9FD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57616" y="0"/>
            <a:ext cx="0" cy="1051560"/>
          </a:xfrm>
          <a:prstGeom prst="line">
            <a:avLst/>
          </a:prstGeom>
          <a:noFill/>
          <a:ln w="7620">
            <a:solidFill>
              <a:srgbClr val="9FD9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1060" y="0"/>
            <a:ext cx="0" cy="1051560"/>
          </a:xfrm>
          <a:prstGeom prst="line">
            <a:avLst/>
          </a:prstGeom>
          <a:noFill/>
          <a:ln w="7620">
            <a:solidFill>
              <a:srgbClr val="9FD9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04504" y="0"/>
            <a:ext cx="0" cy="1051560"/>
          </a:xfrm>
          <a:prstGeom prst="line">
            <a:avLst/>
          </a:prstGeom>
          <a:noFill/>
          <a:ln w="7620">
            <a:solidFill>
              <a:srgbClr val="9FD9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27948" y="0"/>
            <a:ext cx="0" cy="1051560"/>
          </a:xfrm>
          <a:prstGeom prst="line">
            <a:avLst/>
          </a:prstGeom>
          <a:noFill/>
          <a:ln w="7620">
            <a:solidFill>
              <a:srgbClr val="9FD9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51392" y="0"/>
            <a:ext cx="0" cy="1051560"/>
          </a:xfrm>
          <a:prstGeom prst="line">
            <a:avLst/>
          </a:prstGeom>
          <a:noFill/>
          <a:ln w="7620">
            <a:solidFill>
              <a:srgbClr val="9FD9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74836" y="0"/>
            <a:ext cx="0" cy="1051560"/>
          </a:xfrm>
          <a:prstGeom prst="line">
            <a:avLst/>
          </a:prstGeom>
          <a:noFill/>
          <a:ln w="7620">
            <a:solidFill>
              <a:srgbClr val="9FD9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98280" y="0"/>
            <a:ext cx="0" cy="1051560"/>
          </a:xfrm>
          <a:prstGeom prst="line">
            <a:avLst/>
          </a:prstGeom>
          <a:noFill/>
          <a:ln w="7620">
            <a:solidFill>
              <a:srgbClr val="9FD9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21724" y="0"/>
            <a:ext cx="0" cy="1051560"/>
          </a:xfrm>
          <a:prstGeom prst="line">
            <a:avLst/>
          </a:prstGeom>
          <a:noFill/>
          <a:ln w="7620">
            <a:solidFill>
              <a:srgbClr val="9FD9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45168" y="0"/>
            <a:ext cx="0" cy="1051560"/>
          </a:xfrm>
          <a:prstGeom prst="line">
            <a:avLst/>
          </a:prstGeom>
          <a:noFill/>
          <a:ln w="7620">
            <a:solidFill>
              <a:srgbClr val="9FD9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68612" y="0"/>
            <a:ext cx="0" cy="1051560"/>
          </a:xfrm>
          <a:prstGeom prst="line">
            <a:avLst/>
          </a:prstGeom>
          <a:noFill/>
          <a:ln w="7620">
            <a:solidFill>
              <a:srgbClr val="9FD9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92056" y="0"/>
            <a:ext cx="0" cy="1051560"/>
          </a:xfrm>
          <a:prstGeom prst="line">
            <a:avLst/>
          </a:prstGeom>
          <a:noFill/>
          <a:ln w="7620">
            <a:solidFill>
              <a:srgbClr val="9FD9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15500" y="0"/>
            <a:ext cx="0" cy="1051560"/>
          </a:xfrm>
          <a:prstGeom prst="line">
            <a:avLst/>
          </a:prstGeom>
          <a:noFill/>
          <a:ln w="7620">
            <a:solidFill>
              <a:srgbClr val="9FD9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38944" y="0"/>
            <a:ext cx="0" cy="1051560"/>
          </a:xfrm>
          <a:prstGeom prst="line">
            <a:avLst/>
          </a:prstGeom>
          <a:noFill/>
          <a:ln w="7620">
            <a:solidFill>
              <a:srgbClr val="9FD9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2388" y="0"/>
            <a:ext cx="0" cy="1051560"/>
          </a:xfrm>
          <a:prstGeom prst="line">
            <a:avLst/>
          </a:prstGeom>
          <a:noFill/>
          <a:ln w="7620">
            <a:solidFill>
              <a:srgbClr val="9FD9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0" y="0"/>
            <a:ext cx="2103120" cy="0"/>
          </a:xfrm>
          <a:prstGeom prst="line">
            <a:avLst/>
          </a:prstGeom>
          <a:noFill/>
          <a:ln w="7620">
            <a:solidFill>
              <a:srgbClr val="9FD9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0" y="123444"/>
            <a:ext cx="2103120" cy="0"/>
          </a:xfrm>
          <a:prstGeom prst="line">
            <a:avLst/>
          </a:prstGeom>
          <a:noFill/>
          <a:ln w="7620">
            <a:solidFill>
              <a:srgbClr val="9FD9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0" y="246888"/>
            <a:ext cx="2103120" cy="0"/>
          </a:xfrm>
          <a:prstGeom prst="line">
            <a:avLst/>
          </a:prstGeom>
          <a:noFill/>
          <a:ln w="7620">
            <a:solidFill>
              <a:srgbClr val="9FD9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0" y="370332"/>
            <a:ext cx="2103120" cy="0"/>
          </a:xfrm>
          <a:prstGeom prst="line">
            <a:avLst/>
          </a:prstGeom>
          <a:noFill/>
          <a:ln w="7620">
            <a:solidFill>
              <a:srgbClr val="9FD9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0" y="493776"/>
            <a:ext cx="2103120" cy="0"/>
          </a:xfrm>
          <a:prstGeom prst="line">
            <a:avLst/>
          </a:prstGeom>
          <a:noFill/>
          <a:ln w="7620">
            <a:solidFill>
              <a:srgbClr val="9FD9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0" y="617220"/>
            <a:ext cx="2103120" cy="0"/>
          </a:xfrm>
          <a:prstGeom prst="line">
            <a:avLst/>
          </a:prstGeom>
          <a:noFill/>
          <a:ln w="7620">
            <a:solidFill>
              <a:srgbClr val="9FD9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0" y="740664"/>
            <a:ext cx="2103120" cy="0"/>
          </a:xfrm>
          <a:prstGeom prst="line">
            <a:avLst/>
          </a:prstGeom>
          <a:noFill/>
          <a:ln w="7620">
            <a:solidFill>
              <a:srgbClr val="9FD9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63840" y="864108"/>
            <a:ext cx="2103120" cy="0"/>
          </a:xfrm>
          <a:prstGeom prst="line">
            <a:avLst/>
          </a:prstGeom>
          <a:noFill/>
          <a:ln w="7620">
            <a:solidFill>
              <a:srgbClr val="9FD9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63840" y="987552"/>
            <a:ext cx="2103120" cy="0"/>
          </a:xfrm>
          <a:prstGeom prst="line">
            <a:avLst/>
          </a:prstGeom>
          <a:noFill/>
          <a:ln w="7620">
            <a:solidFill>
              <a:srgbClr val="9FD9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78440" y="1463040"/>
            <a:ext cx="1810512" cy="384048"/>
          </a:xfrm>
          <a:prstGeom prst="roundRect">
            <a:avLst>
              <a:gd name="adj" fmla="val 14286"/>
            </a:avLst>
          </a:prstGeom>
          <a:solidFill>
            <a:srgbClr val="4A63C8"/>
          </a:solidFill>
          <a:ln w="12700">
            <a:solidFill>
              <a:srgbClr val="4A63C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89720" y="2697480"/>
            <a:ext cx="0" cy="1371600"/>
          </a:xfrm>
          <a:prstGeom prst="line">
            <a:avLst/>
          </a:prstGeom>
          <a:noFill/>
          <a:ln w="11430">
            <a:solidFill>
              <a:srgbClr val="4FC3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61043" y="2697480"/>
            <a:ext cx="0" cy="1371600"/>
          </a:xfrm>
          <a:prstGeom prst="line">
            <a:avLst/>
          </a:prstGeom>
          <a:noFill/>
          <a:ln w="11430">
            <a:solidFill>
              <a:srgbClr val="4FC3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32366" y="2697480"/>
            <a:ext cx="0" cy="1371600"/>
          </a:xfrm>
          <a:prstGeom prst="line">
            <a:avLst/>
          </a:prstGeom>
          <a:noFill/>
          <a:ln w="11430">
            <a:solidFill>
              <a:srgbClr val="4FC3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03690" y="2697480"/>
            <a:ext cx="0" cy="1371600"/>
          </a:xfrm>
          <a:prstGeom prst="line">
            <a:avLst/>
          </a:prstGeom>
          <a:noFill/>
          <a:ln w="11430">
            <a:solidFill>
              <a:srgbClr val="4FC3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75013" y="2697480"/>
            <a:ext cx="0" cy="1371600"/>
          </a:xfrm>
          <a:prstGeom prst="line">
            <a:avLst/>
          </a:prstGeom>
          <a:noFill/>
          <a:ln w="11430">
            <a:solidFill>
              <a:srgbClr val="4FC3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46336" y="2697480"/>
            <a:ext cx="0" cy="1371600"/>
          </a:xfrm>
          <a:prstGeom prst="line">
            <a:avLst/>
          </a:prstGeom>
          <a:noFill/>
          <a:ln w="11430">
            <a:solidFill>
              <a:srgbClr val="4FC3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17659" y="2697480"/>
            <a:ext cx="0" cy="1371600"/>
          </a:xfrm>
          <a:prstGeom prst="line">
            <a:avLst/>
          </a:prstGeom>
          <a:noFill/>
          <a:ln w="11430">
            <a:solidFill>
              <a:srgbClr val="4FC3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88982" y="2697480"/>
            <a:ext cx="0" cy="1371600"/>
          </a:xfrm>
          <a:prstGeom prst="line">
            <a:avLst/>
          </a:prstGeom>
          <a:noFill/>
          <a:ln w="11430">
            <a:solidFill>
              <a:srgbClr val="4FC3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760306" y="2697480"/>
            <a:ext cx="0" cy="1371600"/>
          </a:xfrm>
          <a:prstGeom prst="line">
            <a:avLst/>
          </a:prstGeom>
          <a:noFill/>
          <a:ln w="11430">
            <a:solidFill>
              <a:srgbClr val="4FC3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31629" y="2697480"/>
            <a:ext cx="0" cy="1371600"/>
          </a:xfrm>
          <a:prstGeom prst="line">
            <a:avLst/>
          </a:prstGeom>
          <a:noFill/>
          <a:ln w="11430">
            <a:solidFill>
              <a:srgbClr val="4FC3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902952" y="2697480"/>
            <a:ext cx="0" cy="1371600"/>
          </a:xfrm>
          <a:prstGeom prst="line">
            <a:avLst/>
          </a:prstGeom>
          <a:noFill/>
          <a:ln w="11430">
            <a:solidFill>
              <a:srgbClr val="4FC3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974275" y="2697480"/>
            <a:ext cx="0" cy="1371600"/>
          </a:xfrm>
          <a:prstGeom prst="line">
            <a:avLst/>
          </a:prstGeom>
          <a:noFill/>
          <a:ln w="11430">
            <a:solidFill>
              <a:srgbClr val="4FC3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45598" y="2697480"/>
            <a:ext cx="0" cy="1371600"/>
          </a:xfrm>
          <a:prstGeom prst="line">
            <a:avLst/>
          </a:prstGeom>
          <a:noFill/>
          <a:ln w="11430">
            <a:solidFill>
              <a:srgbClr val="4FC3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603504" y="1783080"/>
            <a:ext cx="114300" cy="1143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603504" y="1783080"/>
            <a:ext cx="228600" cy="2286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603504" y="1783080"/>
            <a:ext cx="342900" cy="3429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603504" y="1783080"/>
            <a:ext cx="457200" cy="4572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603504" y="1783080"/>
            <a:ext cx="571500" cy="5715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603504" y="1783080"/>
            <a:ext cx="685800" cy="6858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603504" y="1783080"/>
            <a:ext cx="800100" cy="8001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603504" y="1783080"/>
            <a:ext cx="914400" cy="9144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603504" y="1783080"/>
            <a:ext cx="1028700" cy="10287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603504" y="1783080"/>
            <a:ext cx="1143000" cy="11430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603504" y="1783080"/>
            <a:ext cx="1257300" cy="12573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676656" y="1856232"/>
            <a:ext cx="1225296" cy="1225296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790956" y="1970532"/>
            <a:ext cx="1110996" cy="1110996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905256" y="2084832"/>
            <a:ext cx="996696" cy="996696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1019556" y="2199132"/>
            <a:ext cx="882396" cy="882396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1133856" y="2313432"/>
            <a:ext cx="768096" cy="768096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1248156" y="2427732"/>
            <a:ext cx="653796" cy="653796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1362456" y="2542032"/>
            <a:ext cx="539496" cy="539496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1476756" y="2656332"/>
            <a:ext cx="425196" cy="425196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1591056" y="2770632"/>
            <a:ext cx="310896" cy="310896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1705356" y="2884932"/>
            <a:ext cx="196596" cy="196596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1819656" y="2999232"/>
            <a:ext cx="82296" cy="82296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0" y="6053328"/>
            <a:ext cx="2331720" cy="804672"/>
          </a:xfrm>
          <a:prstGeom prst="rect">
            <a:avLst/>
          </a:prstGeom>
          <a:solidFill>
            <a:srgbClr val="4FC3E8"/>
          </a:solidFill>
          <a:ln w="12700">
            <a:solidFill>
              <a:srgbClr val="4FC3E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31720" y="6053328"/>
            <a:ext cx="3200400" cy="804672"/>
          </a:xfrm>
          <a:prstGeom prst="rect">
            <a:avLst/>
          </a:prstGeom>
          <a:solidFill>
            <a:srgbClr val="12235B"/>
          </a:solidFill>
          <a:ln w="12700">
            <a:solidFill>
              <a:srgbClr val="12235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532120" y="6053328"/>
            <a:ext cx="1371600" cy="804672"/>
          </a:xfrm>
          <a:prstGeom prst="rect">
            <a:avLst/>
          </a:prstGeom>
          <a:solidFill>
            <a:srgbClr val="4A63C8"/>
          </a:solidFill>
          <a:ln w="12700">
            <a:solidFill>
              <a:srgbClr val="4A63C8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2331720" y="14630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60" kern="0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IBAB   ·   TEAM DENOVO</a:t>
            </a:r>
            <a:endParaRPr lang="en-US" sz="1250" dirty="0"/>
          </a:p>
        </p:txBody>
      </p:sp>
      <p:sp>
        <p:nvSpPr>
          <p:cNvPr id="69" name="Text 67"/>
          <p:cNvSpPr txBox="1"/>
          <p:nvPr/>
        </p:nvSpPr>
        <p:spPr>
          <a:xfrm>
            <a:off x="6263640" y="14630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6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early-stage-bia.onrender.com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2286000" y="1792224"/>
            <a:ext cx="73152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122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BIET</a:t>
            </a:r>
            <a:endParaRPr lang="en-US" sz="9200" dirty="0"/>
          </a:p>
        </p:txBody>
      </p:sp>
      <p:sp>
        <p:nvSpPr>
          <p:cNvPr id="71" name="Text 69"/>
          <p:cNvSpPr txBox="1"/>
          <p:nvPr/>
        </p:nvSpPr>
        <p:spPr>
          <a:xfrm>
            <a:off x="2331720" y="3291840"/>
            <a:ext cx="7498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D3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Impact Estimation Tool</a:t>
            </a:r>
            <a:endParaRPr lang="en-US" sz="2600" dirty="0"/>
          </a:p>
        </p:txBody>
      </p:sp>
      <p:sp>
        <p:nvSpPr>
          <p:cNvPr id="72" name="Text 70"/>
          <p:cNvSpPr txBox="1"/>
          <p:nvPr/>
        </p:nvSpPr>
        <p:spPr>
          <a:xfrm>
            <a:off x="2331720" y="382219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 budget impact analysis for pharmaceutical decision support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2331720" y="4315968"/>
            <a:ext cx="7973568" cy="1517904"/>
          </a:xfrm>
          <a:prstGeom prst="roundRect">
            <a:avLst>
              <a:gd name="adj" fmla="val 4819"/>
            </a:avLst>
          </a:prstGeom>
          <a:solidFill>
            <a:srgbClr val="F1F8FD"/>
          </a:solidFill>
          <a:ln w="12700">
            <a:solidFill>
              <a:srgbClr val="F1F8FD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2606040" y="44439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spc="110" kern="0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40" dirty="0"/>
          </a:p>
        </p:txBody>
      </p:sp>
      <p:sp>
        <p:nvSpPr>
          <p:cNvPr id="75" name="Text 73"/>
          <p:cNvSpPr txBox="1"/>
          <p:nvPr/>
        </p:nvSpPr>
        <p:spPr>
          <a:xfrm>
            <a:off x="2606040" y="4645152"/>
            <a:ext cx="7443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 drug teams cannot answer a payer's first question — what will this cost my budget? — without weeks of bespoke spreadsheet work.</a:t>
            </a:r>
            <a:endParaRPr lang="en-US" sz="1180" dirty="0"/>
          </a:p>
        </p:txBody>
      </p:sp>
      <p:sp>
        <p:nvSpPr>
          <p:cNvPr id="76" name="Text 74"/>
          <p:cNvSpPr txBox="1"/>
          <p:nvPr/>
        </p:nvSpPr>
        <p:spPr>
          <a:xfrm>
            <a:off x="2606040" y="5120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spc="110" kern="0" dirty="0">
                <a:solidFill>
                  <a:srgbClr val="4A6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OUTCOME</a:t>
            </a:r>
            <a:endParaRPr lang="en-US" sz="940" dirty="0"/>
          </a:p>
        </p:txBody>
      </p:sp>
      <p:sp>
        <p:nvSpPr>
          <p:cNvPr id="77" name="Text 75"/>
          <p:cNvSpPr txBox="1"/>
          <p:nvPr/>
        </p:nvSpPr>
        <p:spPr>
          <a:xfrm>
            <a:off x="2606040" y="5321808"/>
            <a:ext cx="7443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five-year model in under 10 minutes instead of weeks, every figure traceable to the input behind it.</a:t>
            </a:r>
            <a:endParaRPr lang="en-US" sz="11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378440" y="457200"/>
            <a:ext cx="114300" cy="1143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10378440" y="457200"/>
            <a:ext cx="228600" cy="2286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0378440" y="457200"/>
            <a:ext cx="342900" cy="3429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378440" y="457200"/>
            <a:ext cx="457200" cy="4572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378440" y="457200"/>
            <a:ext cx="571500" cy="5715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378440" y="457200"/>
            <a:ext cx="685800" cy="6858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378440" y="457200"/>
            <a:ext cx="800100" cy="8001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0378440" y="457200"/>
            <a:ext cx="914400" cy="9144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0378440" y="457200"/>
            <a:ext cx="1028700" cy="10287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378440" y="457200"/>
            <a:ext cx="1143000" cy="11430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0378440" y="457200"/>
            <a:ext cx="1257300" cy="12573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424160" y="502920"/>
            <a:ext cx="1280160" cy="128016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0538460" y="617220"/>
            <a:ext cx="1165860" cy="116586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0652760" y="731520"/>
            <a:ext cx="1051560" cy="105156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10767060" y="845820"/>
            <a:ext cx="937260" cy="93726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10881360" y="960120"/>
            <a:ext cx="822960" cy="82296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10995660" y="1074420"/>
            <a:ext cx="708660" cy="70866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11109960" y="1188720"/>
            <a:ext cx="594360" cy="59436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11224260" y="1303020"/>
            <a:ext cx="480060" cy="48006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11338560" y="1417320"/>
            <a:ext cx="365760" cy="36576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11452860" y="1531620"/>
            <a:ext cx="251460" cy="25146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11567160" y="1645920"/>
            <a:ext cx="137160" cy="13716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155680" y="5394960"/>
            <a:ext cx="1033272" cy="1463040"/>
          </a:xfrm>
          <a:prstGeom prst="rect">
            <a:avLst/>
          </a:prstGeom>
          <a:solidFill>
            <a:srgbClr val="4FC3E8"/>
          </a:solidFill>
          <a:ln w="12700">
            <a:solidFill>
              <a:srgbClr val="4FC3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3232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" y="786384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2048256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C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1463040" y="20848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0" y="21031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payers ask, and why it is slow to answer</a:t>
            </a:r>
            <a:endParaRPr lang="en-US" sz="1240" dirty="0"/>
          </a:p>
        </p:txBody>
      </p:sp>
      <p:sp>
        <p:nvSpPr>
          <p:cNvPr id="30" name="Text 28"/>
          <p:cNvSpPr txBox="1"/>
          <p:nvPr/>
        </p:nvSpPr>
        <p:spPr>
          <a:xfrm>
            <a:off x="10607040" y="20939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6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13232" y="2514600"/>
            <a:ext cx="10716768" cy="0"/>
          </a:xfrm>
          <a:prstGeom prst="line">
            <a:avLst/>
          </a:prstGeom>
          <a:noFill/>
          <a:ln w="12700">
            <a:solidFill>
              <a:srgbClr val="DCEDF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13232" y="2624328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C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1463040" y="26609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innovation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0" y="267919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original in the approach</a:t>
            </a:r>
            <a:endParaRPr lang="en-US" sz="1240" dirty="0"/>
          </a:p>
        </p:txBody>
      </p:sp>
      <p:sp>
        <p:nvSpPr>
          <p:cNvPr id="35" name="Text 33"/>
          <p:cNvSpPr txBox="1"/>
          <p:nvPr/>
        </p:nvSpPr>
        <p:spPr>
          <a:xfrm>
            <a:off x="10607040" y="26700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6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13232" y="3090672"/>
            <a:ext cx="10716768" cy="0"/>
          </a:xfrm>
          <a:prstGeom prst="line">
            <a:avLst/>
          </a:prstGeom>
          <a:noFill/>
          <a:ln w="12700">
            <a:solidFill>
              <a:srgbClr val="DCEDF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13232" y="3200400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C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900" dirty="0"/>
          </a:p>
        </p:txBody>
      </p:sp>
      <p:sp>
        <p:nvSpPr>
          <p:cNvPr id="38" name="Text 36"/>
          <p:cNvSpPr txBox="1"/>
          <p:nvPr/>
        </p:nvSpPr>
        <p:spPr>
          <a:xfrm>
            <a:off x="1463040" y="32369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0" y="325526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guided flow, six inputs, seven views</a:t>
            </a:r>
            <a:endParaRPr lang="en-US" sz="1240" dirty="0"/>
          </a:p>
        </p:txBody>
      </p:sp>
      <p:sp>
        <p:nvSpPr>
          <p:cNvPr id="40" name="Text 38"/>
          <p:cNvSpPr txBox="1"/>
          <p:nvPr/>
        </p:nvSpPr>
        <p:spPr>
          <a:xfrm>
            <a:off x="10607040" y="32461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6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13232" y="3666744"/>
            <a:ext cx="10716768" cy="0"/>
          </a:xfrm>
          <a:prstGeom prst="line">
            <a:avLst/>
          </a:prstGeom>
          <a:noFill/>
          <a:ln w="12700">
            <a:solidFill>
              <a:srgbClr val="DCEDF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13232" y="3776472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C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900" dirty="0"/>
          </a:p>
        </p:txBody>
      </p:sp>
      <p:sp>
        <p:nvSpPr>
          <p:cNvPr id="43" name="Text 41"/>
          <p:cNvSpPr txBox="1"/>
          <p:nvPr/>
        </p:nvSpPr>
        <p:spPr>
          <a:xfrm>
            <a:off x="1463040" y="3813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build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0" y="383133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model, data, evaluation</a:t>
            </a:r>
            <a:endParaRPr lang="en-US" sz="1240" dirty="0"/>
          </a:p>
        </p:txBody>
      </p:sp>
      <p:sp>
        <p:nvSpPr>
          <p:cNvPr id="45" name="Text 43"/>
          <p:cNvSpPr txBox="1"/>
          <p:nvPr/>
        </p:nvSpPr>
        <p:spPr>
          <a:xfrm>
            <a:off x="10607040" y="38221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6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7–8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13232" y="4242816"/>
            <a:ext cx="10716768" cy="0"/>
          </a:xfrm>
          <a:prstGeom prst="line">
            <a:avLst/>
          </a:prstGeom>
          <a:noFill/>
          <a:ln w="12700">
            <a:solidFill>
              <a:srgbClr val="DCEDF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13232" y="4352544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C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900" dirty="0"/>
          </a:p>
        </p:txBody>
      </p:sp>
      <p:sp>
        <p:nvSpPr>
          <p:cNvPr id="48" name="Text 46"/>
          <p:cNvSpPr txBox="1"/>
          <p:nvPr/>
        </p:nvSpPr>
        <p:spPr>
          <a:xfrm>
            <a:off x="1463040" y="4389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evidence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4572000" y="44074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output, validation, EviTrack</a:t>
            </a:r>
            <a:endParaRPr lang="en-US" sz="1240" dirty="0"/>
          </a:p>
        </p:txBody>
      </p:sp>
      <p:sp>
        <p:nvSpPr>
          <p:cNvPr id="50" name="Text 48"/>
          <p:cNvSpPr txBox="1"/>
          <p:nvPr/>
        </p:nvSpPr>
        <p:spPr>
          <a:xfrm>
            <a:off x="10607040" y="43982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6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9–11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13232" y="4818888"/>
            <a:ext cx="10716768" cy="0"/>
          </a:xfrm>
          <a:prstGeom prst="line">
            <a:avLst/>
          </a:prstGeom>
          <a:noFill/>
          <a:ln w="12700">
            <a:solidFill>
              <a:srgbClr val="DCEDF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13232" y="4928616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C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900" dirty="0"/>
          </a:p>
        </p:txBody>
      </p:sp>
      <p:sp>
        <p:nvSpPr>
          <p:cNvPr id="53" name="Text 51"/>
          <p:cNvSpPr txBox="1"/>
          <p:nvPr/>
        </p:nvSpPr>
        <p:spPr>
          <a:xfrm>
            <a:off x="1463040" y="49651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stands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4572000" y="49834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work, scalability, roadmap</a:t>
            </a:r>
            <a:endParaRPr lang="en-US" sz="1240" dirty="0"/>
          </a:p>
        </p:txBody>
      </p:sp>
      <p:sp>
        <p:nvSpPr>
          <p:cNvPr id="55" name="Text 53"/>
          <p:cNvSpPr txBox="1"/>
          <p:nvPr/>
        </p:nvSpPr>
        <p:spPr>
          <a:xfrm>
            <a:off x="10607040" y="49743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6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12–14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13232" y="5394960"/>
            <a:ext cx="10716768" cy="0"/>
          </a:xfrm>
          <a:prstGeom prst="line">
            <a:avLst/>
          </a:prstGeom>
          <a:noFill/>
          <a:ln w="12700">
            <a:solidFill>
              <a:srgbClr val="DCEDF8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13232" y="5504688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C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900" dirty="0"/>
          </a:p>
        </p:txBody>
      </p:sp>
      <p:sp>
        <p:nvSpPr>
          <p:cNvPr id="58" name="Text 56"/>
          <p:cNvSpPr txBox="1"/>
          <p:nvPr/>
        </p:nvSpPr>
        <p:spPr>
          <a:xfrm>
            <a:off x="1463040" y="55412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4572000" y="55595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Benefits, adoption, takeaways</a:t>
            </a:r>
            <a:endParaRPr lang="en-US" sz="1240" dirty="0"/>
          </a:p>
        </p:txBody>
      </p:sp>
      <p:sp>
        <p:nvSpPr>
          <p:cNvPr id="60" name="Text 58"/>
          <p:cNvSpPr txBox="1"/>
          <p:nvPr/>
        </p:nvSpPr>
        <p:spPr>
          <a:xfrm>
            <a:off x="10607040" y="55504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6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713232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BIET  ·  Team Denovo  ·  IBAB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11018520" y="6455664"/>
            <a:ext cx="256032" cy="0"/>
          </a:xfrm>
          <a:prstGeom prst="line">
            <a:avLst/>
          </a:prstGeom>
          <a:noFill/>
          <a:ln w="17780">
            <a:solidFill>
              <a:srgbClr val="4FC3E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11338560" y="6345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2235B"/>
          </a:solidFill>
          <a:ln w="12700">
            <a:solidFill>
              <a:srgbClr val="122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502920"/>
            <a:ext cx="0" cy="960120"/>
          </a:xfrm>
          <a:prstGeom prst="line">
            <a:avLst/>
          </a:prstGeom>
          <a:noFill/>
          <a:ln w="11430">
            <a:solidFill>
              <a:srgbClr val="9FD9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4941" y="502920"/>
            <a:ext cx="0" cy="960120"/>
          </a:xfrm>
          <a:prstGeom prst="line">
            <a:avLst/>
          </a:prstGeom>
          <a:noFill/>
          <a:ln w="11430">
            <a:solidFill>
              <a:srgbClr val="9FD9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59922" y="502920"/>
            <a:ext cx="0" cy="960120"/>
          </a:xfrm>
          <a:prstGeom prst="line">
            <a:avLst/>
          </a:prstGeom>
          <a:noFill/>
          <a:ln w="11430">
            <a:solidFill>
              <a:srgbClr val="9FD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34902" y="502920"/>
            <a:ext cx="0" cy="960120"/>
          </a:xfrm>
          <a:prstGeom prst="line">
            <a:avLst/>
          </a:prstGeom>
          <a:noFill/>
          <a:ln w="11430">
            <a:solidFill>
              <a:srgbClr val="9FD9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09883" y="502920"/>
            <a:ext cx="0" cy="960120"/>
          </a:xfrm>
          <a:prstGeom prst="line">
            <a:avLst/>
          </a:prstGeom>
          <a:noFill/>
          <a:ln w="11430">
            <a:solidFill>
              <a:srgbClr val="9FD9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84864" y="502920"/>
            <a:ext cx="0" cy="960120"/>
          </a:xfrm>
          <a:prstGeom prst="line">
            <a:avLst/>
          </a:prstGeom>
          <a:noFill/>
          <a:ln w="11430">
            <a:solidFill>
              <a:srgbClr val="9FD9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59845" y="502920"/>
            <a:ext cx="0" cy="960120"/>
          </a:xfrm>
          <a:prstGeom prst="line">
            <a:avLst/>
          </a:prstGeom>
          <a:noFill/>
          <a:ln w="11430">
            <a:solidFill>
              <a:srgbClr val="9FD9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634826" y="502920"/>
            <a:ext cx="0" cy="960120"/>
          </a:xfrm>
          <a:prstGeom prst="line">
            <a:avLst/>
          </a:prstGeom>
          <a:noFill/>
          <a:ln w="11430">
            <a:solidFill>
              <a:srgbClr val="9FD9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09806" y="502920"/>
            <a:ext cx="0" cy="960120"/>
          </a:xfrm>
          <a:prstGeom prst="line">
            <a:avLst/>
          </a:prstGeom>
          <a:noFill/>
          <a:ln w="11430">
            <a:solidFill>
              <a:srgbClr val="9FD9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784787" y="502920"/>
            <a:ext cx="0" cy="960120"/>
          </a:xfrm>
          <a:prstGeom prst="line">
            <a:avLst/>
          </a:prstGeom>
          <a:noFill/>
          <a:ln w="11430">
            <a:solidFill>
              <a:srgbClr val="9FD9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59768" y="502920"/>
            <a:ext cx="0" cy="960120"/>
          </a:xfrm>
          <a:prstGeom prst="line">
            <a:avLst/>
          </a:prstGeom>
          <a:noFill/>
          <a:ln w="11430">
            <a:solidFill>
              <a:srgbClr val="9FD9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34749" y="502920"/>
            <a:ext cx="0" cy="960120"/>
          </a:xfrm>
          <a:prstGeom prst="line">
            <a:avLst/>
          </a:prstGeom>
          <a:noFill/>
          <a:ln w="11430">
            <a:solidFill>
              <a:srgbClr val="9FD9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PROBLEM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786384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every payer asks first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1572768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price is agreed, a health insurer wants one number: what does saying yes to this drug do to my budget over the next three to five years?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13232" y="2249424"/>
            <a:ext cx="5120640" cy="2212848"/>
          </a:xfrm>
          <a:prstGeom prst="roundRect">
            <a:avLst>
              <a:gd name="adj" fmla="val 4132"/>
            </a:avLst>
          </a:prstGeom>
          <a:solidFill>
            <a:srgbClr val="F1F8FD"/>
          </a:solidFill>
          <a:ln w="12700">
            <a:solidFill>
              <a:srgbClr val="F1F8F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9264" y="2450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hard today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69264" y="2798064"/>
            <a:ext cx="4617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59"/>
              </a:lnSpc>
              <a:spcAft>
                <a:spcPts val="600"/>
              </a:spcAft>
              <a:buSzPct val="100000"/>
              <a:buChar char="•"/>
            </a:pPr>
            <a:r>
              <a:rPr lang="en-US" sz="122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built from scratch in Excel for every product and market</a:t>
            </a:r>
            <a:endParaRPr lang="en-US" sz="1220" dirty="0"/>
          </a:p>
          <a:p>
            <a:pPr marL="177800" indent="-177800">
              <a:lnSpc>
                <a:spcPts val="1659"/>
              </a:lnSpc>
              <a:spcAft>
                <a:spcPts val="600"/>
              </a:spcAft>
              <a:buSzPct val="100000"/>
              <a:buChar char="•"/>
            </a:pPr>
            <a:r>
              <a:rPr lang="en-US" sz="122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 sit in cells no reviewer can trace, so the answer is trusted or rejected whole</a:t>
            </a:r>
            <a:endParaRPr lang="en-US" sz="1220" dirty="0"/>
          </a:p>
          <a:p>
            <a:pPr marL="177800" indent="-177800">
              <a:lnSpc>
                <a:spcPts val="1659"/>
              </a:lnSpc>
              <a:spcAft>
                <a:spcPts val="600"/>
              </a:spcAft>
              <a:buSzPct val="100000"/>
              <a:buChar char="•"/>
            </a:pPr>
            <a:r>
              <a:rPr lang="en-US" sz="122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one assumption means rebuilding, so alternatives go untested</a:t>
            </a:r>
            <a:endParaRPr lang="en-US" sz="122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22494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09360" y="2697480"/>
            <a:ext cx="137160" cy="137160"/>
          </a:xfrm>
          <a:prstGeom prst="ellipse">
            <a:avLst/>
          </a:prstGeom>
          <a:solidFill>
            <a:srgbClr val="4FC3E8"/>
          </a:solidFill>
          <a:ln w="12700">
            <a:solidFill>
              <a:srgbClr val="4FC3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01968" y="267004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HEOR &amp; market access</a:t>
            </a:r>
            <a:endParaRPr lang="en-US" sz="1280" dirty="0"/>
          </a:p>
        </p:txBody>
      </p:sp>
      <p:sp>
        <p:nvSpPr>
          <p:cNvPr id="24" name="Text 22"/>
          <p:cNvSpPr txBox="1"/>
          <p:nvPr/>
        </p:nvSpPr>
        <p:spPr>
          <a:xfrm>
            <a:off x="6601968" y="29077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6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defend every assumption to a payer, with no audit trail to point at</a:t>
            </a:r>
            <a:endParaRPr lang="en-US" sz="1160" dirty="0"/>
          </a:p>
        </p:txBody>
      </p:sp>
      <p:sp>
        <p:nvSpPr>
          <p:cNvPr id="25" name="Shape 23"/>
          <p:cNvSpPr/>
          <p:nvPr/>
        </p:nvSpPr>
        <p:spPr>
          <a:xfrm>
            <a:off x="6309360" y="3337560"/>
            <a:ext cx="137160" cy="137160"/>
          </a:xfrm>
          <a:prstGeom prst="ellipse">
            <a:avLst/>
          </a:prstGeom>
          <a:solidFill>
            <a:srgbClr val="4FC3E8"/>
          </a:solidFill>
          <a:ln w="12700">
            <a:solidFill>
              <a:srgbClr val="4FC3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01968" y="331012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Payers &amp; insurers</a:t>
            </a:r>
            <a:endParaRPr lang="en-US" sz="1280" dirty="0"/>
          </a:p>
        </p:txBody>
      </p:sp>
      <p:sp>
        <p:nvSpPr>
          <p:cNvPr id="27" name="Text 25"/>
          <p:cNvSpPr txBox="1"/>
          <p:nvPr/>
        </p:nvSpPr>
        <p:spPr>
          <a:xfrm>
            <a:off x="6601968" y="35478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6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 number they cannot interrogate before committing budget</a:t>
            </a:r>
            <a:endParaRPr lang="en-US" sz="1160" dirty="0"/>
          </a:p>
        </p:txBody>
      </p:sp>
      <p:sp>
        <p:nvSpPr>
          <p:cNvPr id="28" name="Shape 26"/>
          <p:cNvSpPr/>
          <p:nvPr/>
        </p:nvSpPr>
        <p:spPr>
          <a:xfrm>
            <a:off x="6309360" y="3977640"/>
            <a:ext cx="137160" cy="137160"/>
          </a:xfrm>
          <a:prstGeom prst="ellipse">
            <a:avLst/>
          </a:prstGeom>
          <a:solidFill>
            <a:srgbClr val="4FC3E8"/>
          </a:solidFill>
          <a:ln w="12700">
            <a:solidFill>
              <a:srgbClr val="4FC3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01968" y="395020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280" dirty="0"/>
          </a:p>
        </p:txBody>
      </p:sp>
      <p:sp>
        <p:nvSpPr>
          <p:cNvPr id="30" name="Text 28"/>
          <p:cNvSpPr txBox="1"/>
          <p:nvPr/>
        </p:nvSpPr>
        <p:spPr>
          <a:xfrm>
            <a:off x="6601968" y="41879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6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delayed while the analysis is rebuilt for each market</a:t>
            </a:r>
            <a:endParaRPr lang="en-US" sz="1160" dirty="0"/>
          </a:p>
        </p:txBody>
      </p:sp>
      <p:sp>
        <p:nvSpPr>
          <p:cNvPr id="31" name="Shape 29"/>
          <p:cNvSpPr/>
          <p:nvPr/>
        </p:nvSpPr>
        <p:spPr>
          <a:xfrm>
            <a:off x="713232" y="4791456"/>
            <a:ext cx="10716768" cy="969264"/>
          </a:xfrm>
          <a:prstGeom prst="roundRect">
            <a:avLst>
              <a:gd name="adj" fmla="val 9434"/>
            </a:avLst>
          </a:prstGeom>
          <a:solidFill>
            <a:srgbClr val="12235B"/>
          </a:solidFill>
          <a:ln w="12700">
            <a:solidFill>
              <a:srgbClr val="12235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24128" y="4992624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8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budget impact analysis answers affordability — what it costs the budget. That is a different question from cost-effectiveness, which asks whether it is good value. BIET does the first, deliberately.</a:t>
            </a:r>
            <a:endParaRPr lang="en-US" sz="1280" dirty="0"/>
          </a:p>
        </p:txBody>
      </p:sp>
      <p:sp>
        <p:nvSpPr>
          <p:cNvPr id="33" name="Text 31"/>
          <p:cNvSpPr txBox="1"/>
          <p:nvPr/>
        </p:nvSpPr>
        <p:spPr>
          <a:xfrm>
            <a:off x="713232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BIET  ·  Team Denovo  ·  IBAB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1018520" y="6455664"/>
            <a:ext cx="256032" cy="0"/>
          </a:xfrm>
          <a:prstGeom prst="line">
            <a:avLst/>
          </a:prstGeom>
          <a:noFill/>
          <a:ln w="17780">
            <a:solidFill>
              <a:srgbClr val="4FC3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1338560" y="6345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625328" y="2212848"/>
            <a:ext cx="114300" cy="1143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10625328" y="2212848"/>
            <a:ext cx="228600" cy="2286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0625328" y="2212848"/>
            <a:ext cx="342900" cy="3429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625328" y="2212848"/>
            <a:ext cx="457200" cy="4572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625328" y="2212848"/>
            <a:ext cx="571500" cy="5715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625328" y="2212848"/>
            <a:ext cx="685800" cy="6858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625328" y="2212848"/>
            <a:ext cx="800100" cy="8001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0625328" y="2212848"/>
            <a:ext cx="914400" cy="9144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0625328" y="2212848"/>
            <a:ext cx="1028700" cy="10287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625328" y="2212848"/>
            <a:ext cx="1143000" cy="11430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0648188" y="2235708"/>
            <a:ext cx="1211580" cy="121158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762488" y="2350008"/>
            <a:ext cx="1097280" cy="109728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0876788" y="2464308"/>
            <a:ext cx="982980" cy="98298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0991088" y="2578608"/>
            <a:ext cx="868680" cy="86868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11105388" y="2692908"/>
            <a:ext cx="754380" cy="75438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11219688" y="2807208"/>
            <a:ext cx="640080" cy="64008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11333988" y="2921508"/>
            <a:ext cx="525780" cy="52578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11448288" y="3035808"/>
            <a:ext cx="411480" cy="41148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11562588" y="3150108"/>
            <a:ext cx="297180" cy="29718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11676888" y="3264408"/>
            <a:ext cx="182880" cy="18288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11791188" y="3378708"/>
            <a:ext cx="68580" cy="6858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3232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OUR INNOVATION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" y="786384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original here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" y="1572768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new economic method — a new way of working with one, so the analysis is fast enough to explore and transparent enough to defend.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13232" y="2286000"/>
            <a:ext cx="3401568" cy="2487168"/>
          </a:xfrm>
          <a:prstGeom prst="roundRect">
            <a:avLst>
              <a:gd name="adj" fmla="val 3676"/>
            </a:avLst>
          </a:prstGeom>
          <a:solidFill>
            <a:srgbClr val="F1F8FD"/>
          </a:solidFill>
          <a:ln w="12700">
            <a:solidFill>
              <a:srgbClr val="F1F8F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87552" y="25420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C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987552" y="2980944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not re-run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987552" y="3529584"/>
            <a:ext cx="2852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model recomputes in the browser as you type. Zero API calls in the calculation path, so sensitivity is something you feel rather than a job you queue.</a:t>
            </a:r>
            <a:endParaRPr lang="en-US" sz="1180" dirty="0"/>
          </a:p>
        </p:txBody>
      </p:sp>
      <p:sp>
        <p:nvSpPr>
          <p:cNvPr id="30" name="Shape 28"/>
          <p:cNvSpPr/>
          <p:nvPr/>
        </p:nvSpPr>
        <p:spPr>
          <a:xfrm>
            <a:off x="4389120" y="2286000"/>
            <a:ext cx="3401568" cy="2487168"/>
          </a:xfrm>
          <a:prstGeom prst="roundRect">
            <a:avLst>
              <a:gd name="adj" fmla="val 3676"/>
            </a:avLst>
          </a:prstGeom>
          <a:solidFill>
            <a:srgbClr val="F1F8FD"/>
          </a:solidFill>
          <a:ln w="12700">
            <a:solidFill>
              <a:srgbClr val="F1F8F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63440" y="25420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6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4663440" y="2980944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beside the model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4663440" y="3529584"/>
            <a:ext cx="2852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EviTrack searches PubMed, ClinicalTrials.gov, openFDA, WHO GHO and the World Bank inside the same tool, so an assumption and its source live together.</a:t>
            </a:r>
            <a:endParaRPr lang="en-US" sz="1180" dirty="0"/>
          </a:p>
        </p:txBody>
      </p:sp>
      <p:sp>
        <p:nvSpPr>
          <p:cNvPr id="34" name="Shape 32"/>
          <p:cNvSpPr/>
          <p:nvPr/>
        </p:nvSpPr>
        <p:spPr>
          <a:xfrm>
            <a:off x="8065008" y="2286000"/>
            <a:ext cx="3401568" cy="2487168"/>
          </a:xfrm>
          <a:prstGeom prst="roundRect">
            <a:avLst>
              <a:gd name="adj" fmla="val 3676"/>
            </a:avLst>
          </a:prstGeom>
          <a:solidFill>
            <a:srgbClr val="F1F8FD"/>
          </a:solidFill>
          <a:ln w="12700">
            <a:solidFill>
              <a:srgbClr val="F1F8F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339328" y="25420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3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8339328" y="2980944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by construction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8339328" y="3529584"/>
            <a:ext cx="2852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components reconcile exactly to scenario totals, and a Methodology view traces every headline figure back to the inputs that produced it.</a:t>
            </a:r>
            <a:endParaRPr lang="en-US" sz="1180" dirty="0"/>
          </a:p>
        </p:txBody>
      </p:sp>
      <p:sp>
        <p:nvSpPr>
          <p:cNvPr id="38" name="Text 36"/>
          <p:cNvSpPr txBox="1"/>
          <p:nvPr/>
        </p:nvSpPr>
        <p:spPr>
          <a:xfrm>
            <a:off x="713232" y="50840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combination is new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13232" y="5431536"/>
            <a:ext cx="10716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4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BIA tools are enterprise licences priced out of early-stage work; academic models are spreadsheets with no interface. BIET puts a live model, its evidence and its audit trail in one browser tab that runs on free infrastructure.</a:t>
            </a:r>
            <a:endParaRPr lang="en-US" sz="1240" dirty="0"/>
          </a:p>
        </p:txBody>
      </p:sp>
      <p:sp>
        <p:nvSpPr>
          <p:cNvPr id="40" name="Text 38"/>
          <p:cNvSpPr txBox="1"/>
          <p:nvPr/>
        </p:nvSpPr>
        <p:spPr>
          <a:xfrm>
            <a:off x="713232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BIET  ·  Team Denovo  ·  IBAB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1018520" y="6455664"/>
            <a:ext cx="256032" cy="0"/>
          </a:xfrm>
          <a:prstGeom prst="line">
            <a:avLst/>
          </a:prstGeom>
          <a:noFill/>
          <a:ln w="17780">
            <a:solidFill>
              <a:srgbClr val="4FC3E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1338560" y="6345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0"/>
            <a:ext cx="713232" cy="2103120"/>
          </a:xfrm>
          <a:prstGeom prst="rect">
            <a:avLst/>
          </a:prstGeom>
          <a:solidFill>
            <a:srgbClr val="4FC3E8"/>
          </a:solidFill>
          <a:ln w="12700">
            <a:solidFill>
              <a:srgbClr val="4FC3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THE SOLUTION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86384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guided flow, population to decision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572768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input tabs become a five-year payer forecast with scenarios, sensitivity and an audit trail — in a single sitting.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3232" y="2286000"/>
            <a:ext cx="1463040" cy="1024128"/>
          </a:xfrm>
          <a:prstGeom prst="roundRect">
            <a:avLst>
              <a:gd name="adj" fmla="val 7143"/>
            </a:avLst>
          </a:prstGeom>
          <a:solidFill>
            <a:srgbClr val="DCEDF8"/>
          </a:solidFill>
          <a:ln w="12700">
            <a:solidFill>
              <a:srgbClr val="DCED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24140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6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688336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Therapy</a:t>
            </a:r>
            <a:endParaRPr lang="en-US" sz="12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87245" y="2798064"/>
            <a:ext cx="83210" cy="0"/>
          </a:xfrm>
          <a:prstGeom prst="line">
            <a:avLst/>
          </a:prstGeom>
          <a:noFill/>
          <a:ln w="17780">
            <a:solidFill>
              <a:srgbClr val="9FD9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1428" y="2286000"/>
            <a:ext cx="1463040" cy="1024128"/>
          </a:xfrm>
          <a:prstGeom prst="roundRect">
            <a:avLst>
              <a:gd name="adj" fmla="val 7143"/>
            </a:avLst>
          </a:prstGeom>
          <a:solidFill>
            <a:srgbClr val="DCEDF8"/>
          </a:solidFill>
          <a:ln w="12700">
            <a:solidFill>
              <a:srgbClr val="DCED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27732" y="24140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6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427732" y="2688336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55441" y="2798064"/>
            <a:ext cx="83210" cy="0"/>
          </a:xfrm>
          <a:prstGeom prst="line">
            <a:avLst/>
          </a:prstGeom>
          <a:noFill/>
          <a:ln w="17780">
            <a:solidFill>
              <a:srgbClr val="9FD9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9624" y="2286000"/>
            <a:ext cx="1463040" cy="1024128"/>
          </a:xfrm>
          <a:prstGeom prst="roundRect">
            <a:avLst>
              <a:gd name="adj" fmla="val 7143"/>
            </a:avLst>
          </a:prstGeom>
          <a:solidFill>
            <a:srgbClr val="DCEDF8"/>
          </a:solidFill>
          <a:ln w="12700">
            <a:solidFill>
              <a:srgbClr val="DCED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95928" y="24140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6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995928" y="2688336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2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23637" y="2798064"/>
            <a:ext cx="83210" cy="0"/>
          </a:xfrm>
          <a:prstGeom prst="line">
            <a:avLst/>
          </a:prstGeom>
          <a:noFill/>
          <a:ln w="17780">
            <a:solidFill>
              <a:srgbClr val="9FD9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17820" y="2286000"/>
            <a:ext cx="1463040" cy="1024128"/>
          </a:xfrm>
          <a:prstGeom prst="roundRect">
            <a:avLst>
              <a:gd name="adj" fmla="val 7143"/>
            </a:avLst>
          </a:prstGeom>
          <a:solidFill>
            <a:srgbClr val="DCEDF8"/>
          </a:solidFill>
          <a:ln w="12700">
            <a:solidFill>
              <a:srgbClr val="DCED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64124" y="24140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6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564124" y="2688336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91833" y="2798064"/>
            <a:ext cx="83210" cy="0"/>
          </a:xfrm>
          <a:prstGeom prst="line">
            <a:avLst/>
          </a:prstGeom>
          <a:noFill/>
          <a:ln w="17780">
            <a:solidFill>
              <a:srgbClr val="9FD9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86016" y="2286000"/>
            <a:ext cx="1463040" cy="1024128"/>
          </a:xfrm>
          <a:prstGeom prst="roundRect">
            <a:avLst>
              <a:gd name="adj" fmla="val 7143"/>
            </a:avLst>
          </a:prstGeom>
          <a:solidFill>
            <a:srgbClr val="DCEDF8"/>
          </a:solidFill>
          <a:ln w="12700">
            <a:solidFill>
              <a:srgbClr val="DCED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32320" y="24140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6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2688336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Uptake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460029" y="2798064"/>
            <a:ext cx="83210" cy="0"/>
          </a:xfrm>
          <a:prstGeom prst="line">
            <a:avLst/>
          </a:prstGeom>
          <a:noFill/>
          <a:ln w="17780">
            <a:solidFill>
              <a:srgbClr val="9FD9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54212" y="2286000"/>
            <a:ext cx="1463040" cy="1024128"/>
          </a:xfrm>
          <a:prstGeom prst="roundRect">
            <a:avLst>
              <a:gd name="adj" fmla="val 7143"/>
            </a:avLst>
          </a:prstGeom>
          <a:solidFill>
            <a:srgbClr val="DCEDF8"/>
          </a:solidFill>
          <a:ln w="12700">
            <a:solidFill>
              <a:srgbClr val="DCED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700516" y="24140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6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700516" y="2688336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028225" y="2798064"/>
            <a:ext cx="83210" cy="0"/>
          </a:xfrm>
          <a:prstGeom prst="line">
            <a:avLst/>
          </a:prstGeom>
          <a:noFill/>
          <a:ln w="17780">
            <a:solidFill>
              <a:srgbClr val="9FD9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22408" y="2286000"/>
            <a:ext cx="1463040" cy="1024128"/>
          </a:xfrm>
          <a:prstGeom prst="roundRect">
            <a:avLst>
              <a:gd name="adj" fmla="val 7143"/>
            </a:avLst>
          </a:prstGeom>
          <a:solidFill>
            <a:srgbClr val="12235B"/>
          </a:solidFill>
          <a:ln w="12700">
            <a:solidFill>
              <a:srgbClr val="12235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68712" y="24140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0268712" y="2688336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" y="3401568"/>
            <a:ext cx="10716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20" i="1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runs between every edit and the result: a model that cannot produce a meaningful answer is blocked, with the reason and the field named.</a:t>
            </a:r>
            <a:endParaRPr lang="en-US" sz="1020" dirty="0"/>
          </a:p>
        </p:txBody>
      </p:sp>
      <p:sp>
        <p:nvSpPr>
          <p:cNvPr id="34" name="Text 32"/>
          <p:cNvSpPr txBox="1"/>
          <p:nvPr/>
        </p:nvSpPr>
        <p:spPr>
          <a:xfrm>
            <a:off x="713232" y="3950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713232" y="4315968"/>
            <a:ext cx="33101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5"/>
              </a:lnSpc>
              <a:spcAft>
                <a:spcPts val="600"/>
              </a:spcAft>
              <a:buSzPct val="100000"/>
              <a:buChar char="•"/>
            </a:pPr>
            <a:r>
              <a:rPr lang="en-US" sz="118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HEOR and market-access teams in pharma</a:t>
            </a:r>
            <a:endParaRPr lang="en-US" sz="1180" dirty="0"/>
          </a:p>
          <a:p>
            <a:pPr marL="177800" indent="-177800">
              <a:lnSpc>
                <a:spcPts val="1605"/>
              </a:lnSpc>
              <a:spcAft>
                <a:spcPts val="600"/>
              </a:spcAft>
              <a:buSzPct val="100000"/>
              <a:buChar char="•"/>
            </a:pPr>
            <a:r>
              <a:rPr lang="en-US" sz="118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Health-economics researchers and students</a:t>
            </a:r>
            <a:endParaRPr lang="en-US" sz="1180" dirty="0"/>
          </a:p>
          <a:p>
            <a:pPr marL="177800" indent="-177800">
              <a:lnSpc>
                <a:spcPts val="1605"/>
              </a:lnSpc>
              <a:spcAft>
                <a:spcPts val="600"/>
              </a:spcAft>
              <a:buSzPct val="100000"/>
              <a:buChar char="•"/>
            </a:pPr>
            <a:r>
              <a:rPr lang="en-US" sz="118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pricing a therapy before a formal dossier</a:t>
            </a:r>
            <a:endParaRPr lang="en-US" sz="1180" dirty="0"/>
          </a:p>
        </p:txBody>
      </p:sp>
      <p:sp>
        <p:nvSpPr>
          <p:cNvPr id="36" name="Text 34"/>
          <p:cNvSpPr txBox="1"/>
          <p:nvPr/>
        </p:nvSpPr>
        <p:spPr>
          <a:xfrm>
            <a:off x="4389120" y="3950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scenario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4389120" y="4315968"/>
            <a:ext cx="33101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5"/>
              </a:lnSpc>
              <a:spcAft>
                <a:spcPts val="600"/>
              </a:spcAft>
              <a:buSzPct val="100000"/>
              <a:buChar char="•"/>
            </a:pPr>
            <a:r>
              <a:rPr lang="en-US" sz="118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 new GLP-1 for a German statutory insurer</a:t>
            </a:r>
            <a:endParaRPr lang="en-US" sz="1180" dirty="0"/>
          </a:p>
          <a:p>
            <a:pPr marL="177800" indent="-177800">
              <a:lnSpc>
                <a:spcPts val="1605"/>
              </a:lnSpc>
              <a:spcAft>
                <a:spcPts val="600"/>
              </a:spcAft>
              <a:buSzPct val="100000"/>
              <a:buChar char="•"/>
            </a:pPr>
            <a:r>
              <a:rPr lang="en-US" sz="118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million covered lives, five-year horizon</a:t>
            </a:r>
            <a:endParaRPr lang="en-US" sz="1180" dirty="0"/>
          </a:p>
          <a:p>
            <a:pPr marL="177800" indent="-177800">
              <a:lnSpc>
                <a:spcPts val="1605"/>
              </a:lnSpc>
              <a:spcAft>
                <a:spcPts val="600"/>
              </a:spcAft>
              <a:buSzPct val="100000"/>
              <a:buChar char="•"/>
            </a:pPr>
            <a:r>
              <a:rPr lang="en-US" sz="118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against metformin, basal insulin, DPP-4</a:t>
            </a:r>
            <a:endParaRPr lang="en-US" sz="1180" dirty="0"/>
          </a:p>
        </p:txBody>
      </p:sp>
      <p:sp>
        <p:nvSpPr>
          <p:cNvPr id="38" name="Text 36"/>
          <p:cNvSpPr txBox="1"/>
          <p:nvPr/>
        </p:nvSpPr>
        <p:spPr>
          <a:xfrm>
            <a:off x="8065008" y="3950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benefit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8065008" y="4315968"/>
            <a:ext cx="33101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5"/>
              </a:lnSpc>
              <a:spcAft>
                <a:spcPts val="600"/>
              </a:spcAft>
              <a:buSzPct val="100000"/>
              <a:buChar char="•"/>
            </a:pPr>
            <a:r>
              <a:rPr lang="en-US" sz="118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— weeks of model building down to minutes</a:t>
            </a:r>
            <a:endParaRPr lang="en-US" sz="1180" dirty="0"/>
          </a:p>
          <a:p>
            <a:pPr marL="177800" indent="-177800">
              <a:lnSpc>
                <a:spcPts val="1605"/>
              </a:lnSpc>
              <a:spcAft>
                <a:spcPts val="600"/>
              </a:spcAft>
              <a:buSzPct val="100000"/>
              <a:buChar char="•"/>
            </a:pPr>
            <a:r>
              <a:rPr lang="en-US" sz="118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— validation blocks silent-zero errors</a:t>
            </a:r>
            <a:endParaRPr lang="en-US" sz="1180" dirty="0"/>
          </a:p>
          <a:p>
            <a:pPr marL="177800" indent="-177800">
              <a:lnSpc>
                <a:spcPts val="1605"/>
              </a:lnSpc>
              <a:spcAft>
                <a:spcPts val="600"/>
              </a:spcAft>
              <a:buSzPct val="100000"/>
              <a:buChar char="•"/>
            </a:pPr>
            <a:r>
              <a:rPr lang="en-US" sz="118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— cost offsets modelled, not omitted</a:t>
            </a:r>
            <a:endParaRPr lang="en-US" sz="1180" dirty="0"/>
          </a:p>
        </p:txBody>
      </p:sp>
      <p:sp>
        <p:nvSpPr>
          <p:cNvPr id="40" name="Text 38"/>
          <p:cNvSpPr txBox="1"/>
          <p:nvPr/>
        </p:nvSpPr>
        <p:spPr>
          <a:xfrm>
            <a:off x="713232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BIET  ·  Team Denovo  ·  IBAB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1018520" y="6455664"/>
            <a:ext cx="256032" cy="0"/>
          </a:xfrm>
          <a:prstGeom prst="line">
            <a:avLst/>
          </a:prstGeom>
          <a:noFill/>
          <a:ln w="17780">
            <a:solidFill>
              <a:srgbClr val="4FC3E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1338560" y="6345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457200"/>
            <a:ext cx="0" cy="914400"/>
          </a:xfrm>
          <a:prstGeom prst="line">
            <a:avLst/>
          </a:prstGeom>
          <a:noFill/>
          <a:ln w="11430">
            <a:solidFill>
              <a:srgbClr val="9FD9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04981" y="457200"/>
            <a:ext cx="0" cy="914400"/>
          </a:xfrm>
          <a:prstGeom prst="line">
            <a:avLst/>
          </a:prstGeom>
          <a:noFill/>
          <a:ln w="11430">
            <a:solidFill>
              <a:srgbClr val="9FD9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79962" y="457200"/>
            <a:ext cx="0" cy="914400"/>
          </a:xfrm>
          <a:prstGeom prst="line">
            <a:avLst/>
          </a:prstGeom>
          <a:noFill/>
          <a:ln w="11430">
            <a:solidFill>
              <a:srgbClr val="9FD9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4942" y="457200"/>
            <a:ext cx="0" cy="914400"/>
          </a:xfrm>
          <a:prstGeom prst="line">
            <a:avLst/>
          </a:prstGeom>
          <a:noFill/>
          <a:ln w="11430">
            <a:solidFill>
              <a:srgbClr val="9FD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29923" y="457200"/>
            <a:ext cx="0" cy="914400"/>
          </a:xfrm>
          <a:prstGeom prst="line">
            <a:avLst/>
          </a:prstGeom>
          <a:noFill/>
          <a:ln w="11430">
            <a:solidFill>
              <a:srgbClr val="9FD9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04904" y="457200"/>
            <a:ext cx="0" cy="914400"/>
          </a:xfrm>
          <a:prstGeom prst="line">
            <a:avLst/>
          </a:prstGeom>
          <a:noFill/>
          <a:ln w="11430">
            <a:solidFill>
              <a:srgbClr val="9FD9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79885" y="457200"/>
            <a:ext cx="0" cy="914400"/>
          </a:xfrm>
          <a:prstGeom prst="line">
            <a:avLst/>
          </a:prstGeom>
          <a:noFill/>
          <a:ln w="11430">
            <a:solidFill>
              <a:srgbClr val="9FD9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54866" y="457200"/>
            <a:ext cx="0" cy="914400"/>
          </a:xfrm>
          <a:prstGeom prst="line">
            <a:avLst/>
          </a:prstGeom>
          <a:noFill/>
          <a:ln w="11430">
            <a:solidFill>
              <a:srgbClr val="9FD9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029846" y="457200"/>
            <a:ext cx="0" cy="914400"/>
          </a:xfrm>
          <a:prstGeom prst="line">
            <a:avLst/>
          </a:prstGeom>
          <a:noFill/>
          <a:ln w="11430">
            <a:solidFill>
              <a:srgbClr val="9FD9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104827" y="457200"/>
            <a:ext cx="0" cy="914400"/>
          </a:xfrm>
          <a:prstGeom prst="line">
            <a:avLst/>
          </a:prstGeom>
          <a:noFill/>
          <a:ln w="11430">
            <a:solidFill>
              <a:srgbClr val="9FD9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THE SOLUTION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786384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number is built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1572768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currency figure traces back to one funnel: a covered population narrowed step by step to the patients who are actually treated.</a:t>
            </a:r>
            <a:endParaRPr lang="en-US" sz="1400" dirty="0"/>
          </a:p>
        </p:txBody>
      </p:sp>
      <p:pic>
        <p:nvPicPr>
          <p:cNvPr id="15" name="Image 0" descr="s-popu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231136"/>
            <a:ext cx="5943600" cy="339242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713232" y="56692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20" i="1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tab — each rate is an input; the funnel updates as you type.</a:t>
            </a:r>
            <a:endParaRPr lang="en-US" sz="1020" dirty="0"/>
          </a:p>
        </p:txBody>
      </p:sp>
      <p:sp>
        <p:nvSpPr>
          <p:cNvPr id="17" name="Text 14"/>
          <p:cNvSpPr txBox="1"/>
          <p:nvPr/>
        </p:nvSpPr>
        <p:spPr>
          <a:xfrm>
            <a:off x="6967728" y="223113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year 1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967728" y="26151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population</a:t>
            </a:r>
            <a:endParaRPr lang="en-US" sz="1180" dirty="0"/>
          </a:p>
        </p:txBody>
      </p:sp>
      <p:sp>
        <p:nvSpPr>
          <p:cNvPr id="19" name="Text 16"/>
          <p:cNvSpPr txBox="1"/>
          <p:nvPr/>
        </p:nvSpPr>
        <p:spPr>
          <a:xfrm>
            <a:off x="9601200" y="261518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0241280" y="261518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8,000,000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967728" y="30175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with type 2 diabetes</a:t>
            </a:r>
            <a:endParaRPr lang="en-US" sz="1180" dirty="0"/>
          </a:p>
        </p:txBody>
      </p:sp>
      <p:sp>
        <p:nvSpPr>
          <p:cNvPr id="22" name="Text 19"/>
          <p:cNvSpPr txBox="1"/>
          <p:nvPr/>
        </p:nvSpPr>
        <p:spPr>
          <a:xfrm>
            <a:off x="9601200" y="3017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0" y="301752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720,000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967728" y="34198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</a:t>
            </a:r>
            <a:endParaRPr lang="en-US" sz="1180" dirty="0"/>
          </a:p>
        </p:txBody>
      </p:sp>
      <p:sp>
        <p:nvSpPr>
          <p:cNvPr id="25" name="Text 22"/>
          <p:cNvSpPr txBox="1"/>
          <p:nvPr/>
        </p:nvSpPr>
        <p:spPr>
          <a:xfrm>
            <a:off x="9601200" y="341985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0" y="341985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540,000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967728" y="38221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eligible</a:t>
            </a:r>
            <a:endParaRPr lang="en-US" sz="1180" dirty="0"/>
          </a:p>
        </p:txBody>
      </p:sp>
      <p:sp>
        <p:nvSpPr>
          <p:cNvPr id="28" name="Text 25"/>
          <p:cNvSpPr txBox="1"/>
          <p:nvPr/>
        </p:nvSpPr>
        <p:spPr>
          <a:xfrm>
            <a:off x="9601200" y="38221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0" y="382219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297,000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967728" y="42245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eligible</a:t>
            </a:r>
            <a:endParaRPr lang="en-US" sz="1180" dirty="0"/>
          </a:p>
        </p:txBody>
      </p:sp>
      <p:sp>
        <p:nvSpPr>
          <p:cNvPr id="31" name="Text 28"/>
          <p:cNvSpPr txBox="1"/>
          <p:nvPr/>
        </p:nvSpPr>
        <p:spPr>
          <a:xfrm>
            <a:off x="9601200" y="42245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0" y="422452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252,450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6967728" y="46268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 access</a:t>
            </a:r>
            <a:endParaRPr lang="en-US" sz="1180" dirty="0"/>
          </a:p>
        </p:txBody>
      </p:sp>
      <p:sp>
        <p:nvSpPr>
          <p:cNvPr id="34" name="Text 31"/>
          <p:cNvSpPr txBox="1"/>
          <p:nvPr/>
        </p:nvSpPr>
        <p:spPr>
          <a:xfrm>
            <a:off x="9601200" y="46268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10241280" y="462686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227,205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903720" y="4974336"/>
            <a:ext cx="4553712" cy="384048"/>
          </a:xfrm>
          <a:prstGeom prst="roundRect">
            <a:avLst>
              <a:gd name="adj" fmla="val 11905"/>
            </a:avLst>
          </a:prstGeom>
          <a:solidFill>
            <a:srgbClr val="DCEDF8"/>
          </a:solidFill>
          <a:ln w="12700">
            <a:solidFill>
              <a:srgbClr val="DCEDF8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967728" y="50292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 to treat</a:t>
            </a:r>
            <a:endParaRPr lang="en-US" sz="1180" dirty="0"/>
          </a:p>
        </p:txBody>
      </p:sp>
      <p:sp>
        <p:nvSpPr>
          <p:cNvPr id="38" name="Text 35"/>
          <p:cNvSpPr txBox="1"/>
          <p:nvPr/>
        </p:nvSpPr>
        <p:spPr>
          <a:xfrm>
            <a:off x="9601200" y="50292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241280" y="502920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6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181,764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6967728" y="5541264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4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44-fold reduction. Prevalence and incidence are separate inputs, because a prevalence-only model understates a growing disease.</a:t>
            </a:r>
            <a:endParaRPr lang="en-US" sz="1140" dirty="0"/>
          </a:p>
        </p:txBody>
      </p:sp>
      <p:sp>
        <p:nvSpPr>
          <p:cNvPr id="41" name="Text 38"/>
          <p:cNvSpPr txBox="1"/>
          <p:nvPr/>
        </p:nvSpPr>
        <p:spPr>
          <a:xfrm>
            <a:off x="713232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BIET  ·  Team Denovo  ·  IBAB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11018520" y="6455664"/>
            <a:ext cx="256032" cy="0"/>
          </a:xfrm>
          <a:prstGeom prst="line">
            <a:avLst/>
          </a:prstGeom>
          <a:noFill/>
          <a:ln w="17780">
            <a:solidFill>
              <a:srgbClr val="4FC3E8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11338560" y="6345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TECHNICAL BUILD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786384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1664208"/>
            <a:ext cx="10844784" cy="1572768"/>
          </a:xfrm>
          <a:prstGeom prst="roundRect">
            <a:avLst>
              <a:gd name="adj" fmla="val 4651"/>
            </a:avLst>
          </a:prstGeom>
          <a:solidFill>
            <a:srgbClr val="F1F8FD"/>
          </a:solidFill>
          <a:ln w="12700">
            <a:solidFill>
              <a:srgbClr val="DCED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556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spc="110" kern="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 ·  REACT SPA — THE MODEL RUNS HERE, WITH NO NETWORK CALL</a:t>
            </a:r>
            <a:endParaRPr lang="en-US" sz="960" dirty="0"/>
          </a:p>
        </p:txBody>
      </p:sp>
      <p:sp>
        <p:nvSpPr>
          <p:cNvPr id="6" name="Shape 4"/>
          <p:cNvSpPr/>
          <p:nvPr/>
        </p:nvSpPr>
        <p:spPr>
          <a:xfrm>
            <a:off x="804672" y="1956816"/>
            <a:ext cx="2487168" cy="585216"/>
          </a:xfrm>
          <a:prstGeom prst="roundRect">
            <a:avLst>
              <a:gd name="adj" fmla="val 9375"/>
            </a:avLst>
          </a:prstGeom>
          <a:solidFill>
            <a:srgbClr val="DCEDF8"/>
          </a:solidFill>
          <a:ln w="13970">
            <a:solidFill>
              <a:srgbClr val="9FD9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04825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tabs</a:t>
            </a:r>
            <a:endParaRPr lang="en-US" sz="124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286000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guided steps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3566160" y="1956816"/>
            <a:ext cx="2487168" cy="585216"/>
          </a:xfrm>
          <a:prstGeom prst="roundRect">
            <a:avLst>
              <a:gd name="adj" fmla="val 9375"/>
            </a:avLst>
          </a:prstGeom>
          <a:solidFill>
            <a:srgbClr val="12235B"/>
          </a:solidFill>
          <a:ln w="13970">
            <a:solidFill>
              <a:srgbClr val="1223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75888" y="204825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engine</a:t>
            </a:r>
            <a:endParaRPr lang="en-US" sz="124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286000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9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biaEngine.js · 11 functions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6327648" y="1956816"/>
            <a:ext cx="2487168" cy="585216"/>
          </a:xfrm>
          <a:prstGeom prst="roundRect">
            <a:avLst>
              <a:gd name="adj" fmla="val 9375"/>
            </a:avLst>
          </a:prstGeom>
          <a:solidFill>
            <a:srgbClr val="DCEDF8"/>
          </a:solidFill>
          <a:ln w="13970">
            <a:solidFill>
              <a:srgbClr val="9FD9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37376" y="204825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40" dirty="0"/>
          </a:p>
        </p:txBody>
      </p:sp>
      <p:sp>
        <p:nvSpPr>
          <p:cNvPr id="14" name="Text 12"/>
          <p:cNvSpPr txBox="1"/>
          <p:nvPr/>
        </p:nvSpPr>
        <p:spPr>
          <a:xfrm>
            <a:off x="6419088" y="2286000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views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9089136" y="1956816"/>
            <a:ext cx="2487168" cy="585216"/>
          </a:xfrm>
          <a:prstGeom prst="roundRect">
            <a:avLst>
              <a:gd name="adj" fmla="val 9375"/>
            </a:avLst>
          </a:prstGeom>
          <a:solidFill>
            <a:srgbClr val="DCEDF8"/>
          </a:solidFill>
          <a:ln w="13970">
            <a:solidFill>
              <a:srgbClr val="9FD9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98864" y="204825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</a:t>
            </a:r>
            <a:endParaRPr lang="en-US" sz="1240" dirty="0"/>
          </a:p>
        </p:txBody>
      </p:sp>
      <p:sp>
        <p:nvSpPr>
          <p:cNvPr id="17" name="Text 15"/>
          <p:cNvSpPr txBox="1"/>
          <p:nvPr/>
        </p:nvSpPr>
        <p:spPr>
          <a:xfrm>
            <a:off x="9180576" y="2286000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Excel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3291840" y="2249424"/>
            <a:ext cx="274320" cy="0"/>
          </a:xfrm>
          <a:prstGeom prst="line">
            <a:avLst/>
          </a:prstGeom>
          <a:noFill/>
          <a:ln w="19050">
            <a:solidFill>
              <a:srgbClr val="4A63C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053328" y="2249424"/>
            <a:ext cx="274320" cy="0"/>
          </a:xfrm>
          <a:prstGeom prst="line">
            <a:avLst/>
          </a:prstGeom>
          <a:noFill/>
          <a:ln w="19050">
            <a:solidFill>
              <a:srgbClr val="4A63C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814816" y="2249424"/>
            <a:ext cx="274320" cy="0"/>
          </a:xfrm>
          <a:prstGeom prst="line">
            <a:avLst/>
          </a:prstGeom>
          <a:noFill/>
          <a:ln w="19050">
            <a:solidFill>
              <a:srgbClr val="4A63C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04672" y="2670048"/>
            <a:ext cx="2487168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3970">
            <a:solidFill>
              <a:srgbClr val="DCED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284378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sessionStorage</a:t>
            </a:r>
            <a:endParaRPr lang="en-US" sz="1240" dirty="0"/>
          </a:p>
        </p:txBody>
      </p:sp>
      <p:sp>
        <p:nvSpPr>
          <p:cNvPr id="23" name="Shape 21"/>
          <p:cNvSpPr/>
          <p:nvPr/>
        </p:nvSpPr>
        <p:spPr>
          <a:xfrm>
            <a:off x="9089136" y="2670048"/>
            <a:ext cx="2487168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3970">
            <a:solidFill>
              <a:srgbClr val="DCED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98864" y="284378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EviTrack UI</a:t>
            </a:r>
            <a:endParaRPr lang="en-US" sz="1240" dirty="0"/>
          </a:p>
        </p:txBody>
      </p:sp>
      <p:sp>
        <p:nvSpPr>
          <p:cNvPr id="25" name="Shape 23"/>
          <p:cNvSpPr/>
          <p:nvPr/>
        </p:nvSpPr>
        <p:spPr>
          <a:xfrm>
            <a:off x="713232" y="3584448"/>
            <a:ext cx="10844784" cy="1170432"/>
          </a:xfrm>
          <a:prstGeom prst="roundRect">
            <a:avLst>
              <a:gd name="adj" fmla="val 6250"/>
            </a:avLst>
          </a:prstGeom>
          <a:solidFill>
            <a:srgbClr val="F1F8FD"/>
          </a:solidFill>
          <a:ln w="12700">
            <a:solidFill>
              <a:srgbClr val="DCEDF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96112" y="36758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spc="110" kern="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WEB SERVICE  ·  EXPRESS — ONE ORIGIN, NO CALCULATION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804672" y="3895344"/>
            <a:ext cx="2487168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3970">
            <a:solidFill>
              <a:srgbClr val="DCEDF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4400" y="398678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host</a:t>
            </a:r>
            <a:endParaRPr lang="en-US" sz="1240" dirty="0"/>
          </a:p>
        </p:txBody>
      </p:sp>
      <p:sp>
        <p:nvSpPr>
          <p:cNvPr id="29" name="Text 27"/>
          <p:cNvSpPr txBox="1"/>
          <p:nvPr/>
        </p:nvSpPr>
        <p:spPr>
          <a:xfrm>
            <a:off x="896112" y="422452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the built app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3566160" y="3895344"/>
            <a:ext cx="2487168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3970">
            <a:solidFill>
              <a:srgbClr val="DCEDF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675888" y="398678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240" dirty="0"/>
          </a:p>
        </p:txBody>
      </p:sp>
      <p:sp>
        <p:nvSpPr>
          <p:cNvPr id="32" name="Text 30"/>
          <p:cNvSpPr txBox="1"/>
          <p:nvPr/>
        </p:nvSpPr>
        <p:spPr>
          <a:xfrm>
            <a:off x="3657600" y="422452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/api/model/runs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6327648" y="3895344"/>
            <a:ext cx="2487168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3970">
            <a:solidFill>
              <a:srgbClr val="DCEDF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37376" y="398678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API</a:t>
            </a:r>
            <a:endParaRPr lang="en-US" sz="1240" dirty="0"/>
          </a:p>
        </p:txBody>
      </p:sp>
      <p:sp>
        <p:nvSpPr>
          <p:cNvPr id="35" name="Text 33"/>
          <p:cNvSpPr txBox="1"/>
          <p:nvPr/>
        </p:nvSpPr>
        <p:spPr>
          <a:xfrm>
            <a:off x="6419088" y="422452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/api/v1/evitrack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9089136" y="3895344"/>
            <a:ext cx="2487168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3970">
            <a:solidFill>
              <a:srgbClr val="DCEDF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198864" y="398678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proxy</a:t>
            </a:r>
            <a:endParaRPr lang="en-US" sz="1240" dirty="0"/>
          </a:p>
        </p:txBody>
      </p:sp>
      <p:sp>
        <p:nvSpPr>
          <p:cNvPr id="38" name="Text 36"/>
          <p:cNvSpPr txBox="1"/>
          <p:nvPr/>
        </p:nvSpPr>
        <p:spPr>
          <a:xfrm>
            <a:off x="9180576" y="422452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/api/chat · /api/v1/llm</a:t>
            </a:r>
            <a:endParaRPr lang="en-US" sz="940" dirty="0"/>
          </a:p>
        </p:txBody>
      </p:sp>
      <p:sp>
        <p:nvSpPr>
          <p:cNvPr id="39" name="Shape 37"/>
          <p:cNvSpPr/>
          <p:nvPr/>
        </p:nvSpPr>
        <p:spPr>
          <a:xfrm>
            <a:off x="6190488" y="3236976"/>
            <a:ext cx="0" cy="347472"/>
          </a:xfrm>
          <a:prstGeom prst="line">
            <a:avLst/>
          </a:prstGeom>
          <a:noFill/>
          <a:ln w="19050">
            <a:solidFill>
              <a:srgbClr val="4A63C8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6318504" y="32918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· same origin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713232" y="5138928"/>
            <a:ext cx="10844784" cy="1170432"/>
          </a:xfrm>
          <a:prstGeom prst="roundRect">
            <a:avLst>
              <a:gd name="adj" fmla="val 6250"/>
            </a:avLst>
          </a:prstGeom>
          <a:solidFill>
            <a:srgbClr val="F1F8FD"/>
          </a:solidFill>
          <a:ln w="12700">
            <a:solidFill>
              <a:srgbClr val="DCEDF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96112" y="52303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spc="110" kern="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 ·  OPTIONAL STORE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3566160" y="5449824"/>
            <a:ext cx="2487168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3970">
            <a:solidFill>
              <a:srgbClr val="232C3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675888" y="554126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240" dirty="0"/>
          </a:p>
        </p:txBody>
      </p:sp>
      <p:sp>
        <p:nvSpPr>
          <p:cNvPr id="45" name="Text 43"/>
          <p:cNvSpPr txBox="1"/>
          <p:nvPr/>
        </p:nvSpPr>
        <p:spPr>
          <a:xfrm>
            <a:off x="3657600" y="577900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run history</a:t>
            </a:r>
            <a:endParaRPr lang="en-US" sz="940" dirty="0"/>
          </a:p>
        </p:txBody>
      </p:sp>
      <p:sp>
        <p:nvSpPr>
          <p:cNvPr id="46" name="Shape 44"/>
          <p:cNvSpPr/>
          <p:nvPr/>
        </p:nvSpPr>
        <p:spPr>
          <a:xfrm>
            <a:off x="6327648" y="5449824"/>
            <a:ext cx="2487168" cy="585216"/>
          </a:xfrm>
          <a:prstGeom prst="roundRect">
            <a:avLst>
              <a:gd name="adj" fmla="val 9375"/>
            </a:avLst>
          </a:prstGeom>
          <a:solidFill>
            <a:srgbClr val="E6F9EF"/>
          </a:solidFill>
          <a:ln w="13970">
            <a:solidFill>
              <a:srgbClr val="9FDCB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37376" y="554126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sources</a:t>
            </a:r>
            <a:endParaRPr lang="en-US" sz="1240" dirty="0"/>
          </a:p>
        </p:txBody>
      </p:sp>
      <p:sp>
        <p:nvSpPr>
          <p:cNvPr id="48" name="Text 46"/>
          <p:cNvSpPr txBox="1"/>
          <p:nvPr/>
        </p:nvSpPr>
        <p:spPr>
          <a:xfrm>
            <a:off x="6419088" y="577900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 · trials · FDA · WHO</a:t>
            </a:r>
            <a:endParaRPr lang="en-US" sz="940" dirty="0"/>
          </a:p>
        </p:txBody>
      </p:sp>
      <p:sp>
        <p:nvSpPr>
          <p:cNvPr id="49" name="Shape 47"/>
          <p:cNvSpPr/>
          <p:nvPr/>
        </p:nvSpPr>
        <p:spPr>
          <a:xfrm>
            <a:off x="9089136" y="5449824"/>
            <a:ext cx="2487168" cy="585216"/>
          </a:xfrm>
          <a:prstGeom prst="roundRect">
            <a:avLst>
              <a:gd name="adj" fmla="val 9375"/>
            </a:avLst>
          </a:prstGeom>
          <a:solidFill>
            <a:srgbClr val="E6F9EF"/>
          </a:solidFill>
          <a:ln w="13970">
            <a:solidFill>
              <a:srgbClr val="9FDCB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198864" y="554126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providers</a:t>
            </a:r>
            <a:endParaRPr lang="en-US" sz="1240" dirty="0"/>
          </a:p>
        </p:txBody>
      </p:sp>
      <p:sp>
        <p:nvSpPr>
          <p:cNvPr id="51" name="Text 49"/>
          <p:cNvSpPr txBox="1"/>
          <p:nvPr/>
        </p:nvSpPr>
        <p:spPr>
          <a:xfrm>
            <a:off x="9180576" y="577900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· Gemini</a:t>
            </a:r>
            <a:endParaRPr lang="en-US" sz="940" dirty="0"/>
          </a:p>
        </p:txBody>
      </p:sp>
      <p:sp>
        <p:nvSpPr>
          <p:cNvPr id="52" name="Shape 50"/>
          <p:cNvSpPr/>
          <p:nvPr/>
        </p:nvSpPr>
        <p:spPr>
          <a:xfrm>
            <a:off x="4809744" y="4480560"/>
            <a:ext cx="0" cy="969264"/>
          </a:xfrm>
          <a:prstGeom prst="line">
            <a:avLst/>
          </a:prstGeom>
          <a:noFill/>
          <a:ln w="19050">
            <a:solidFill>
              <a:srgbClr val="232C3A"/>
            </a:solidFill>
            <a:prstDash val="dash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7571232" y="4480560"/>
            <a:ext cx="0" cy="969264"/>
          </a:xfrm>
          <a:prstGeom prst="line">
            <a:avLst/>
          </a:prstGeom>
          <a:noFill/>
          <a:ln w="19050">
            <a:solidFill>
              <a:srgbClr val="4A63C8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10332720" y="4480560"/>
            <a:ext cx="0" cy="969264"/>
          </a:xfrm>
          <a:prstGeom prst="line">
            <a:avLst/>
          </a:prstGeom>
          <a:noFill/>
          <a:ln w="19050">
            <a:solidFill>
              <a:srgbClr val="4A63C8"/>
            </a:solidFill>
            <a:prstDash val="solid"/>
            <a:tailEnd type="triangle"/>
          </a:ln>
        </p:spPr>
      </p:sp>
      <p:sp>
        <p:nvSpPr>
          <p:cNvPr id="55" name="Text 53"/>
          <p:cNvSpPr txBox="1"/>
          <p:nvPr/>
        </p:nvSpPr>
        <p:spPr>
          <a:xfrm>
            <a:off x="6035040" y="614476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" i="1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= optional: with no database the app still runs.</a:t>
            </a:r>
            <a:endParaRPr lang="en-US" sz="960" dirty="0"/>
          </a:p>
        </p:txBody>
      </p:sp>
      <p:sp>
        <p:nvSpPr>
          <p:cNvPr id="56" name="Text 54"/>
          <p:cNvSpPr txBox="1"/>
          <p:nvPr/>
        </p:nvSpPr>
        <p:spPr>
          <a:xfrm>
            <a:off x="713232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BIET  ·  Team Denovo  ·  IBAB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1018520" y="6455664"/>
            <a:ext cx="256032" cy="0"/>
          </a:xfrm>
          <a:prstGeom prst="line">
            <a:avLst/>
          </a:prstGeom>
          <a:noFill/>
          <a:ln w="17780">
            <a:solidFill>
              <a:srgbClr val="4FC3E8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1338560" y="6345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35640" y="457200"/>
            <a:ext cx="114300" cy="1143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10835640" y="457200"/>
            <a:ext cx="228600" cy="2286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0835640" y="457200"/>
            <a:ext cx="342900" cy="3429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835640" y="457200"/>
            <a:ext cx="457200" cy="4572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835640" y="457200"/>
            <a:ext cx="571500" cy="5715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835640" y="457200"/>
            <a:ext cx="685800" cy="6858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835640" y="457200"/>
            <a:ext cx="800100" cy="8001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0835640" y="457200"/>
            <a:ext cx="914400" cy="9144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0835640" y="457200"/>
            <a:ext cx="1028700" cy="10287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927080" y="548640"/>
            <a:ext cx="960120" cy="96012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1041380" y="662940"/>
            <a:ext cx="845820" cy="84582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1155680" y="777240"/>
            <a:ext cx="731520" cy="73152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1269980" y="891540"/>
            <a:ext cx="617220" cy="61722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1384280" y="1005840"/>
            <a:ext cx="502920" cy="50292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11498580" y="1120140"/>
            <a:ext cx="388620" cy="38862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11612880" y="1234440"/>
            <a:ext cx="274320" cy="27432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11727180" y="1348740"/>
            <a:ext cx="160020" cy="16002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11841480" y="1463040"/>
            <a:ext cx="45720" cy="4572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TECHNICAL BUILD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" y="786384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Model, data and how we check it</a:t>
            </a:r>
            <a:endParaRPr lang="en-US" sz="3400" dirty="0"/>
          </a:p>
        </p:txBody>
      </p:sp>
      <p:sp>
        <p:nvSpPr>
          <p:cNvPr id="22" name="Shape 20"/>
          <p:cNvSpPr/>
          <p:nvPr/>
        </p:nvSpPr>
        <p:spPr>
          <a:xfrm>
            <a:off x="713232" y="1920240"/>
            <a:ext cx="3401568" cy="3566160"/>
          </a:xfrm>
          <a:prstGeom prst="roundRect">
            <a:avLst>
              <a:gd name="adj" fmla="val 2688"/>
            </a:avLst>
          </a:prstGeom>
          <a:solidFill>
            <a:srgbClr val="F1F8FD"/>
          </a:solidFill>
          <a:ln w="12700">
            <a:solidFill>
              <a:srgbClr val="F1F8F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7552" y="2176272"/>
            <a:ext cx="310896" cy="310896"/>
          </a:xfrm>
          <a:prstGeom prst="ellipse">
            <a:avLst/>
          </a:prstGeom>
          <a:solidFill>
            <a:srgbClr val="12235B"/>
          </a:solidFill>
          <a:ln w="12700">
            <a:solidFill>
              <a:srgbClr val="12235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7552" y="2176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408176" y="2212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&amp; model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" y="2670048"/>
            <a:ext cx="2852928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496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cohort projection over the horizon</a:t>
            </a:r>
            <a:endParaRPr lang="en-US" sz="1100" dirty="0"/>
          </a:p>
          <a:p>
            <a:pPr marL="177800" indent="-177800">
              <a:lnSpc>
                <a:spcPts val="1496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Adherence- and persistence-weighted treatment cost</a:t>
            </a:r>
            <a:endParaRPr lang="en-US" sz="1100" dirty="0"/>
          </a:p>
          <a:p>
            <a:pPr marL="177800" indent="-177800">
              <a:lnSpc>
                <a:spcPts val="1496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Relative-risk event offsets, damped by a regain rate</a:t>
            </a:r>
            <a:endParaRPr lang="en-US" sz="1100" dirty="0"/>
          </a:p>
          <a:p>
            <a:pPr marL="177800" indent="-177800">
              <a:lnSpc>
                <a:spcPts val="1496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for the break-even drug price</a:t>
            </a:r>
            <a:endParaRPr lang="en-US" sz="1100" dirty="0"/>
          </a:p>
          <a:p>
            <a:pPr marL="177800" indent="-177800">
              <a:lnSpc>
                <a:spcPts val="1496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tornado: 10 parameters at ±20%</a:t>
            </a:r>
            <a:endParaRPr lang="en-US" sz="1100" dirty="0"/>
          </a:p>
          <a:p>
            <a:pPr marL="177800" indent="-177800">
              <a:lnSpc>
                <a:spcPts val="1496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Undiscounted costs — ISPOR practice for BIA, not CEA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89120" y="1920240"/>
            <a:ext cx="3401568" cy="3566160"/>
          </a:xfrm>
          <a:prstGeom prst="roundRect">
            <a:avLst>
              <a:gd name="adj" fmla="val 2688"/>
            </a:avLst>
          </a:prstGeom>
          <a:solidFill>
            <a:srgbClr val="F1F8FD"/>
          </a:solidFill>
          <a:ln w="12700">
            <a:solidFill>
              <a:srgbClr val="F1F8F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2176272"/>
            <a:ext cx="310896" cy="310896"/>
          </a:xfrm>
          <a:prstGeom prst="ellipse">
            <a:avLst/>
          </a:prstGeom>
          <a:solidFill>
            <a:srgbClr val="4A63C8"/>
          </a:solidFill>
          <a:ln w="12700">
            <a:solidFill>
              <a:srgbClr val="4A63C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63440" y="2176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084064" y="2212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663440" y="2670048"/>
            <a:ext cx="2852928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496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PubMed, ClinicalTrials.gov, openFDA — evidence</a:t>
            </a:r>
            <a:endParaRPr lang="en-US" sz="1100" dirty="0"/>
          </a:p>
          <a:p>
            <a:pPr marL="177800" indent="-177800">
              <a:lnSpc>
                <a:spcPts val="1496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GHO, World Bank — epidemiology and expenditure</a:t>
            </a:r>
            <a:endParaRPr lang="en-US" sz="1100" dirty="0"/>
          </a:p>
          <a:p>
            <a:pPr marL="177800" indent="-177800">
              <a:lnSpc>
                <a:spcPts val="1496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import for a team's own parameters</a:t>
            </a:r>
            <a:endParaRPr lang="en-US" sz="1100" dirty="0"/>
          </a:p>
          <a:p>
            <a:pPr marL="177800" indent="-177800">
              <a:lnSpc>
                <a:spcPts val="1496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parameter overridable; provenance columns in schema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65008" y="1920240"/>
            <a:ext cx="3401568" cy="3566160"/>
          </a:xfrm>
          <a:prstGeom prst="roundRect">
            <a:avLst>
              <a:gd name="adj" fmla="val 2688"/>
            </a:avLst>
          </a:prstGeom>
          <a:solidFill>
            <a:srgbClr val="F1F8FD"/>
          </a:solidFill>
          <a:ln w="12700">
            <a:solidFill>
              <a:srgbClr val="F1F8F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39328" y="2176272"/>
            <a:ext cx="310896" cy="310896"/>
          </a:xfrm>
          <a:prstGeom prst="ellipse">
            <a:avLst/>
          </a:prstGeom>
          <a:solidFill>
            <a:srgbClr val="4FC3E8"/>
          </a:solidFill>
          <a:ln w="12700">
            <a:solidFill>
              <a:srgbClr val="4FC3E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39328" y="2176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759952" y="2212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approach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339328" y="2670048"/>
            <a:ext cx="2852928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496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automated tests — 14 economics, 24 validation</a:t>
            </a:r>
            <a:endParaRPr lang="en-US" sz="1100" dirty="0"/>
          </a:p>
          <a:p>
            <a:pPr marL="177800" indent="-177800">
              <a:lnSpc>
                <a:spcPts val="1496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pinned to hand-calculable cases, not snapshots</a:t>
            </a:r>
            <a:endParaRPr lang="en-US" sz="1100" dirty="0"/>
          </a:p>
          <a:p>
            <a:pPr marL="177800" indent="-177800">
              <a:lnSpc>
                <a:spcPts val="1496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components reconcile exactly to scenario totals</a:t>
            </a:r>
            <a:endParaRPr lang="en-US" sz="1100" dirty="0"/>
          </a:p>
          <a:p>
            <a:pPr marL="177800" indent="-177800">
              <a:lnSpc>
                <a:spcPts val="1496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re-solves to a net impact of zero</a:t>
            </a:r>
            <a:endParaRPr lang="en-US" sz="1100" dirty="0"/>
          </a:p>
          <a:p>
            <a:pPr marL="177800" indent="-177800">
              <a:lnSpc>
                <a:spcPts val="1496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invalid inputs probed: 12 blocked, 10 flagged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13232" y="5632704"/>
            <a:ext cx="10716768" cy="676656"/>
          </a:xfrm>
          <a:prstGeom prst="roundRect">
            <a:avLst>
              <a:gd name="adj" fmla="val 10811"/>
            </a:avLst>
          </a:prstGeom>
          <a:solidFill>
            <a:srgbClr val="12235B"/>
          </a:solidFill>
          <a:ln w="12700">
            <a:solidFill>
              <a:srgbClr val="12235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87552" y="5760720"/>
            <a:ext cx="10186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spc="110" kern="0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ISPOR BIA GOOD PRACTICE</a:t>
            </a:r>
            <a:endParaRPr lang="en-US" sz="960" dirty="0"/>
          </a:p>
        </p:txBody>
      </p:sp>
      <p:sp>
        <p:nvSpPr>
          <p:cNvPr id="39" name="Text 37"/>
          <p:cNvSpPr txBox="1"/>
          <p:nvPr/>
        </p:nvSpPr>
        <p:spPr>
          <a:xfrm>
            <a:off x="987552" y="5998464"/>
            <a:ext cx="10186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Budget-holder perspective  ·  3–5 year horizon  ·  current vs new treatment mix  ·  undiscounted costs  ·  total and PMPM reporting  ·  scenario analysis</a:t>
            </a:r>
            <a:endParaRPr lang="en-US" sz="1020" dirty="0"/>
          </a:p>
        </p:txBody>
      </p:sp>
      <p:sp>
        <p:nvSpPr>
          <p:cNvPr id="40" name="Text 38"/>
          <p:cNvSpPr txBox="1"/>
          <p:nvPr/>
        </p:nvSpPr>
        <p:spPr>
          <a:xfrm>
            <a:off x="713232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BIET  ·  Team Denovo  ·  IBAB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1018520" y="6455664"/>
            <a:ext cx="256032" cy="0"/>
          </a:xfrm>
          <a:prstGeom prst="line">
            <a:avLst/>
          </a:prstGeom>
          <a:noFill/>
          <a:ln w="17780">
            <a:solidFill>
              <a:srgbClr val="4FC3E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1338560" y="6345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RESULTS &amp; EVIDENCE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786384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tool returns</a:t>
            </a:r>
            <a:endParaRPr lang="en-US" sz="3400" dirty="0"/>
          </a:p>
        </p:txBody>
      </p:sp>
      <p:pic>
        <p:nvPicPr>
          <p:cNvPr id="4" name="Image 0" descr="s-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00784"/>
            <a:ext cx="6492240" cy="37124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13232" y="546811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20" i="1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output — Drug X, a GLP-1, in Germany. Demonstration values, not real product data.</a:t>
            </a:r>
            <a:endParaRPr lang="en-US" sz="1020" dirty="0"/>
          </a:p>
        </p:txBody>
      </p:sp>
      <p:sp>
        <p:nvSpPr>
          <p:cNvPr id="6" name="Shape 3"/>
          <p:cNvSpPr/>
          <p:nvPr/>
        </p:nvSpPr>
        <p:spPr>
          <a:xfrm>
            <a:off x="7498080" y="1700784"/>
            <a:ext cx="1874520" cy="1060704"/>
          </a:xfrm>
          <a:prstGeom prst="roundRect">
            <a:avLst>
              <a:gd name="adj" fmla="val 6897"/>
            </a:avLst>
          </a:prstGeom>
          <a:solidFill>
            <a:srgbClr val="F1F8FD"/>
          </a:solidFill>
          <a:ln w="12700">
            <a:solidFill>
              <a:srgbClr val="F1F8F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44384" y="182880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2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€296.6M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7644384" y="226771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budget impact, 5 years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9509760" y="1700784"/>
            <a:ext cx="1874520" cy="1060704"/>
          </a:xfrm>
          <a:prstGeom prst="roundRect">
            <a:avLst>
              <a:gd name="adj" fmla="val 6897"/>
            </a:avLst>
          </a:prstGeom>
          <a:solidFill>
            <a:srgbClr val="DCEDF8"/>
          </a:solidFill>
          <a:ln w="12700">
            <a:solidFill>
              <a:srgbClr val="DCED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656064" y="182880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A6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€0.13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9656064" y="226771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member per month, year 1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7498080" y="2926080"/>
            <a:ext cx="1874520" cy="1060704"/>
          </a:xfrm>
          <a:prstGeom prst="roundRect">
            <a:avLst>
              <a:gd name="adj" fmla="val 6897"/>
            </a:avLst>
          </a:prstGeom>
          <a:solidFill>
            <a:srgbClr val="F1F8FD"/>
          </a:solidFill>
          <a:ln w="12700">
            <a:solidFill>
              <a:srgbClr val="F1F8F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644384" y="3054096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2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67,083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7644384" y="349300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treated at peak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9509760" y="2926080"/>
            <a:ext cx="1874520" cy="1060704"/>
          </a:xfrm>
          <a:prstGeom prst="roundRect">
            <a:avLst>
              <a:gd name="adj" fmla="val 6897"/>
            </a:avLst>
          </a:prstGeom>
          <a:solidFill>
            <a:srgbClr val="F1F8FD"/>
          </a:solidFill>
          <a:ln w="12700">
            <a:solidFill>
              <a:srgbClr val="F1F8F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656064" y="3054096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2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€613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9656064" y="349300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annual price</a:t>
            </a:r>
            <a:endParaRPr lang="en-US" sz="980" dirty="0"/>
          </a:p>
        </p:txBody>
      </p:sp>
      <p:sp>
        <p:nvSpPr>
          <p:cNvPr id="18" name="Text 15"/>
          <p:cNvSpPr txBox="1"/>
          <p:nvPr/>
        </p:nvSpPr>
        <p:spPr>
          <a:xfrm>
            <a:off x="7498080" y="42245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walkthrough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498080" y="457200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7936992" y="45720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8,000,000 lives · 9% prevalence · 4→28% uptake · €3,200 drug</a:t>
            </a:r>
            <a:endParaRPr lang="en-US" sz="1080" dirty="0"/>
          </a:p>
        </p:txBody>
      </p:sp>
      <p:sp>
        <p:nvSpPr>
          <p:cNvPr id="21" name="Text 18"/>
          <p:cNvSpPr txBox="1"/>
          <p:nvPr/>
        </p:nvSpPr>
        <p:spPr>
          <a:xfrm>
            <a:off x="7498080" y="51023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6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7936992" y="5102352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181,764 eligible → 67,083 treated → €296.6M = €0.13 PMPM · 2,480 events avoided</a:t>
            </a:r>
            <a:endParaRPr lang="en-US" sz="1080" dirty="0"/>
          </a:p>
        </p:txBody>
      </p:sp>
      <p:sp>
        <p:nvSpPr>
          <p:cNvPr id="23" name="Text 20"/>
          <p:cNvSpPr txBox="1"/>
          <p:nvPr/>
        </p:nvSpPr>
        <p:spPr>
          <a:xfrm>
            <a:off x="713232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BIET  ·  Team Denovo  ·  IBAB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11018520" y="6455664"/>
            <a:ext cx="256032" cy="0"/>
          </a:xfrm>
          <a:prstGeom prst="line">
            <a:avLst/>
          </a:prstGeom>
          <a:noFill/>
          <a:ln w="17780">
            <a:solidFill>
              <a:srgbClr val="4FC3E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1338560" y="6345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RESULTS &amp; EVIDENCE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786384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hold up when pushed?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572768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that returns a confident wrong number is worse than one that refuses. We check the arithmetic against a case anyone can verify by hand.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3232" y="2249424"/>
            <a:ext cx="5257800" cy="2395728"/>
          </a:xfrm>
          <a:prstGeom prst="roundRect">
            <a:avLst>
              <a:gd name="adj" fmla="val 3817"/>
            </a:avLst>
          </a:prstGeom>
          <a:solidFill>
            <a:srgbClr val="F1F8FD"/>
          </a:solidFill>
          <a:ln w="12700">
            <a:solidFill>
              <a:srgbClr val="F1F8F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239572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spc="110" kern="0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AGAINST A REFERENCE CASE</a:t>
            </a:r>
            <a:endParaRPr lang="en-US" sz="96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270662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lives</a:t>
            </a:r>
            <a:endParaRPr lang="en-US" sz="114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270662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4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1,000,000</a:t>
            </a:r>
            <a:endParaRPr lang="en-US" sz="1140" dirty="0"/>
          </a:p>
        </p:txBody>
      </p:sp>
      <p:sp>
        <p:nvSpPr>
          <p:cNvPr id="9" name="Text 7"/>
          <p:cNvSpPr txBox="1"/>
          <p:nvPr/>
        </p:nvSpPr>
        <p:spPr>
          <a:xfrm>
            <a:off x="950976" y="299923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prevalence 10%</a:t>
            </a:r>
            <a:endParaRPr lang="en-US" sz="114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29992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4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1140" dirty="0"/>
          </a:p>
        </p:txBody>
      </p:sp>
      <p:sp>
        <p:nvSpPr>
          <p:cNvPr id="11" name="Text 9"/>
          <p:cNvSpPr txBox="1"/>
          <p:nvPr/>
        </p:nvSpPr>
        <p:spPr>
          <a:xfrm>
            <a:off x="950976" y="329184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diagnosed 50%</a:t>
            </a:r>
            <a:endParaRPr lang="en-US" sz="114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32918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4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eligible</a:t>
            </a:r>
            <a:endParaRPr lang="en-US" sz="1140" dirty="0"/>
          </a:p>
        </p:txBody>
      </p:sp>
      <p:sp>
        <p:nvSpPr>
          <p:cNvPr id="13" name="Text 11"/>
          <p:cNvSpPr txBox="1"/>
          <p:nvPr/>
        </p:nvSpPr>
        <p:spPr>
          <a:xfrm>
            <a:off x="950976" y="358444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uptake 100%, 1 year</a:t>
            </a:r>
            <a:endParaRPr lang="en-US" sz="114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35844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4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treated</a:t>
            </a:r>
            <a:endParaRPr lang="en-US" sz="1140" dirty="0"/>
          </a:p>
        </p:txBody>
      </p:sp>
      <p:sp>
        <p:nvSpPr>
          <p:cNvPr id="15" name="Text 13"/>
          <p:cNvSpPr txBox="1"/>
          <p:nvPr/>
        </p:nvSpPr>
        <p:spPr>
          <a:xfrm>
            <a:off x="950976" y="387705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new drug ₹100/yr</a:t>
            </a:r>
            <a:endParaRPr lang="en-US" sz="114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387705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4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₹5,000,000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950976" y="4224528"/>
            <a:ext cx="4809744" cy="0"/>
          </a:xfrm>
          <a:prstGeom prst="line">
            <a:avLst/>
          </a:prstGeom>
          <a:noFill/>
          <a:ln w="15240">
            <a:solidFill>
              <a:srgbClr val="9FD9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50976" y="43159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returns</a:t>
            </a:r>
            <a:endParaRPr lang="en-US" sz="118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43159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60" b="1" dirty="0">
                <a:solidFill>
                  <a:srgbClr val="0B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₹5,000,000  ✓</a:t>
            </a:r>
            <a:endParaRPr lang="en-US" sz="1260" dirty="0"/>
          </a:p>
        </p:txBody>
      </p:sp>
      <p:pic>
        <p:nvPicPr>
          <p:cNvPr id="20" name="Image 0" descr="s-sensi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249424"/>
            <a:ext cx="5120640" cy="292608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6309360" y="524865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20" i="1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— each parameter moved ±20% alone, sorted by how far the answer swings.</a:t>
            </a:r>
            <a:endParaRPr lang="en-US" sz="1020" dirty="0"/>
          </a:p>
        </p:txBody>
      </p:sp>
      <p:sp>
        <p:nvSpPr>
          <p:cNvPr id="22" name="Text 19"/>
          <p:cNvSpPr txBox="1"/>
          <p:nvPr/>
        </p:nvSpPr>
        <p:spPr>
          <a:xfrm>
            <a:off x="713232" y="484632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to changing assumptions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13232" y="5175504"/>
            <a:ext cx="5257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23"/>
              </a:lnSpc>
              <a:spcAft>
                <a:spcPts val="600"/>
              </a:spcAft>
              <a:buSzPct val="100000"/>
              <a:buChar char="•"/>
            </a:pPr>
            <a:r>
              <a:rPr lang="en-US" sz="112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invalid inputs probed — 12 blocked, 10 flagged, none produce NaN</a:t>
            </a:r>
            <a:endParaRPr lang="en-US" sz="1120" dirty="0"/>
          </a:p>
          <a:p>
            <a:pPr marL="177800" indent="-177800">
              <a:lnSpc>
                <a:spcPts val="1523"/>
              </a:lnSpc>
              <a:spcAft>
                <a:spcPts val="600"/>
              </a:spcAft>
              <a:buSzPct val="100000"/>
              <a:buChar char="•"/>
            </a:pPr>
            <a:r>
              <a:rPr lang="en-US" sz="112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components reconcile exactly to scenario totals</a:t>
            </a:r>
            <a:endParaRPr lang="en-US" sz="1120" dirty="0"/>
          </a:p>
          <a:p>
            <a:pPr marL="177800" indent="-177800">
              <a:lnSpc>
                <a:spcPts val="1523"/>
              </a:lnSpc>
              <a:spcAft>
                <a:spcPts val="600"/>
              </a:spcAft>
              <a:buSzPct val="100000"/>
              <a:buChar char="•"/>
            </a:pPr>
            <a:r>
              <a:rPr lang="en-US" sz="112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price re-solves to a net impact of zero</a:t>
            </a:r>
            <a:endParaRPr lang="en-US" sz="1120" dirty="0"/>
          </a:p>
        </p:txBody>
      </p:sp>
      <p:sp>
        <p:nvSpPr>
          <p:cNvPr id="24" name="Shape 21"/>
          <p:cNvSpPr/>
          <p:nvPr/>
        </p:nvSpPr>
        <p:spPr>
          <a:xfrm>
            <a:off x="6309360" y="5687568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12235B"/>
          </a:solidFill>
          <a:ln w="12700">
            <a:solidFill>
              <a:srgbClr val="12235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10528" y="5760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C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&lt;100ms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510528" y="60167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FC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recalculation</a:t>
            </a:r>
            <a:endParaRPr lang="en-US" sz="960" dirty="0"/>
          </a:p>
        </p:txBody>
      </p:sp>
      <p:sp>
        <p:nvSpPr>
          <p:cNvPr id="27" name="Text 24"/>
          <p:cNvSpPr txBox="1"/>
          <p:nvPr/>
        </p:nvSpPr>
        <p:spPr>
          <a:xfrm>
            <a:off x="8202168" y="5760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C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8202168" y="60167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FC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960" dirty="0"/>
          </a:p>
        </p:txBody>
      </p:sp>
      <p:sp>
        <p:nvSpPr>
          <p:cNvPr id="29" name="Text 26"/>
          <p:cNvSpPr txBox="1"/>
          <p:nvPr/>
        </p:nvSpPr>
        <p:spPr>
          <a:xfrm>
            <a:off x="9893808" y="5760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C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9893808" y="60167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FC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calls</a:t>
            </a:r>
            <a:endParaRPr lang="en-US" sz="960" dirty="0"/>
          </a:p>
        </p:txBody>
      </p:sp>
      <p:sp>
        <p:nvSpPr>
          <p:cNvPr id="31" name="Text 28"/>
          <p:cNvSpPr txBox="1"/>
          <p:nvPr/>
        </p:nvSpPr>
        <p:spPr>
          <a:xfrm>
            <a:off x="713232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BIET  ·  Team Denovo  ·  IBAB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11018520" y="6455664"/>
            <a:ext cx="256032" cy="0"/>
          </a:xfrm>
          <a:prstGeom prst="line">
            <a:avLst/>
          </a:prstGeom>
          <a:noFill/>
          <a:ln w="17780">
            <a:solidFill>
              <a:srgbClr val="4FC3E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338560" y="6345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RESULTS &amp; EVIDENCE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786384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assumptions come from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572768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usual challenge to any model is “where did that number come from?” EviTrack is our answer, inside the same tool.</a:t>
            </a:r>
            <a:endParaRPr lang="en-US" sz="1400" dirty="0"/>
          </a:p>
        </p:txBody>
      </p:sp>
      <p:pic>
        <p:nvPicPr>
          <p:cNvPr id="5" name="Image 0" descr="s-evitr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249424"/>
            <a:ext cx="6675120" cy="3813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224942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public sources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726680" y="2697480"/>
            <a:ext cx="128016" cy="128016"/>
          </a:xfrm>
          <a:prstGeom prst="ellipse">
            <a:avLst/>
          </a:prstGeom>
          <a:solidFill>
            <a:srgbClr val="4FC3E8"/>
          </a:solidFill>
          <a:ln w="12700">
            <a:solidFill>
              <a:srgbClr val="4FC3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265176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</a:t>
            </a:r>
            <a:endParaRPr lang="en-US" sz="122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287121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literature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7726680" y="3264408"/>
            <a:ext cx="128016" cy="128016"/>
          </a:xfrm>
          <a:prstGeom prst="ellipse">
            <a:avLst/>
          </a:prstGeom>
          <a:solidFill>
            <a:srgbClr val="4FC3E8"/>
          </a:solidFill>
          <a:ln w="12700">
            <a:solidFill>
              <a:srgbClr val="4FC3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21868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ClinicalTrials.gov</a:t>
            </a:r>
            <a:endParaRPr lang="en-US" sz="122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3814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registrations &amp; results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7726680" y="3831336"/>
            <a:ext cx="128016" cy="128016"/>
          </a:xfrm>
          <a:prstGeom prst="ellipse">
            <a:avLst/>
          </a:prstGeom>
          <a:solidFill>
            <a:srgbClr val="4FC3E8"/>
          </a:solidFill>
          <a:ln w="12700">
            <a:solidFill>
              <a:srgbClr val="4FC3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378561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openFDA</a:t>
            </a:r>
            <a:endParaRPr lang="en-US" sz="122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400507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and adverse-event data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7726680" y="4398264"/>
            <a:ext cx="128016" cy="128016"/>
          </a:xfrm>
          <a:prstGeom prst="ellipse">
            <a:avLst/>
          </a:prstGeom>
          <a:solidFill>
            <a:srgbClr val="4FC3E8"/>
          </a:solidFill>
          <a:ln w="12700">
            <a:solidFill>
              <a:srgbClr val="4FC3E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01000" y="435254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GHO</a:t>
            </a:r>
            <a:endParaRPr lang="en-US" sz="1220" dirty="0"/>
          </a:p>
        </p:txBody>
      </p:sp>
      <p:sp>
        <p:nvSpPr>
          <p:cNvPr id="18" name="Text 15"/>
          <p:cNvSpPr txBox="1"/>
          <p:nvPr/>
        </p:nvSpPr>
        <p:spPr>
          <a:xfrm>
            <a:off x="8001000" y="457200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epidemiology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7726680" y="4965192"/>
            <a:ext cx="128016" cy="128016"/>
          </a:xfrm>
          <a:prstGeom prst="ellipse">
            <a:avLst/>
          </a:prstGeom>
          <a:solidFill>
            <a:srgbClr val="4FC3E8"/>
          </a:solidFill>
          <a:ln w="12700">
            <a:solidFill>
              <a:srgbClr val="4FC3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001000" y="491947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</a:t>
            </a:r>
            <a:endParaRPr lang="en-US" sz="1220" dirty="0"/>
          </a:p>
        </p:txBody>
      </p:sp>
      <p:sp>
        <p:nvSpPr>
          <p:cNvPr id="21" name="Text 18"/>
          <p:cNvSpPr txBox="1"/>
          <p:nvPr/>
        </p:nvSpPr>
        <p:spPr>
          <a:xfrm>
            <a:off x="8001000" y="513892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&amp; health expenditure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7726680" y="5541264"/>
            <a:ext cx="3703320" cy="585216"/>
          </a:xfrm>
          <a:prstGeom prst="roundRect">
            <a:avLst>
              <a:gd name="adj" fmla="val 12500"/>
            </a:avLst>
          </a:prstGeom>
          <a:solidFill>
            <a:srgbClr val="DCEDF8"/>
          </a:solidFill>
          <a:ln w="12700">
            <a:solidFill>
              <a:srgbClr val="DCEDF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936992" y="565099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60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summaries are constrained to the retrieved text and cannot alter any model input.</a:t>
            </a:r>
            <a:endParaRPr lang="en-US" sz="1060" dirty="0"/>
          </a:p>
        </p:txBody>
      </p:sp>
      <p:sp>
        <p:nvSpPr>
          <p:cNvPr id="24" name="Text 21"/>
          <p:cNvSpPr txBox="1"/>
          <p:nvPr/>
        </p:nvSpPr>
        <p:spPr>
          <a:xfrm>
            <a:off x="713232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BIET  ·  Team Denovo  ·  IBAB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11018520" y="6455664"/>
            <a:ext cx="256032" cy="0"/>
          </a:xfrm>
          <a:prstGeom prst="line">
            <a:avLst/>
          </a:prstGeom>
          <a:noFill/>
          <a:ln w="17780">
            <a:solidFill>
              <a:srgbClr val="4FC3E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338560" y="6345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5029200"/>
            <a:ext cx="0" cy="914400"/>
          </a:xfrm>
          <a:prstGeom prst="line">
            <a:avLst/>
          </a:prstGeom>
          <a:noFill/>
          <a:ln w="11430">
            <a:solidFill>
              <a:srgbClr val="9FD9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50701" y="5029200"/>
            <a:ext cx="0" cy="914400"/>
          </a:xfrm>
          <a:prstGeom prst="line">
            <a:avLst/>
          </a:prstGeom>
          <a:noFill/>
          <a:ln w="11430">
            <a:solidFill>
              <a:srgbClr val="9FD9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25682" y="5029200"/>
            <a:ext cx="0" cy="914400"/>
          </a:xfrm>
          <a:prstGeom prst="line">
            <a:avLst/>
          </a:prstGeom>
          <a:noFill/>
          <a:ln w="11430">
            <a:solidFill>
              <a:srgbClr val="9FD9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00662" y="5029200"/>
            <a:ext cx="0" cy="914400"/>
          </a:xfrm>
          <a:prstGeom prst="line">
            <a:avLst/>
          </a:prstGeom>
          <a:noFill/>
          <a:ln w="11430">
            <a:solidFill>
              <a:srgbClr val="9FD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75643" y="5029200"/>
            <a:ext cx="0" cy="914400"/>
          </a:xfrm>
          <a:prstGeom prst="line">
            <a:avLst/>
          </a:prstGeom>
          <a:noFill/>
          <a:ln w="11430">
            <a:solidFill>
              <a:srgbClr val="9FD9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50624" y="5029200"/>
            <a:ext cx="0" cy="914400"/>
          </a:xfrm>
          <a:prstGeom prst="line">
            <a:avLst/>
          </a:prstGeom>
          <a:noFill/>
          <a:ln w="11430">
            <a:solidFill>
              <a:srgbClr val="9FD9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25605" y="5029200"/>
            <a:ext cx="0" cy="914400"/>
          </a:xfrm>
          <a:prstGeom prst="line">
            <a:avLst/>
          </a:prstGeom>
          <a:noFill/>
          <a:ln w="11430">
            <a:solidFill>
              <a:srgbClr val="9FD9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00586" y="5029200"/>
            <a:ext cx="0" cy="914400"/>
          </a:xfrm>
          <a:prstGeom prst="line">
            <a:avLst/>
          </a:prstGeom>
          <a:noFill/>
          <a:ln w="11430">
            <a:solidFill>
              <a:srgbClr val="9FD9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075566" y="5029200"/>
            <a:ext cx="0" cy="914400"/>
          </a:xfrm>
          <a:prstGeom prst="line">
            <a:avLst/>
          </a:prstGeom>
          <a:noFill/>
          <a:ln w="11430">
            <a:solidFill>
              <a:srgbClr val="9FD9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WHERE IT STANDS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786384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work — what is actually done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1572768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honestly, so a reviewer does not have to find the edges themselves.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2286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today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13232" y="2615184"/>
            <a:ext cx="3310128" cy="0"/>
          </a:xfrm>
          <a:prstGeom prst="line">
            <a:avLst/>
          </a:prstGeom>
          <a:noFill/>
          <a:ln w="20320">
            <a:solidFill>
              <a:srgbClr val="4FC3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2761488"/>
            <a:ext cx="33101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50"/>
              </a:lnSpc>
              <a:spcAft>
                <a:spcPts val="600"/>
              </a:spcAft>
              <a:buSzPct val="100000"/>
              <a:buChar char="•"/>
            </a:pPr>
            <a:r>
              <a:rPr lang="en-US" sz="114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diseases with subgroups (obesity, T2D, MASH)</a:t>
            </a:r>
            <a:endParaRPr lang="en-US" sz="1140" dirty="0"/>
          </a:p>
          <a:p>
            <a:pPr marL="177800" indent="-177800">
              <a:lnSpc>
                <a:spcPts val="1550"/>
              </a:lnSpc>
              <a:spcAft>
                <a:spcPts val="600"/>
              </a:spcAft>
              <a:buSzPct val="100000"/>
              <a:buChar char="•"/>
            </a:pPr>
            <a:r>
              <a:rPr lang="en-US" sz="114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Comparators added or removed as whole columns</a:t>
            </a:r>
            <a:endParaRPr lang="en-US" sz="1140" dirty="0"/>
          </a:p>
          <a:p>
            <a:pPr marL="177800" indent="-177800">
              <a:lnSpc>
                <a:spcPts val="1550"/>
              </a:lnSpc>
              <a:spcAft>
                <a:spcPts val="600"/>
              </a:spcAft>
              <a:buSzPct val="100000"/>
              <a:buChar char="•"/>
            </a:pPr>
            <a:r>
              <a:rPr lang="en-US" sz="114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result views incl. tornado and audit trail</a:t>
            </a:r>
            <a:endParaRPr lang="en-US" sz="1140" dirty="0"/>
          </a:p>
          <a:p>
            <a:pPr marL="177800" indent="-177800">
              <a:lnSpc>
                <a:spcPts val="1550"/>
              </a:lnSpc>
              <a:spcAft>
                <a:spcPts val="600"/>
              </a:spcAft>
              <a:buSzPct val="100000"/>
              <a:buChar char="•"/>
            </a:pPr>
            <a:r>
              <a:rPr lang="en-US" sz="114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and 6-sheet Excel export, in-browser</a:t>
            </a:r>
            <a:endParaRPr lang="en-US" sz="1140" dirty="0"/>
          </a:p>
          <a:p>
            <a:pPr marL="177800" indent="-177800">
              <a:lnSpc>
                <a:spcPts val="1550"/>
              </a:lnSpc>
              <a:spcAft>
                <a:spcPts val="600"/>
              </a:spcAft>
              <a:buSzPct val="100000"/>
              <a:buChar char="•"/>
            </a:pPr>
            <a:r>
              <a:rPr lang="en-US" sz="114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EviTrack search across 5 public sources</a:t>
            </a:r>
            <a:endParaRPr lang="en-US" sz="1140" dirty="0"/>
          </a:p>
          <a:p>
            <a:pPr marL="177800" indent="-177800">
              <a:lnSpc>
                <a:spcPts val="1550"/>
              </a:lnSpc>
              <a:spcAft>
                <a:spcPts val="600"/>
              </a:spcAft>
              <a:buSzPct val="100000"/>
              <a:buChar char="•"/>
            </a:pPr>
            <a:r>
              <a:rPr lang="en-US" sz="114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history — compare two models side by side</a:t>
            </a:r>
            <a:endParaRPr lang="en-US" sz="1140" dirty="0"/>
          </a:p>
          <a:p>
            <a:pPr marL="177800" indent="-177800">
              <a:lnSpc>
                <a:spcPts val="1550"/>
              </a:lnSpc>
              <a:spcAft>
                <a:spcPts val="600"/>
              </a:spcAft>
              <a:buSzPct val="100000"/>
              <a:buChar char="•"/>
            </a:pPr>
            <a:r>
              <a:rPr lang="en-US" sz="114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and publicly reachable on Render</a:t>
            </a:r>
            <a:endParaRPr lang="en-US" sz="114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2286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6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but not proven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89120" y="2615184"/>
            <a:ext cx="3310128" cy="0"/>
          </a:xfrm>
          <a:prstGeom prst="line">
            <a:avLst/>
          </a:prstGeom>
          <a:noFill/>
          <a:ln w="20320">
            <a:solidFill>
              <a:srgbClr val="4A63C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89120" y="2761488"/>
            <a:ext cx="33101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50"/>
              </a:lnSpc>
              <a:spcAft>
                <a:spcPts val="600"/>
              </a:spcAft>
              <a:buSzPct val="100000"/>
              <a:buChar char="•"/>
            </a:pPr>
            <a:r>
              <a:rPr lang="en-US" sz="114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provenance schema — 14 tables exist, UI not wired</a:t>
            </a:r>
            <a:endParaRPr lang="en-US" sz="1140" dirty="0"/>
          </a:p>
          <a:p>
            <a:pPr marL="177800" indent="-177800">
              <a:lnSpc>
                <a:spcPts val="1550"/>
              </a:lnSpc>
              <a:spcAft>
                <a:spcPts val="600"/>
              </a:spcAft>
              <a:buSzPct val="100000"/>
              <a:buChar char="•"/>
            </a:pPr>
            <a:r>
              <a:rPr lang="en-US" sz="114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Public-data sync — implemented, off by default on free hosting</a:t>
            </a:r>
            <a:endParaRPr lang="en-US" sz="1140" dirty="0"/>
          </a:p>
          <a:p>
            <a:pPr marL="177800" indent="-177800">
              <a:lnSpc>
                <a:spcPts val="1550"/>
              </a:lnSpc>
              <a:spcAft>
                <a:spcPts val="600"/>
              </a:spcAft>
              <a:buSzPct val="100000"/>
              <a:buChar char="•"/>
            </a:pPr>
            <a:r>
              <a:rPr lang="en-US" sz="114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— works with a key, local answers without one</a:t>
            </a:r>
            <a:endParaRPr lang="en-US" sz="1140" dirty="0"/>
          </a:p>
        </p:txBody>
      </p:sp>
      <p:sp>
        <p:nvSpPr>
          <p:cNvPr id="20" name="Text 18"/>
          <p:cNvSpPr txBox="1"/>
          <p:nvPr/>
        </p:nvSpPr>
        <p:spPr>
          <a:xfrm>
            <a:off x="8065008" y="2286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limits &amp; data gaps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65008" y="2615184"/>
            <a:ext cx="3310128" cy="0"/>
          </a:xfrm>
          <a:prstGeom prst="line">
            <a:avLst/>
          </a:prstGeom>
          <a:noFill/>
          <a:ln w="20320">
            <a:solidFill>
              <a:srgbClr val="DCED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65008" y="2761488"/>
            <a:ext cx="33101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50"/>
              </a:lnSpc>
              <a:spcAft>
                <a:spcPts val="600"/>
              </a:spcAft>
              <a:buSzPct val="100000"/>
              <a:buChar char="•"/>
            </a:pPr>
            <a:r>
              <a:rPr lang="en-US" sz="114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country per model — no multi-market roll-up yet</a:t>
            </a:r>
            <a:endParaRPr lang="en-US" sz="1140" dirty="0"/>
          </a:p>
          <a:p>
            <a:pPr marL="177800" indent="-177800">
              <a:lnSpc>
                <a:spcPts val="1550"/>
              </a:lnSpc>
              <a:spcAft>
                <a:spcPts val="600"/>
              </a:spcAft>
              <a:buSzPct val="100000"/>
              <a:buChar char="•"/>
            </a:pPr>
            <a:r>
              <a:rPr lang="en-US" sz="114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Subgroups inherit parent parameters rather than their own</a:t>
            </a:r>
            <a:endParaRPr lang="en-US" sz="1140" dirty="0"/>
          </a:p>
          <a:p>
            <a:pPr marL="177800" indent="-177800">
              <a:lnSpc>
                <a:spcPts val="1550"/>
              </a:lnSpc>
              <a:spcAft>
                <a:spcPts val="600"/>
              </a:spcAft>
              <a:buSzPct val="100000"/>
              <a:buChar char="•"/>
            </a:pPr>
            <a:r>
              <a:rPr lang="en-US" sz="114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redistributes proportionally, not by displacement</a:t>
            </a:r>
            <a:endParaRPr lang="en-US" sz="1140" dirty="0"/>
          </a:p>
          <a:p>
            <a:pPr marL="177800" indent="-177800">
              <a:lnSpc>
                <a:spcPts val="1550"/>
              </a:lnSpc>
              <a:spcAft>
                <a:spcPts val="600"/>
              </a:spcAft>
              <a:buSzPct val="100000"/>
              <a:buChar char="•"/>
            </a:pPr>
            <a:r>
              <a:rPr lang="en-US" sz="114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sensitivity only, no probabilistic run</a:t>
            </a:r>
            <a:endParaRPr lang="en-US" sz="1140" dirty="0"/>
          </a:p>
          <a:p>
            <a:pPr marL="177800" indent="-177800">
              <a:lnSpc>
                <a:spcPts val="1550"/>
              </a:lnSpc>
              <a:spcAft>
                <a:spcPts val="600"/>
              </a:spcAft>
              <a:buSzPct val="100000"/>
              <a:buChar char="•"/>
            </a:pPr>
            <a:r>
              <a:rPr lang="en-US" sz="114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gap: no validated country cost set — demo values are illustrative</a:t>
            </a:r>
            <a:endParaRPr lang="en-US" sz="1140" dirty="0"/>
          </a:p>
          <a:p>
            <a:pPr marL="177800" indent="-177800">
              <a:lnSpc>
                <a:spcPts val="1550"/>
              </a:lnSpc>
              <a:spcAft>
                <a:spcPts val="600"/>
              </a:spcAft>
              <a:buSzPct val="100000"/>
              <a:buChar char="•"/>
            </a:pPr>
            <a:r>
              <a:rPr lang="en-US" sz="114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gap: clinical parameters not yet expert-reviewed</a:t>
            </a:r>
            <a:endParaRPr lang="en-US" sz="1140" dirty="0"/>
          </a:p>
        </p:txBody>
      </p:sp>
      <p:sp>
        <p:nvSpPr>
          <p:cNvPr id="23" name="Text 21"/>
          <p:cNvSpPr txBox="1"/>
          <p:nvPr/>
        </p:nvSpPr>
        <p:spPr>
          <a:xfrm>
            <a:off x="713232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BIET  ·  Team Denovo  ·  IBAB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1018520" y="6455664"/>
            <a:ext cx="256032" cy="0"/>
          </a:xfrm>
          <a:prstGeom prst="line">
            <a:avLst/>
          </a:prstGeom>
          <a:noFill/>
          <a:ln w="17780">
            <a:solidFill>
              <a:srgbClr val="4FC3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338560" y="6345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789920" y="475488"/>
            <a:ext cx="114300" cy="1143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10789920" y="475488"/>
            <a:ext cx="228600" cy="2286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0789920" y="475488"/>
            <a:ext cx="342900" cy="3429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789920" y="475488"/>
            <a:ext cx="457200" cy="4572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789920" y="475488"/>
            <a:ext cx="571500" cy="5715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9920" y="475488"/>
            <a:ext cx="685800" cy="6858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89920" y="475488"/>
            <a:ext cx="800100" cy="8001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0789920" y="475488"/>
            <a:ext cx="914400" cy="9144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0789920" y="475488"/>
            <a:ext cx="1028700" cy="10287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789920" y="475488"/>
            <a:ext cx="1143000" cy="11430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0904220" y="589788"/>
            <a:ext cx="1028700" cy="10287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1018520" y="704088"/>
            <a:ext cx="914400" cy="9144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1132820" y="818388"/>
            <a:ext cx="800100" cy="8001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1247120" y="932688"/>
            <a:ext cx="685800" cy="6858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11361420" y="1046988"/>
            <a:ext cx="571500" cy="5715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11475720" y="1161288"/>
            <a:ext cx="457200" cy="4572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11590020" y="1275588"/>
            <a:ext cx="342900" cy="3429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11704320" y="1389888"/>
            <a:ext cx="228600" cy="2286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11818620" y="1504188"/>
            <a:ext cx="114300" cy="114300"/>
          </a:xfrm>
          <a:prstGeom prst="line">
            <a:avLst/>
          </a:prstGeom>
          <a:noFill/>
          <a:ln w="10795">
            <a:solidFill>
              <a:srgbClr val="9FD9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WHERE IT STANDS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" y="786384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" y="1572768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directions, each with the property that already makes it possible.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13232" y="2267712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12235B"/>
          </a:solidFill>
          <a:ln w="12700">
            <a:solidFill>
              <a:srgbClr val="12235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" y="267004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2926080" y="234086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because it does not centralise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2926080" y="2688336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runs on the user's own machine, so a thousand analysts cost the same server capacity as one. The API is only touched for evidence search and persistence.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13232" y="356616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4A63C8"/>
          </a:solidFill>
          <a:ln w="12700">
            <a:solidFill>
              <a:srgbClr val="4A63C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8680" y="396849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&amp; market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2926080" y="363931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by data, not by code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2926080" y="3986784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disease is one registry entry with its subgroups and defaults — no engine change. The same is true of a new comparator or outcome. Multi-country roll-up is the next structural step.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13232" y="4864608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4FC3E8"/>
          </a:solidFill>
          <a:ln w="12700">
            <a:solidFill>
              <a:srgbClr val="4FC3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68680" y="526694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2926080" y="49377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because there is nothing to install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2926080" y="528523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browser tab, holds no patient-level data, and degrades gracefully with no database and no API key — so a pilot needs no procurement or infrastructure review.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13232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BIET  ·  Team Denovo  ·  IBAB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1018520" y="6455664"/>
            <a:ext cx="256032" cy="0"/>
          </a:xfrm>
          <a:prstGeom prst="line">
            <a:avLst/>
          </a:prstGeom>
          <a:noFill/>
          <a:ln w="17780">
            <a:solidFill>
              <a:srgbClr val="4FC3E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1338560" y="6345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WHERE IT STANDS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786384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 plan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2103120"/>
            <a:ext cx="420624" cy="420624"/>
          </a:xfrm>
          <a:prstGeom prst="ellipse">
            <a:avLst/>
          </a:prstGeom>
          <a:solidFill>
            <a:srgbClr val="4FC3E8"/>
          </a:solidFill>
          <a:ln w="12700">
            <a:solidFill>
              <a:srgbClr val="4FC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225296" y="2313432"/>
            <a:ext cx="2139696" cy="0"/>
          </a:xfrm>
          <a:prstGeom prst="line">
            <a:avLst/>
          </a:prstGeom>
          <a:noFill/>
          <a:ln w="20320">
            <a:solidFill>
              <a:srgbClr val="DCED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26700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92608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2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a published model</a:t>
            </a:r>
            <a:endParaRPr lang="en-US" sz="132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511296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2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a peer-reviewed BIA end to end and publish the variance. This is what turns a prototype into something defensible.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3474720" y="2103120"/>
            <a:ext cx="420624" cy="420624"/>
          </a:xfrm>
          <a:prstGeom prst="ellipse">
            <a:avLst/>
          </a:prstGeom>
          <a:solidFill>
            <a:srgbClr val="4A63C8"/>
          </a:solidFill>
          <a:ln w="12700">
            <a:solidFill>
              <a:srgbClr val="4A63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986784" y="2313432"/>
            <a:ext cx="2139696" cy="0"/>
          </a:xfrm>
          <a:prstGeom prst="line">
            <a:avLst/>
          </a:prstGeom>
          <a:noFill/>
          <a:ln w="20320">
            <a:solidFill>
              <a:srgbClr val="DCED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74720" y="26700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6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92608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2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Multi-country aggregation</a:t>
            </a:r>
            <a:endParaRPr lang="en-US" sz="132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3511296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2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several markets in one model and roll them up to a regional total.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236208" y="2103120"/>
            <a:ext cx="420624" cy="420624"/>
          </a:xfrm>
          <a:prstGeom prst="ellipse">
            <a:avLst/>
          </a:prstGeom>
          <a:solidFill>
            <a:srgbClr val="1D3A82"/>
          </a:solidFill>
          <a:ln w="12700">
            <a:solidFill>
              <a:srgbClr val="1D3A8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36208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748272" y="2313432"/>
            <a:ext cx="2139696" cy="0"/>
          </a:xfrm>
          <a:prstGeom prst="line">
            <a:avLst/>
          </a:prstGeom>
          <a:noFill/>
          <a:ln w="20320">
            <a:solidFill>
              <a:srgbClr val="DCED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36208" y="26700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3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236208" y="292608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2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Subgroup-level parameters</a:t>
            </a:r>
            <a:endParaRPr lang="en-US" sz="1320" dirty="0"/>
          </a:p>
        </p:txBody>
      </p:sp>
      <p:sp>
        <p:nvSpPr>
          <p:cNvPr id="21" name="Text 19"/>
          <p:cNvSpPr txBox="1"/>
          <p:nvPr/>
        </p:nvSpPr>
        <p:spPr>
          <a:xfrm>
            <a:off x="6236208" y="3511296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2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costs and outcomes per subgroup instead of inherited ones.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8997696" y="2103120"/>
            <a:ext cx="420624" cy="420624"/>
          </a:xfrm>
          <a:prstGeom prst="ellipse">
            <a:avLst/>
          </a:prstGeom>
          <a:solidFill>
            <a:srgbClr val="12235B"/>
          </a:solidFill>
          <a:ln w="12700">
            <a:solidFill>
              <a:srgbClr val="12235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97696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997696" y="26700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997696" y="292608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2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sensitivity</a:t>
            </a:r>
            <a:endParaRPr lang="en-US" sz="1320" dirty="0"/>
          </a:p>
        </p:txBody>
      </p:sp>
      <p:sp>
        <p:nvSpPr>
          <p:cNvPr id="26" name="Text 24"/>
          <p:cNvSpPr txBox="1"/>
          <p:nvPr/>
        </p:nvSpPr>
        <p:spPr>
          <a:xfrm>
            <a:off x="8997696" y="3511296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2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over correlated parameters, beyond the current one-way tornado.</a:t>
            </a:r>
            <a:endParaRPr lang="en-US" sz="112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46268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Dependencies, risks and how we reduce them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13232" y="502920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parameters are paywalled or country-specific</a:t>
            </a:r>
            <a:endParaRPr lang="en-US" sz="1160" dirty="0"/>
          </a:p>
        </p:txBody>
      </p:sp>
      <p:sp>
        <p:nvSpPr>
          <p:cNvPr id="29" name="Text 27"/>
          <p:cNvSpPr txBox="1"/>
          <p:nvPr/>
        </p:nvSpPr>
        <p:spPr>
          <a:xfrm>
            <a:off x="713232" y="5266944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open sources; every parameter is overridable and carries its origin.</a:t>
            </a:r>
            <a:endParaRPr lang="en-US" sz="1080" dirty="0"/>
          </a:p>
        </p:txBody>
      </p:sp>
      <p:sp>
        <p:nvSpPr>
          <p:cNvPr id="30" name="Text 28"/>
          <p:cNvSpPr txBox="1"/>
          <p:nvPr/>
        </p:nvSpPr>
        <p:spPr>
          <a:xfrm>
            <a:off x="6245352" y="502920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hosting sleeps; free database expires at 30 days</a:t>
            </a:r>
            <a:endParaRPr lang="en-US" sz="1160" dirty="0"/>
          </a:p>
        </p:txBody>
      </p:sp>
      <p:sp>
        <p:nvSpPr>
          <p:cNvPr id="31" name="Text 29"/>
          <p:cNvSpPr txBox="1"/>
          <p:nvPr/>
        </p:nvSpPr>
        <p:spPr>
          <a:xfrm>
            <a:off x="6245352" y="5266944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runs with no database at all — search and calculation degrade gracefully.</a:t>
            </a:r>
            <a:endParaRPr lang="en-US" sz="1080" dirty="0"/>
          </a:p>
        </p:txBody>
      </p:sp>
      <p:sp>
        <p:nvSpPr>
          <p:cNvPr id="32" name="Text 30"/>
          <p:cNvSpPr txBox="1"/>
          <p:nvPr/>
        </p:nvSpPr>
        <p:spPr>
          <a:xfrm>
            <a:off x="713232" y="57424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assumptions need expert review</a:t>
            </a:r>
            <a:endParaRPr lang="en-US" sz="1160" dirty="0"/>
          </a:p>
        </p:txBody>
      </p:sp>
      <p:sp>
        <p:nvSpPr>
          <p:cNvPr id="33" name="Text 31"/>
          <p:cNvSpPr txBox="1"/>
          <p:nvPr/>
        </p:nvSpPr>
        <p:spPr>
          <a:xfrm>
            <a:off x="713232" y="5980176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Methodology view exposes every assumption for an HEOR reviewer to challenge.</a:t>
            </a:r>
            <a:endParaRPr lang="en-US" sz="1080" dirty="0"/>
          </a:p>
        </p:txBody>
      </p:sp>
      <p:sp>
        <p:nvSpPr>
          <p:cNvPr id="34" name="Text 32"/>
          <p:cNvSpPr txBox="1"/>
          <p:nvPr/>
        </p:nvSpPr>
        <p:spPr>
          <a:xfrm>
            <a:off x="6245352" y="57424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if real patient data is ever involved</a:t>
            </a:r>
            <a:endParaRPr lang="en-US" sz="1160" dirty="0"/>
          </a:p>
        </p:txBody>
      </p:sp>
      <p:sp>
        <p:nvSpPr>
          <p:cNvPr id="35" name="Text 33"/>
          <p:cNvSpPr txBox="1"/>
          <p:nvPr/>
        </p:nvSpPr>
        <p:spPr>
          <a:xfrm>
            <a:off x="6245352" y="5980176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Cohort-level by design; no patient-level data is stored anywhere.</a:t>
            </a:r>
            <a:endParaRPr lang="en-US" sz="1080" dirty="0"/>
          </a:p>
        </p:txBody>
      </p:sp>
      <p:sp>
        <p:nvSpPr>
          <p:cNvPr id="36" name="Text 34"/>
          <p:cNvSpPr txBox="1"/>
          <p:nvPr/>
        </p:nvSpPr>
        <p:spPr>
          <a:xfrm>
            <a:off x="713232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BIET  ·  Team Denovo  ·  IBAB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1018520" y="6455664"/>
            <a:ext cx="256032" cy="0"/>
          </a:xfrm>
          <a:prstGeom prst="line">
            <a:avLst/>
          </a:prstGeom>
          <a:noFill/>
          <a:ln w="17780">
            <a:solidFill>
              <a:srgbClr val="4FC3E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1338560" y="6345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2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3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4FC3E8"/>
          </a:solidFill>
          <a:ln w="12700">
            <a:solidFill>
              <a:srgbClr val="4FC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92840" y="457200"/>
            <a:ext cx="0" cy="1005840"/>
          </a:xfrm>
          <a:prstGeom prst="line">
            <a:avLst/>
          </a:prstGeom>
          <a:noFill/>
          <a:ln w="11430">
            <a:solidFill>
              <a:srgbClr val="3A54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67821" y="457200"/>
            <a:ext cx="0" cy="1005840"/>
          </a:xfrm>
          <a:prstGeom prst="line">
            <a:avLst/>
          </a:prstGeom>
          <a:noFill/>
          <a:ln w="11430">
            <a:solidFill>
              <a:srgbClr val="3A54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42802" y="457200"/>
            <a:ext cx="0" cy="1005840"/>
          </a:xfrm>
          <a:prstGeom prst="line">
            <a:avLst/>
          </a:prstGeom>
          <a:noFill/>
          <a:ln w="11430">
            <a:solidFill>
              <a:srgbClr val="3A54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17782" y="457200"/>
            <a:ext cx="0" cy="1005840"/>
          </a:xfrm>
          <a:prstGeom prst="line">
            <a:avLst/>
          </a:prstGeom>
          <a:noFill/>
          <a:ln w="11430">
            <a:solidFill>
              <a:srgbClr val="3A54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92763" y="457200"/>
            <a:ext cx="0" cy="1005840"/>
          </a:xfrm>
          <a:prstGeom prst="line">
            <a:avLst/>
          </a:prstGeom>
          <a:noFill/>
          <a:ln w="11430">
            <a:solidFill>
              <a:srgbClr val="3A54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67744" y="457200"/>
            <a:ext cx="0" cy="1005840"/>
          </a:xfrm>
          <a:prstGeom prst="line">
            <a:avLst/>
          </a:prstGeom>
          <a:noFill/>
          <a:ln w="11430">
            <a:solidFill>
              <a:srgbClr val="3A54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42725" y="457200"/>
            <a:ext cx="0" cy="1005840"/>
          </a:xfrm>
          <a:prstGeom prst="line">
            <a:avLst/>
          </a:prstGeom>
          <a:noFill/>
          <a:ln w="11430">
            <a:solidFill>
              <a:srgbClr val="3A54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17706" y="457200"/>
            <a:ext cx="0" cy="1005840"/>
          </a:xfrm>
          <a:prstGeom prst="line">
            <a:avLst/>
          </a:prstGeom>
          <a:noFill/>
          <a:ln w="11430">
            <a:solidFill>
              <a:srgbClr val="3A54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92686" y="457200"/>
            <a:ext cx="0" cy="1005840"/>
          </a:xfrm>
          <a:prstGeom prst="line">
            <a:avLst/>
          </a:prstGeom>
          <a:noFill/>
          <a:ln w="11430">
            <a:solidFill>
              <a:srgbClr val="3A54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967667" y="457200"/>
            <a:ext cx="0" cy="1005840"/>
          </a:xfrm>
          <a:prstGeom prst="line">
            <a:avLst/>
          </a:prstGeom>
          <a:noFill/>
          <a:ln w="11430">
            <a:solidFill>
              <a:srgbClr val="3A54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042648" y="457200"/>
            <a:ext cx="0" cy="1005840"/>
          </a:xfrm>
          <a:prstGeom prst="line">
            <a:avLst/>
          </a:prstGeom>
          <a:noFill/>
          <a:ln w="11430">
            <a:solidFill>
              <a:srgbClr val="3A54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539728" y="0"/>
            <a:ext cx="649224" cy="1371600"/>
          </a:xfrm>
          <a:prstGeom prst="rect">
            <a:avLst/>
          </a:prstGeom>
          <a:solidFill>
            <a:srgbClr val="4A63C8"/>
          </a:solidFill>
          <a:ln w="12700">
            <a:solidFill>
              <a:srgbClr val="4A63C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WHY IT MATTERS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786384"/>
            <a:ext cx="10058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benefits, and how soon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1828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HEOR &amp; market access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069080" y="181051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defensible first-pass model in minutes, with sensitivity and an audit trail included rather than added later.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0" y="1828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68680" y="2578608"/>
            <a:ext cx="10561320" cy="0"/>
          </a:xfrm>
          <a:prstGeom prst="line">
            <a:avLst/>
          </a:prstGeom>
          <a:noFill/>
          <a:ln w="12700">
            <a:solidFill>
              <a:srgbClr val="2C458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2788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Payers &amp; insurers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069080" y="277063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they can interrogate — components reconcile, assumptions are visible, limits are stated.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0" y="2788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pilot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8680" y="3538728"/>
            <a:ext cx="10561320" cy="0"/>
          </a:xfrm>
          <a:prstGeom prst="line">
            <a:avLst/>
          </a:prstGeom>
          <a:noFill/>
          <a:ln w="12700">
            <a:solidFill>
              <a:srgbClr val="2C458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" y="3749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4069080" y="373075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affordability answers mean less delay between approval and access.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6868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pathway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" y="513892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6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inside one therapy-area team on a live pricing question · stakeholders are the HEOR lead, market access and medical affairs · integration effort is low because it is a browser tab with no patient data</a:t>
            </a:r>
            <a:endParaRPr lang="en-US" sz="1160" dirty="0"/>
          </a:p>
        </p:txBody>
      </p:sp>
      <p:sp>
        <p:nvSpPr>
          <p:cNvPr id="30" name="Shape 28"/>
          <p:cNvSpPr/>
          <p:nvPr/>
        </p:nvSpPr>
        <p:spPr>
          <a:xfrm>
            <a:off x="868680" y="5779008"/>
            <a:ext cx="3291840" cy="804672"/>
          </a:xfrm>
          <a:prstGeom prst="roundRect">
            <a:avLst>
              <a:gd name="adj" fmla="val 9091"/>
            </a:avLst>
          </a:prstGeom>
          <a:solidFill>
            <a:srgbClr val="1B2F6B"/>
          </a:solidFill>
          <a:ln w="12700">
            <a:solidFill>
              <a:srgbClr val="1B2F6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69848" y="58704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C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€0.13 PMPM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069848" y="61813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AFC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a payer decides on</a:t>
            </a:r>
            <a:endParaRPr lang="en-US" sz="1040" dirty="0"/>
          </a:p>
        </p:txBody>
      </p:sp>
      <p:sp>
        <p:nvSpPr>
          <p:cNvPr id="33" name="Shape 31"/>
          <p:cNvSpPr/>
          <p:nvPr/>
        </p:nvSpPr>
        <p:spPr>
          <a:xfrm>
            <a:off x="4389120" y="5779008"/>
            <a:ext cx="3291840" cy="804672"/>
          </a:xfrm>
          <a:prstGeom prst="roundRect">
            <a:avLst>
              <a:gd name="adj" fmla="val 9091"/>
            </a:avLst>
          </a:prstGeom>
          <a:solidFill>
            <a:srgbClr val="1B2F6B"/>
          </a:solidFill>
          <a:ln w="12700">
            <a:solidFill>
              <a:srgbClr val="1B2F6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90288" y="58704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C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Minutes, not weeks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4590288" y="61813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AFC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recalculation, zero API calls</a:t>
            </a:r>
            <a:endParaRPr lang="en-US" sz="1040" dirty="0"/>
          </a:p>
        </p:txBody>
      </p:sp>
      <p:sp>
        <p:nvSpPr>
          <p:cNvPr id="36" name="Shape 34"/>
          <p:cNvSpPr/>
          <p:nvPr/>
        </p:nvSpPr>
        <p:spPr>
          <a:xfrm>
            <a:off x="7909560" y="5779008"/>
            <a:ext cx="3291840" cy="804672"/>
          </a:xfrm>
          <a:prstGeom prst="roundRect">
            <a:avLst>
              <a:gd name="adj" fmla="val 9091"/>
            </a:avLst>
          </a:prstGeom>
          <a:solidFill>
            <a:srgbClr val="1B2F6B"/>
          </a:solidFill>
          <a:ln w="12700">
            <a:solidFill>
              <a:srgbClr val="1B2F6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110728" y="58704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C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Shows its working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8110728" y="61813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AFC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reconciles exactly · 38 tests · limits stated</a:t>
            </a:r>
            <a:endParaRPr lang="en-US" sz="10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BIET — Budget Impact Estimation Tool</dc:title>
  <dc:subject>PptxGenJS Presentation</dc:subject>
  <dc:creator>Team Denovo, IBAB</dc:creator>
  <cp:lastModifiedBy>Team Denovo, IBAB</cp:lastModifiedBy>
  <cp:revision>1</cp:revision>
  <dcterms:created xsi:type="dcterms:W3CDTF">2026-09-04T18:10:37Z</dcterms:created>
  <dcterms:modified xsi:type="dcterms:W3CDTF">2026-09-04T18:10:37Z</dcterms:modified>
</cp:coreProperties>
</file>