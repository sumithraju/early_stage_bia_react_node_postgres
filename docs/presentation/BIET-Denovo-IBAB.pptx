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Denovo from IBAB. BIET answers the payer affordability question for an early-stage drug. Today that analysis is bespoke Excel work taking weeks; ours runs in minutes and shows its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that budget impact analysis is impossible — it is that it is slow and unauditable. Our three innovations attack speed, provenance and traceability.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input tabs, one validation gate, seven result views. The flow is the product: each tab adds one layer to the same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architectural decision that matters: the engine runs client-side, so there is no request between changing an input and seeing the new number. That is what makes live sensitivity possible on free-tier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 to say out loud: €296.6 million sounds alarming, but it is 13 cents per member per month — the unit a payer actually negotiates on. Quote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 one is the one that matters to a reviewer: reproducing a published model and publishing the variance is what turns a prototype into something defensible.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takeaways. The middle card is the differentiator; the third is what makes it credible to a reviewer.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-1005840"/>
            <a:ext cx="2834640" cy="2834640"/>
          </a:xfrm>
          <a:prstGeom prst="roundRect">
            <a:avLst>
              <a:gd name="adj" fmla="val 3226"/>
            </a:avLst>
          </a:prstGeom>
          <a:solidFill>
            <a:srgbClr val="2E7FD4"/>
          </a:solidFill>
          <a:ln w="12700">
            <a:solidFill>
              <a:srgbClr val="2E7F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709160"/>
            <a:ext cx="2377440" cy="2377440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57200" y="5394960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2E7FD4"/>
          </a:solidFill>
          <a:ln w="12700">
            <a:solidFill>
              <a:srgbClr val="2E7FD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7043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40" kern="0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IBAB  ·  TEAM DENOVO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91056"/>
            <a:ext cx="78638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BIET</a:t>
            </a:r>
            <a:endParaRPr lang="en-US" sz="7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614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5BC0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Impact Estimation Tool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84448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6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drug teams cannot answer a payer's first question — what will this cost my budget? — without weeks of bespoke spreadsheet work.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572000"/>
            <a:ext cx="7772400" cy="1024128"/>
          </a:xfrm>
          <a:prstGeom prst="roundRect">
            <a:avLst>
              <a:gd name="adj" fmla="val 7143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736592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outcome   </a:t>
            </a:r>
            <a:pPr indent="0" marL="0">
              <a:lnSpc>
                <a:spcPts val="1900"/>
              </a:lnSpc>
              <a:buNone/>
            </a:pPr>
            <a:r>
              <a:rPr lang="en-US" sz="13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five-year budget impact model in under 10 minutes instead of weeks — and every figure traceable back to the input that produced it.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70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· early-stage-bia.onrender.com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· PROBLEM &amp; INNOVATION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every payer asks first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5486400" cy="2084832"/>
          </a:xfrm>
          <a:prstGeom prst="roundRect">
            <a:avLst>
              <a:gd name="adj" fmla="val 3509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898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are we solving?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5564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price is set, a payer asks: what does saying yes cost my budget over 3–5 years?</a:t>
            </a:r>
            <a:endParaRPr lang="en-US" sz="1240" dirty="0"/>
          </a:p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that answer is a bespoke Excel model — slow to build, hard to audit, easy to get wrong</a:t>
            </a:r>
            <a:endParaRPr lang="en-US" sz="1240" dirty="0"/>
          </a:p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live in cells no reviewer can trace, so the number is trusted or rejected wholesale</a:t>
            </a:r>
            <a:endParaRPr lang="en-US" sz="1240" dirty="0"/>
          </a:p>
        </p:txBody>
      </p:sp>
      <p:sp>
        <p:nvSpPr>
          <p:cNvPr id="7" name="Shape 5"/>
          <p:cNvSpPr/>
          <p:nvPr/>
        </p:nvSpPr>
        <p:spPr>
          <a:xfrm>
            <a:off x="6400800" y="1188720"/>
            <a:ext cx="5486400" cy="2084832"/>
          </a:xfrm>
          <a:prstGeom prst="roundRect">
            <a:avLst>
              <a:gd name="adj" fmla="val 3509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0" y="13898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impacted?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5564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teams, who must defend every assumption</a:t>
            </a:r>
            <a:endParaRPr lang="en-US" sz="1240" dirty="0"/>
          </a:p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and health insurers deciding what to reimburse</a:t>
            </a:r>
            <a:endParaRPr lang="en-US" sz="1240" dirty="0"/>
          </a:p>
          <a:p>
            <a:pPr marL="342900" indent="-342900">
              <a:lnSpc>
                <a:spcPts val="1637"/>
              </a:lnSpc>
              <a:spcAft>
                <a:spcPts val="500"/>
              </a:spcAft>
              <a:buSzPct val="100000"/>
              <a:buChar char="•"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— access is delayed while the analysis is rebuilt from scratch</a:t>
            </a:r>
            <a:endParaRPr lang="en-US" sz="124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49300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innovation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895344"/>
            <a:ext cx="310896" cy="310896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877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not re-run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3867912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model recomputes in the browser as you type — zero API calls in the calculation path. Sensitivity analysis becomes something you feel, not a job you queue.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640080" y="4681728"/>
            <a:ext cx="310896" cy="310896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beside the model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4654296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searches PubMed, ClinicalTrials.gov, openFDA, WHO and the World Bank inside the same tool, so an assumption and its source sit together.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40080" y="5468112"/>
            <a:ext cx="310896" cy="310896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5468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498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construction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886200" y="544068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totals, and a Methodology tab traces every headline number back to its inputs.</a:t>
            </a:r>
            <a:endParaRPr lang="en-US" sz="124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· Team Denovo · IBAB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4190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· SOLUTION SUMMARY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guided flow, from population to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170432"/>
            <a:ext cx="10881360" cy="786384"/>
          </a:xfrm>
          <a:prstGeom prst="roundRect">
            <a:avLst>
              <a:gd name="adj" fmla="val 9302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35024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4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is a browser-based budget impact tool that turns six tabs of clinical and cost assumptions into a five-year payer forecast — with scenarios, sensitivity and an audit trail — in one sitting.</a:t>
            </a:r>
            <a:endParaRPr lang="en-US" sz="142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12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 area</a:t>
            </a:r>
            <a:endParaRPr lang="en-US" sz="1140" dirty="0"/>
          </a:p>
        </p:txBody>
      </p:sp>
      <p:sp>
        <p:nvSpPr>
          <p:cNvPr id="10" name="Shape 8"/>
          <p:cNvSpPr/>
          <p:nvPr/>
        </p:nvSpPr>
        <p:spPr>
          <a:xfrm>
            <a:off x="2219249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19249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274113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140" dirty="0"/>
          </a:p>
        </p:txBody>
      </p:sp>
      <p:sp>
        <p:nvSpPr>
          <p:cNvPr id="13" name="Shape 11"/>
          <p:cNvSpPr/>
          <p:nvPr/>
        </p:nvSpPr>
        <p:spPr>
          <a:xfrm>
            <a:off x="3798418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98418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853282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care</a:t>
            </a:r>
            <a:endParaRPr lang="en-US" sz="1140" dirty="0"/>
          </a:p>
        </p:txBody>
      </p:sp>
      <p:sp>
        <p:nvSpPr>
          <p:cNvPr id="16" name="Shape 14"/>
          <p:cNvSpPr/>
          <p:nvPr/>
        </p:nvSpPr>
        <p:spPr>
          <a:xfrm>
            <a:off x="5377586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77586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32450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6956755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56755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011619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Uptake</a:t>
            </a:r>
            <a:endParaRPr lang="en-US" sz="1140" dirty="0"/>
          </a:p>
        </p:txBody>
      </p:sp>
      <p:sp>
        <p:nvSpPr>
          <p:cNvPr id="22" name="Shape 20"/>
          <p:cNvSpPr/>
          <p:nvPr/>
        </p:nvSpPr>
        <p:spPr>
          <a:xfrm>
            <a:off x="8535924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35924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590788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140" dirty="0"/>
          </a:p>
        </p:txBody>
      </p:sp>
      <p:sp>
        <p:nvSpPr>
          <p:cNvPr id="25" name="Shape 23"/>
          <p:cNvSpPr/>
          <p:nvPr/>
        </p:nvSpPr>
        <p:spPr>
          <a:xfrm>
            <a:off x="10115093" y="2596896"/>
            <a:ext cx="1432865" cy="841248"/>
          </a:xfrm>
          <a:prstGeom prst="roundRect">
            <a:avLst>
              <a:gd name="adj" fmla="val 8696"/>
            </a:avLst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15093" y="2688336"/>
            <a:ext cx="14328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169957" y="2926080"/>
            <a:ext cx="13231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4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5661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runs between every edit and the result; a model that cannot produce a meaningful answer is blocked with the reason.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640080" y="4023360"/>
            <a:ext cx="7178040" cy="1975104"/>
          </a:xfrm>
          <a:prstGeom prst="roundRect">
            <a:avLst>
              <a:gd name="adj" fmla="val 3704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206240"/>
            <a:ext cx="6629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users, and what they get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535424"/>
            <a:ext cx="66294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10"/>
              </a:lnSpc>
              <a:spcAft>
                <a:spcPts val="5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 in pharma; health-economics researchers and students</a:t>
            </a:r>
            <a:endParaRPr lang="en-US" sz="1220" dirty="0"/>
          </a:p>
          <a:p>
            <a:pPr marL="342900" indent="-342900">
              <a:lnSpc>
                <a:spcPts val="1610"/>
              </a:lnSpc>
              <a:spcAft>
                <a:spcPts val="5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pricing a new GLP-1 for a German insurer covering 8 million lives</a:t>
            </a:r>
            <a:endParaRPr lang="en-US" sz="1220" dirty="0"/>
          </a:p>
          <a:p>
            <a:pPr marL="342900" indent="-342900">
              <a:lnSpc>
                <a:spcPts val="1610"/>
              </a:lnSpc>
              <a:spcAft>
                <a:spcPts val="5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weeks of model building down to minutes;  Quality — validation blocks the silent-zero errors a spreadsheet hides</a:t>
            </a:r>
            <a:endParaRPr lang="en-US" sz="1220" dirty="0"/>
          </a:p>
          <a:p>
            <a:pPr marL="342900" indent="-342900">
              <a:lnSpc>
                <a:spcPts val="1610"/>
              </a:lnSpc>
              <a:spcAft>
                <a:spcPts val="5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— cost offsets from events avoided are modelled, not left out</a:t>
            </a:r>
            <a:endParaRPr lang="en-US" sz="1220" dirty="0"/>
          </a:p>
        </p:txBody>
      </p:sp>
      <p:pic>
        <p:nvPicPr>
          <p:cNvPr id="32" name="Image 0" descr="s-pop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4023360"/>
            <a:ext cx="3456432" cy="1975104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092440" y="6035040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tab — the eligibility funnel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4008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· Team Denovo · IBAB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10972800" y="64190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· TECHNICAL IMPLEMENTATION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built, not just what we used</a:t>
            </a:r>
            <a:endParaRPr lang="en-US" sz="3000" dirty="0"/>
          </a:p>
        </p:txBody>
      </p:sp>
      <p:pic>
        <p:nvPicPr>
          <p:cNvPr id="4" name="Image 0" descr="dgm-01-syste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70432"/>
            <a:ext cx="6263640" cy="39593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193792"/>
            <a:ext cx="6263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4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the calculation runs entirely in the browser; the server exists for evidence retrieval, the AI proxy and optional persistence.</a:t>
            </a:r>
            <a:endParaRPr lang="en-US" sz="1040" dirty="0"/>
          </a:p>
        </p:txBody>
      </p:sp>
      <p:sp>
        <p:nvSpPr>
          <p:cNvPr id="6" name="Shape 3"/>
          <p:cNvSpPr/>
          <p:nvPr/>
        </p:nvSpPr>
        <p:spPr>
          <a:xfrm>
            <a:off x="7269480" y="1170432"/>
            <a:ext cx="4251960" cy="1847088"/>
          </a:xfrm>
          <a:prstGeom prst="roundRect">
            <a:avLst>
              <a:gd name="adj" fmla="val 3960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25512" y="1353312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525512" y="1700784"/>
            <a:ext cx="3739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engine — one module, 11 pure functions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— 6 input tabs, 7 result views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 — evidence search, LLM proxy, persistence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— 5 public evidence-source adapters</a:t>
            </a:r>
            <a:endParaRPr lang="en-US" sz="1180" dirty="0"/>
          </a:p>
        </p:txBody>
      </p:sp>
      <p:sp>
        <p:nvSpPr>
          <p:cNvPr id="9" name="Shape 6"/>
          <p:cNvSpPr/>
          <p:nvPr/>
        </p:nvSpPr>
        <p:spPr>
          <a:xfrm>
            <a:off x="7269480" y="3145536"/>
            <a:ext cx="4251960" cy="2487168"/>
          </a:xfrm>
          <a:prstGeom prst="roundRect">
            <a:avLst>
              <a:gd name="adj" fmla="val 2941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25512" y="3328416"/>
            <a:ext cx="3739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choices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525512" y="3675888"/>
            <a:ext cx="37398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cohort projection — population funnel, adherence-weighted costs, relative-risk offsets, binary search for break-even price.
</a:t>
            </a:r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PubMed, ClinicalTrials.gov, openFDA, WHO GHO, World Bank. Excel import for a team's own parameters.
</a:t>
            </a:r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automated tests — 14 pin the economics to hand-calculable cases, 24 cover invalid input. One-way tornado over 10 parameters at ±20%.</a:t>
            </a:r>
            <a:endParaRPr lang="en-US" sz="116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· Team Denovo · IBAB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0" y="64190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· RESULTS &amp; DEMO HIGHLIGHTS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today — a full model, end to end</a:t>
            </a:r>
            <a:endParaRPr lang="en-US" sz="3000" dirty="0"/>
          </a:p>
        </p:txBody>
      </p:sp>
      <p:pic>
        <p:nvPicPr>
          <p:cNvPr id="4" name="Image 0" descr="s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33856"/>
            <a:ext cx="3474720" cy="19842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16382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6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impact — headline, KPIs, year by year</a:t>
            </a:r>
            <a:endParaRPr lang="en-US" sz="960" dirty="0"/>
          </a:p>
        </p:txBody>
      </p:sp>
      <p:pic>
        <p:nvPicPr>
          <p:cNvPr id="6" name="Image 1" descr="s-sensi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688" y="1133856"/>
            <a:ext cx="3474720" cy="19842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61688" y="316382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6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— one-way tornado over 10 parameters</a:t>
            </a:r>
            <a:endParaRPr lang="en-US" sz="960" dirty="0"/>
          </a:p>
        </p:txBody>
      </p:sp>
      <p:pic>
        <p:nvPicPr>
          <p:cNvPr id="8" name="Image 2" descr="s-valid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296" y="1133856"/>
            <a:ext cx="3474720" cy="19842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083296" y="316382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6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a zeroed input caught, not silently returned as zero</a:t>
            </a:r>
            <a:endParaRPr lang="en-US" sz="96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3675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 right now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4005072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diseases with subgroups; comparators added or removed as whole columns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result views incl. tornado sensitivity and a methodology audit trail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and 6-sheet Excel export, plus EviTrack search across 5 public sources</a:t>
            </a:r>
            <a:endParaRPr lang="en-US" sz="1180" dirty="0"/>
          </a:p>
        </p:txBody>
      </p:sp>
      <p:sp>
        <p:nvSpPr>
          <p:cNvPr id="12" name="Text 7"/>
          <p:cNvSpPr txBox="1"/>
          <p:nvPr/>
        </p:nvSpPr>
        <p:spPr>
          <a:xfrm>
            <a:off x="6309360" y="3675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robustness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309360" y="4005072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 — not approximately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price re-solves to a net impact of zero; 38 automated tests</a:t>
            </a:r>
            <a:endParaRPr lang="en-US" sz="1180" dirty="0"/>
          </a:p>
          <a:p>
            <a:pPr marL="342900" indent="-342900">
              <a:lnSpc>
                <a:spcPts val="1558"/>
              </a:lnSpc>
              <a:spcAft>
                <a:spcPts val="5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probed: 12 blocked, 10 flagged, none produce NaN</a:t>
            </a:r>
            <a:endParaRPr lang="en-US" sz="1180" dirty="0"/>
          </a:p>
        </p:txBody>
      </p:sp>
      <p:sp>
        <p:nvSpPr>
          <p:cNvPr id="14" name="Shape 9"/>
          <p:cNvSpPr/>
          <p:nvPr/>
        </p:nvSpPr>
        <p:spPr>
          <a:xfrm>
            <a:off x="640080" y="5413248"/>
            <a:ext cx="10881360" cy="1060704"/>
          </a:xfrm>
          <a:prstGeom prst="roundRect">
            <a:avLst>
              <a:gd name="adj" fmla="val 6897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14400" y="55229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walkthrough  ·  input → output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14400" y="5797296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  </a:t>
            </a:r>
            <a:pPr indent="0" marL="0">
              <a:lnSpc>
                <a:spcPts val="160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 covered lives · 9% prevalence · 75% diagnosed · 55% clinically eligible · 4→28% uptake · €3,200 drug
</a:t>
            </a:r>
            <a:pPr indent="0" marL="0">
              <a:lnSpc>
                <a:spcPts val="1600"/>
              </a:lnSpc>
              <a:buNone/>
            </a:pPr>
            <a:r>
              <a:rPr lang="en-US" sz="116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 </a:t>
            </a:r>
            <a:pPr indent="0" marL="0">
              <a:lnSpc>
                <a:spcPts val="1600"/>
              </a:lnSpc>
              <a:buNone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 eligible → 67,083 treated at peak → €296.6M over 5 years = €0.13 PMPM · break-even price €613 · 2,480 events avoided</a:t>
            </a:r>
            <a:endParaRPr lang="en-US" sz="1160" dirty="0"/>
          </a:p>
        </p:txBody>
      </p:sp>
      <p:sp>
        <p:nvSpPr>
          <p:cNvPr id="17" name="Text 12"/>
          <p:cNvSpPr txBox="1"/>
          <p:nvPr/>
        </p:nvSpPr>
        <p:spPr>
          <a:xfrm>
            <a:off x="640080" y="652881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i="1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limits: single country; subgroups share parent parameters; one-way sensitivity only; demonstration values are illustrative, not sourced country estimates.</a:t>
            </a:r>
            <a:endParaRPr lang="en-US" sz="9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· FEASIBILITY &amp; ROADMAP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ships next, and what could stop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6858000" cy="676656"/>
          </a:xfrm>
          <a:prstGeom prst="roundRect">
            <a:avLst>
              <a:gd name="adj" fmla="val 10811"/>
            </a:avLst>
          </a:prstGeom>
          <a:solidFill>
            <a:srgbClr val="EAF4FC"/>
          </a:solidFill>
          <a:ln w="12700">
            <a:solidFill>
              <a:srgbClr val="EAF4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362456"/>
            <a:ext cx="329184" cy="329184"/>
          </a:xfrm>
          <a:prstGeom prst="ellipse">
            <a:avLst/>
          </a:prstGeom>
          <a:solidFill>
            <a:srgbClr val="2E7FD4"/>
          </a:solidFill>
          <a:ln w="12700">
            <a:solidFill>
              <a:srgbClr val="2E7F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362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280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a published model</a:t>
            </a:r>
            <a:endParaRPr lang="en-US" sz="126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one peer-reviewed BIA end to end and publish the variance.</a:t>
            </a:r>
            <a:endParaRPr lang="en-US" sz="108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13990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6858000" cy="676656"/>
          </a:xfrm>
          <a:prstGeom prst="roundRect">
            <a:avLst>
              <a:gd name="adj" fmla="val 10811"/>
            </a:avLst>
          </a:prstGeom>
          <a:solidFill>
            <a:srgbClr val="F5FAFE"/>
          </a:solidFill>
          <a:ln w="12700">
            <a:solidFill>
              <a:srgbClr val="F5FAF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139696"/>
            <a:ext cx="329184" cy="329184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057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Multi-country aggregation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23134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several markets in one model and roll them up.</a:t>
            </a:r>
            <a:endParaRPr lang="en-US" sz="108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176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6858000" cy="676656"/>
          </a:xfrm>
          <a:prstGeom prst="roundRect">
            <a:avLst>
              <a:gd name="adj" fmla="val 10811"/>
            </a:avLst>
          </a:prstGeom>
          <a:solidFill>
            <a:srgbClr val="F5FAFE"/>
          </a:solidFill>
          <a:ln w="12700">
            <a:solidFill>
              <a:srgbClr val="F5FA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16936"/>
            <a:ext cx="329184" cy="329184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16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261872" y="28346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Subgroup-level parameters</a:t>
            </a:r>
            <a:endParaRPr lang="en-US" sz="126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0906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costs and outcomes per subgroup, not inherited.</a:t>
            </a:r>
            <a:endParaRPr lang="en-US" sz="108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9535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weeks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520440"/>
            <a:ext cx="6858000" cy="676656"/>
          </a:xfrm>
          <a:prstGeom prst="roundRect">
            <a:avLst>
              <a:gd name="adj" fmla="val 10811"/>
            </a:avLst>
          </a:prstGeom>
          <a:solidFill>
            <a:srgbClr val="F5FAFE"/>
          </a:solidFill>
          <a:ln w="12700">
            <a:solidFill>
              <a:srgbClr val="F5FAF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672" y="3694176"/>
            <a:ext cx="329184" cy="329184"/>
          </a:xfrm>
          <a:prstGeom prst="ellipse">
            <a:avLst/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4672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61872" y="36118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sensitivity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38679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over correlated parameters, beyond one-way.</a:t>
            </a:r>
            <a:endParaRPr lang="en-US" sz="108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73075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7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&amp; risks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153619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parameters are paywalled or country-specific</a:t>
            </a:r>
            <a:endParaRPr lang="en-US" sz="114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193852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open sources — WHO, World Bank, openFDA — and make every parameter overridable.</a:t>
            </a:r>
            <a:endParaRPr lang="en-US" sz="1060" dirty="0"/>
          </a:p>
        </p:txBody>
      </p:sp>
      <p:sp>
        <p:nvSpPr>
          <p:cNvPr id="31" name="Text 29"/>
          <p:cNvSpPr txBox="1"/>
          <p:nvPr/>
        </p:nvSpPr>
        <p:spPr>
          <a:xfrm>
            <a:off x="7863840" y="267004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hosting sleeps; free database expires in 30 days</a:t>
            </a:r>
            <a:endParaRPr lang="en-US" sz="1140" dirty="0"/>
          </a:p>
        </p:txBody>
      </p:sp>
      <p:sp>
        <p:nvSpPr>
          <p:cNvPr id="32" name="Text 30"/>
          <p:cNvSpPr txBox="1"/>
          <p:nvPr/>
        </p:nvSpPr>
        <p:spPr>
          <a:xfrm>
            <a:off x="7863840" y="30723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built to run with no database at all; search and calculation degrade gracefully.</a:t>
            </a:r>
            <a:endParaRPr lang="en-US" sz="1060" dirty="0"/>
          </a:p>
        </p:txBody>
      </p:sp>
      <p:sp>
        <p:nvSpPr>
          <p:cNvPr id="33" name="Text 31"/>
          <p:cNvSpPr txBox="1"/>
          <p:nvPr/>
        </p:nvSpPr>
        <p:spPr>
          <a:xfrm>
            <a:off x="7863840" y="380390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assumptions need expert review</a:t>
            </a:r>
            <a:endParaRPr lang="en-US" sz="114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42062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tab exposes every assumption for an HEOR reviewer to challenge.</a:t>
            </a:r>
            <a:endParaRPr lang="en-US" sz="1060" dirty="0"/>
          </a:p>
        </p:txBody>
      </p:sp>
      <p:sp>
        <p:nvSpPr>
          <p:cNvPr id="35" name="Text 33"/>
          <p:cNvSpPr txBox="1"/>
          <p:nvPr/>
        </p:nvSpPr>
        <p:spPr>
          <a:xfrm>
            <a:off x="7863840" y="493776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4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/ compliance for real patient data</a:t>
            </a:r>
            <a:endParaRPr lang="en-US" sz="1140" dirty="0"/>
          </a:p>
        </p:txBody>
      </p:sp>
      <p:sp>
        <p:nvSpPr>
          <p:cNvPr id="36" name="Text 34"/>
          <p:cNvSpPr txBox="1"/>
          <p:nvPr/>
        </p:nvSpPr>
        <p:spPr>
          <a:xfrm>
            <a:off x="7863840" y="53400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patient-level data is stored — the model is cohort-level by design.</a:t>
            </a:r>
            <a:endParaRPr lang="en-US" sz="106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· Team Denovo · IBAB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0" y="64190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2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280160"/>
            <a:ext cx="3108960" cy="3108960"/>
          </a:xfrm>
          <a:prstGeom prst="ellipse">
            <a:avLst/>
          </a:prstGeom>
          <a:solidFill>
            <a:srgbClr val="2E7FD4"/>
          </a:solidFill>
          <a:ln w="12700">
            <a:solidFill>
              <a:srgbClr val="2E7F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5669280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5BC0EB"/>
          </a:solidFill>
          <a:ln w="12700">
            <a:solidFill>
              <a:srgbClr val="5BC0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· BUSINESS IMPACT &amp; WHY IT MATTERS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to an affordability answer sooner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225296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1408176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755648"/>
            <a:ext cx="4882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teams; payers reviewing a dossier.
</a:t>
            </a:r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first-pass model in minutes rather than weeks, with scenarios and sensitivity included rather than added later.
</a:t>
            </a:r>
            <a:pPr indent="0" marL="0">
              <a:lnSpc>
                <a:spcPts val="1550"/>
              </a:lnSpc>
              <a:buNone/>
            </a:pPr>
            <a:r>
              <a:rPr lang="en-US" sz="116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soon  </a:t>
            </a:r>
            <a:pPr indent="0" marL="0">
              <a:lnSpc>
                <a:spcPts val="1550"/>
              </a:lnSpc>
              <a:buNone/>
            </a:pPr>
            <a:r>
              <a:rPr lang="en-US" sz="116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today for internal early-stage screening.</a:t>
            </a:r>
            <a:endParaRPr lang="en-US" sz="1160" dirty="0"/>
          </a:p>
        </p:txBody>
      </p:sp>
      <p:sp>
        <p:nvSpPr>
          <p:cNvPr id="9" name="Shape 7"/>
          <p:cNvSpPr/>
          <p:nvPr/>
        </p:nvSpPr>
        <p:spPr>
          <a:xfrm>
            <a:off x="6309360" y="1225296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65392" y="1408176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pathway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65392" y="1755648"/>
            <a:ext cx="4882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31"/>
              </a:lnSpc>
              <a:spcAft>
                <a:spcPts val="500"/>
              </a:spcAft>
              <a:buSzPct val="100000"/>
              <a:buChar char="•"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inside one therapy-area team on a live pricing question</a:t>
            </a:r>
            <a:endParaRPr lang="en-US" sz="1160" dirty="0"/>
          </a:p>
          <a:p>
            <a:pPr marL="342900" indent="-342900">
              <a:lnSpc>
                <a:spcPts val="1531"/>
              </a:lnSpc>
              <a:spcAft>
                <a:spcPts val="500"/>
              </a:spcAft>
              <a:buSzPct val="100000"/>
              <a:buChar char="•"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Stakeholders: HEOR lead, market access, medical affairs</a:t>
            </a:r>
            <a:endParaRPr lang="en-US" sz="1160" dirty="0"/>
          </a:p>
          <a:p>
            <a:pPr marL="342900" indent="-342900">
              <a:lnSpc>
                <a:spcPts val="1531"/>
              </a:lnSpc>
              <a:spcAft>
                <a:spcPts val="500"/>
              </a:spcAft>
              <a:buSzPct val="100000"/>
              <a:buChar char="•"/>
            </a:pPr>
            <a:r>
              <a:rPr lang="en-US" sz="116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effort is low — runs in a browser, no install, no patient data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10881360" cy="786384"/>
          </a:xfrm>
          <a:prstGeom prst="roundRect">
            <a:avLst>
              <a:gd name="adj" fmla="val 9302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346704"/>
            <a:ext cx="10369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80" b="1" dirty="0">
                <a:solidFill>
                  <a:srgbClr val="5BC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honestly:  </a:t>
            </a:r>
            <a:pPr indent="0" marL="0">
              <a:lnSpc>
                <a:spcPts val="1550"/>
              </a:lnSpc>
              <a:buNone/>
            </a:pPr>
            <a:r>
              <a:rPr lang="en-US" sz="118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demonstration figures are illustrative, not validated country estimates. The engine is tested against hand-calculable cases; the clinical parameters still need expert review and a published-model comparison. We would rather say that than imply evidence we do not have.</a:t>
            </a:r>
            <a:endParaRPr lang="en-US" sz="118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245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remember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4626864"/>
            <a:ext cx="3456432" cy="1298448"/>
          </a:xfrm>
          <a:prstGeom prst="roundRect">
            <a:avLst>
              <a:gd name="adj" fmla="val 5634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773168"/>
            <a:ext cx="3054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C0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 PMPM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523036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€296.6M in the unit a payer decides on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4325112" y="4626864"/>
            <a:ext cx="3456432" cy="1298448"/>
          </a:xfrm>
          <a:prstGeom prst="roundRect">
            <a:avLst>
              <a:gd name="adj" fmla="val 5634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26280" y="4773168"/>
            <a:ext cx="3054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C0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weeks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523036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recalculation with zero API calls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010144" y="4626864"/>
            <a:ext cx="3456432" cy="1298448"/>
          </a:xfrm>
          <a:prstGeom prst="roundRect">
            <a:avLst>
              <a:gd name="adj" fmla="val 5634"/>
            </a:avLst>
          </a:prstGeom>
          <a:solidFill>
            <a:srgbClr val="22306E"/>
          </a:solidFill>
          <a:ln w="12700">
            <a:solidFill>
              <a:srgbClr val="2230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1312" y="4773168"/>
            <a:ext cx="3054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C0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Shows its working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11312" y="523036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DC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reconcile exactly; 38 tests; limits stated</a:t>
            </a:r>
            <a:endParaRPr lang="en-US" sz="112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63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Denovo · IBAB · early-stage-bia.onrender.com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BIET — Budget Impact Estimation Tool</dc:title>
  <dc:subject>PptxGenJS Presentation</dc:subject>
  <dc:creator>Team Denovo, IBAB</dc:creator>
  <cp:lastModifiedBy>Team Denovo, IBAB</cp:lastModifiedBy>
  <cp:revision>1</cp:revision>
  <dcterms:created xsi:type="dcterms:W3CDTF">2026-09-04T17:33:43Z</dcterms:created>
  <dcterms:modified xsi:type="dcterms:W3CDTF">2026-09-04T17:33:43Z</dcterms:modified>
</cp:coreProperties>
</file>