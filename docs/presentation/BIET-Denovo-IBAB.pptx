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BIET, from Team Denovo at IBAB. It answers the affordability question a payer asks before any reimbursement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distinction early: BIA is affordability, CEA is efficiency. Judges from a health-economics background will check you know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funnel is the heart of a BIA and where most reviewer questions land. Eight million lives become 181,764 treatable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 that matters: the engine is client-side, so there is no request between changing an input and seeing a new number. That is what makes live sensitivity possible on free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both numbers. €296.6 million sounds alarming; 13 cents per member per month is the same fact in the unit a payer actually negotiates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reference case is the strongest thing on this slide: a reviewer can do the multiplication in their head and check our engine agrees.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the limits is deliberate. A reviewer who finds an unstated limit stops trusting everything else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takeaways. Middle card is the differentiator; the third is what makes it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8728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072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3417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5761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106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0450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2794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5139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83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9828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2172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4516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861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9205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550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3894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6238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12344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24688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37033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93776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61722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74066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86410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98755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1463040"/>
            <a:ext cx="1810512" cy="384048"/>
          </a:xfrm>
          <a:prstGeom prst="roundRect">
            <a:avLst>
              <a:gd name="adj" fmla="val 14286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61043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3236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03690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75013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4633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17659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88982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6030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1629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02952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74275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45598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03504" y="178308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603504" y="178308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603504" y="178308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603504" y="178308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3504" y="178308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3504" y="178308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603504" y="178308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03504" y="178308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03504" y="178308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03504" y="178308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03504" y="178308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76656" y="1856232"/>
            <a:ext cx="1225296" cy="1225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90956" y="1970532"/>
            <a:ext cx="1110996" cy="11109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905256" y="2084832"/>
            <a:ext cx="996696" cy="9966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019556" y="2199132"/>
            <a:ext cx="882396" cy="8823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133856" y="2313432"/>
            <a:ext cx="768096" cy="7680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248156" y="2427732"/>
            <a:ext cx="653796" cy="6537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362456" y="2542032"/>
            <a:ext cx="539496" cy="5394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476756" y="2656332"/>
            <a:ext cx="425196" cy="4251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591056" y="2770632"/>
            <a:ext cx="310896" cy="3108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705356" y="2884932"/>
            <a:ext cx="196596" cy="1965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19656" y="2999232"/>
            <a:ext cx="82296" cy="82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0" y="6053328"/>
            <a:ext cx="2331720" cy="804672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31720" y="6053328"/>
            <a:ext cx="3200400" cy="804672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532120" y="6053328"/>
            <a:ext cx="1371600" cy="804672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331720" y="14630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6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IBAB   ·   TEAM DENOVO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263640" y="14630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early-stage-bia.onrender.com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2286000" y="1792224"/>
            <a:ext cx="73152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BIET</a:t>
            </a:r>
            <a:endParaRPr lang="en-US" sz="9200" dirty="0"/>
          </a:p>
        </p:txBody>
      </p:sp>
      <p:sp>
        <p:nvSpPr>
          <p:cNvPr id="71" name="Text 69"/>
          <p:cNvSpPr txBox="1"/>
          <p:nvPr/>
        </p:nvSpPr>
        <p:spPr>
          <a:xfrm>
            <a:off x="2331720" y="3291840"/>
            <a:ext cx="7498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Impact Estimation Tool</a:t>
            </a:r>
            <a:endParaRPr lang="en-US" sz="2600" dirty="0"/>
          </a:p>
        </p:txBody>
      </p:sp>
      <p:sp>
        <p:nvSpPr>
          <p:cNvPr id="72" name="Text 70"/>
          <p:cNvSpPr txBox="1"/>
          <p:nvPr/>
        </p:nvSpPr>
        <p:spPr>
          <a:xfrm>
            <a:off x="2331720" y="382219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budget impact analysis for pharmaceutical decision support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331720" y="4315968"/>
            <a:ext cx="7973568" cy="1517904"/>
          </a:xfrm>
          <a:prstGeom prst="roundRect">
            <a:avLst>
              <a:gd name="adj" fmla="val 4819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606040" y="44439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40" dirty="0"/>
          </a:p>
        </p:txBody>
      </p:sp>
      <p:sp>
        <p:nvSpPr>
          <p:cNvPr id="75" name="Text 73"/>
          <p:cNvSpPr txBox="1"/>
          <p:nvPr/>
        </p:nvSpPr>
        <p:spPr>
          <a:xfrm>
            <a:off x="2606040" y="4645152"/>
            <a:ext cx="7443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drug teams cannot answer a payer's first question — what will this cost my budget? — without weeks of bespoke spreadsheet work.</a:t>
            </a:r>
            <a:endParaRPr lang="en-US" sz="118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51206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10" kern="0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OUTCOME</a:t>
            </a:r>
            <a:endParaRPr lang="en-US" sz="940" dirty="0"/>
          </a:p>
        </p:txBody>
      </p:sp>
      <p:sp>
        <p:nvSpPr>
          <p:cNvPr id="77" name="Text 75"/>
          <p:cNvSpPr txBox="1"/>
          <p:nvPr/>
        </p:nvSpPr>
        <p:spPr>
          <a:xfrm>
            <a:off x="2606040" y="5321808"/>
            <a:ext cx="7443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model in under 10 minutes instead of weeks, every figure traceable to the input behind it.</a:t>
            </a:r>
            <a:endParaRPr lang="en-US" sz="11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3784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3784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3784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3784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3784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784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3784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3784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378440" y="45720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378440" y="45720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24160" y="502920"/>
            <a:ext cx="1280160" cy="1280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538460" y="617220"/>
            <a:ext cx="1165860" cy="11658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652760" y="731520"/>
            <a:ext cx="1051560" cy="10515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0767060" y="845820"/>
            <a:ext cx="937260" cy="9372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0881360" y="960120"/>
            <a:ext cx="822960" cy="8229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995660" y="1074420"/>
            <a:ext cx="708660" cy="7086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109960" y="1188720"/>
            <a:ext cx="594360" cy="5943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224260" y="1303020"/>
            <a:ext cx="480060" cy="4800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338560" y="1417320"/>
            <a:ext cx="365760" cy="3657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452860" y="1531620"/>
            <a:ext cx="251460" cy="2514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1567160" y="1645920"/>
            <a:ext cx="137160" cy="137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55680" y="5394960"/>
            <a:ext cx="1033272" cy="146304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204825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21031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payers ask, and why it is slow to answer</a:t>
            </a:r>
            <a:endParaRPr lang="en-US" sz="124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2093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3232" y="251460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3232" y="262432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463040" y="26609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0" y="26791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original in the approach</a:t>
            </a:r>
            <a:endParaRPr lang="en-US" sz="124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26700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13232" y="3090672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" y="3200400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32369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0" y="32552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guided flow, six inputs, seven views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10607040" y="3246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3232" y="3666744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" y="377647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43" name="Text 41"/>
          <p:cNvSpPr txBox="1"/>
          <p:nvPr/>
        </p:nvSpPr>
        <p:spPr>
          <a:xfrm>
            <a:off x="1463040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build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0" y="38313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model, data, evaluation</a:t>
            </a:r>
            <a:endParaRPr lang="en-US" sz="124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3822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13232" y="4242816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13232" y="4352544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146304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evidence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0" y="44074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output, validation, EviTrack</a:t>
            </a:r>
            <a:endParaRPr lang="en-US" sz="1240" dirty="0"/>
          </a:p>
        </p:txBody>
      </p:sp>
      <p:sp>
        <p:nvSpPr>
          <p:cNvPr id="50" name="Text 48"/>
          <p:cNvSpPr txBox="1"/>
          <p:nvPr/>
        </p:nvSpPr>
        <p:spPr>
          <a:xfrm>
            <a:off x="10607040" y="43982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713232" y="4818888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13232" y="492861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9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4965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572000" y="4983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work, scalability, roadmap</a:t>
            </a:r>
            <a:endParaRPr lang="en-US" sz="1240" dirty="0"/>
          </a:p>
        </p:txBody>
      </p:sp>
      <p:sp>
        <p:nvSpPr>
          <p:cNvPr id="55" name="Text 53"/>
          <p:cNvSpPr txBox="1"/>
          <p:nvPr/>
        </p:nvSpPr>
        <p:spPr>
          <a:xfrm>
            <a:off x="10607040" y="49743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13232" y="539496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13232" y="550468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900" dirty="0"/>
          </a:p>
        </p:txBody>
      </p:sp>
      <p:sp>
        <p:nvSpPr>
          <p:cNvPr id="58" name="Text 56"/>
          <p:cNvSpPr txBox="1"/>
          <p:nvPr/>
        </p:nvSpPr>
        <p:spPr>
          <a:xfrm>
            <a:off x="1463040" y="55412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0" y="555955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adoption, takeaways</a:t>
            </a:r>
            <a:endParaRPr lang="en-US" sz="1240" dirty="0"/>
          </a:p>
        </p:txBody>
      </p:sp>
      <p:sp>
        <p:nvSpPr>
          <p:cNvPr id="60" name="Text 58"/>
          <p:cNvSpPr txBox="1"/>
          <p:nvPr/>
        </p:nvSpPr>
        <p:spPr>
          <a:xfrm>
            <a:off x="10607040" y="5550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09960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84941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92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490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09883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84864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59845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3482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0980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4787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59768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934749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every payer asks first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price is agreed, a health insurer wants one number: what does saying yes to this drug do to my budget over the next three to five years?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" y="2249424"/>
            <a:ext cx="5120640" cy="2212848"/>
          </a:xfrm>
          <a:prstGeom prst="roundRect">
            <a:avLst>
              <a:gd name="adj" fmla="val 4132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" y="2450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 today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2798064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built from scratch in Excel for every product and market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sit in cells no reviewer can trace, so the answer is trusted or rejected whole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one assumption means rebuilding, so alternatives go untested</a:t>
            </a:r>
            <a:endParaRPr lang="en-US" sz="122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2494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269748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01968" y="2670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9077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defend every assumption to a payer, with no audit trail to point at</a:t>
            </a:r>
            <a:endParaRPr lang="en-US" sz="1160" dirty="0"/>
          </a:p>
        </p:txBody>
      </p:sp>
      <p:sp>
        <p:nvSpPr>
          <p:cNvPr id="25" name="Shape 23"/>
          <p:cNvSpPr/>
          <p:nvPr/>
        </p:nvSpPr>
        <p:spPr>
          <a:xfrm>
            <a:off x="6309360" y="333756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01968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5478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a number they cannot interrogate before committing budget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6309360" y="397764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01968" y="39502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280" dirty="0"/>
          </a:p>
        </p:txBody>
      </p:sp>
      <p:sp>
        <p:nvSpPr>
          <p:cNvPr id="30" name="Text 28"/>
          <p:cNvSpPr txBox="1"/>
          <p:nvPr/>
        </p:nvSpPr>
        <p:spPr>
          <a:xfrm>
            <a:off x="6601968" y="41879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delayed while the analysis is rebuilt for each market</a:t>
            </a:r>
            <a:endParaRPr lang="en-US" sz="1160" dirty="0"/>
          </a:p>
        </p:txBody>
      </p:sp>
      <p:sp>
        <p:nvSpPr>
          <p:cNvPr id="31" name="Shape 29"/>
          <p:cNvSpPr/>
          <p:nvPr/>
        </p:nvSpPr>
        <p:spPr>
          <a:xfrm>
            <a:off x="713232" y="4791456"/>
            <a:ext cx="10716768" cy="969264"/>
          </a:xfrm>
          <a:prstGeom prst="roundRect">
            <a:avLst>
              <a:gd name="adj" fmla="val 9434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" y="499262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budget impact analysis answers affordability — what it costs the budget. That is a different question from cost-effectiveness, which asks whether it is good value. BIET does the first, deliberately.</a:t>
            </a:r>
            <a:endParaRPr lang="en-US" sz="128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625328" y="221284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625328" y="221284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625328" y="221284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25328" y="221284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625328" y="221284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625328" y="221284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625328" y="221284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328" y="221284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625328" y="221284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625328" y="221284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648188" y="2235708"/>
            <a:ext cx="1211580" cy="1211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762488" y="2350008"/>
            <a:ext cx="1097280" cy="10972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876788" y="2464308"/>
            <a:ext cx="982980" cy="9829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991088" y="2578608"/>
            <a:ext cx="868680" cy="8686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105388" y="2692908"/>
            <a:ext cx="754380" cy="7543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219688" y="2807208"/>
            <a:ext cx="640080" cy="6400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333988" y="2921508"/>
            <a:ext cx="525780" cy="5257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448288" y="3035808"/>
            <a:ext cx="411480" cy="4114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562588" y="3150108"/>
            <a:ext cx="297180" cy="2971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676888" y="3264408"/>
            <a:ext cx="182880" cy="1828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791188" y="3378708"/>
            <a:ext cx="68580" cy="68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OUR INNOVATION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original here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new economic method — a new way of working with one, so the analysis is fast enough to explore and transparent enough to defend.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13232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7552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not re-run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model recomputes in the browser as you type. Zero API calls in the calculation path, so sensitivity is something you feel rather than a job you queue.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4389120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3440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beside the model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searches PubMed, ClinicalTrials.gov, openFDA, WHO GHO and the World Bank inside the same tool, so an assumption and its source live together.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8065008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39328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construction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totals, and a Methodology view traces every headline figure back to the inputs that produced it.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0840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combination is new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5431536"/>
            <a:ext cx="10716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BIA tools are enterprise licences priced out of early-stage work; academic models are spreadsheets with no interface. BIET puts a live model, its evidence and its audit trail in one browser tab that runs on free infrastructure.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210312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guided flow, population to decision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 tabs become a five-year payer forecast with scenarios, sensitivity and an audit trail — in a single sitting.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323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724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142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773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2773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55441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9624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95928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995928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23637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17820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64124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564124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91833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86016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0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60029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5421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0051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70051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02822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2240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6871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26871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3401568"/>
            <a:ext cx="1071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runs between every edit and the result: a model that cannot produce a meaningful answer is blocked, with the reason and the field named.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 in pharma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Health-economics researchers and students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pricing a therapy before a formal dossier</a:t>
            </a:r>
            <a:endParaRPr lang="en-US" sz="118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scenario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389120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 new GLP-1 for a German statutory insurer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million covered lives, five-year horizon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metformin, basal insulin, DPP-4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8065008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benefit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8065008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weeks of model building down to minutes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— validation blocks silent-zero errors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— cost offsets modelled, not omitted</a:t>
            </a:r>
            <a:endParaRPr lang="en-US" sz="118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0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04981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7996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494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29923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04904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79885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486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2984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04827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number is built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currency figure traces back to one funnel: a covered population narrowed step by step to the patients who are actually treated.</a:t>
            </a:r>
            <a:endParaRPr lang="en-US" sz="1400" dirty="0"/>
          </a:p>
        </p:txBody>
      </p:sp>
      <p:pic>
        <p:nvPicPr>
          <p:cNvPr id="15" name="Image 0" descr="/tmp/claude-0/-home-user-early-stage-bia-react-node-postgres/3c107fb9-fcab-5237-a1e7-c2f6f328748c/scratchpad/slideimg/s-pop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31136"/>
            <a:ext cx="5943600" cy="339242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13232" y="5669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tab — each rate is an input; the funnel updates as you type.</a:t>
            </a:r>
            <a:endParaRPr lang="en-US" sz="1020" dirty="0"/>
          </a:p>
        </p:txBody>
      </p:sp>
      <p:sp>
        <p:nvSpPr>
          <p:cNvPr id="17" name="Text 14"/>
          <p:cNvSpPr txBox="1"/>
          <p:nvPr/>
        </p:nvSpPr>
        <p:spPr>
          <a:xfrm>
            <a:off x="6967728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year 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67728" y="26151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population</a:t>
            </a:r>
            <a:endParaRPr lang="en-US" sz="1180" dirty="0"/>
          </a:p>
        </p:txBody>
      </p:sp>
      <p:sp>
        <p:nvSpPr>
          <p:cNvPr id="19" name="Text 16"/>
          <p:cNvSpPr txBox="1"/>
          <p:nvPr/>
        </p:nvSpPr>
        <p:spPr>
          <a:xfrm>
            <a:off x="9601200" y="26151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0" y="261518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967728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with type 2 diabetes</a:t>
            </a:r>
            <a:endParaRPr lang="en-US" sz="1180" dirty="0"/>
          </a:p>
        </p:txBody>
      </p:sp>
      <p:sp>
        <p:nvSpPr>
          <p:cNvPr id="22" name="Text 19"/>
          <p:cNvSpPr txBox="1"/>
          <p:nvPr/>
        </p:nvSpPr>
        <p:spPr>
          <a:xfrm>
            <a:off x="9601200" y="3017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0" y="30175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720,000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34198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</a:t>
            </a:r>
            <a:endParaRPr lang="en-US" sz="1180" dirty="0"/>
          </a:p>
        </p:txBody>
      </p:sp>
      <p:sp>
        <p:nvSpPr>
          <p:cNvPr id="25" name="Text 22"/>
          <p:cNvSpPr txBox="1"/>
          <p:nvPr/>
        </p:nvSpPr>
        <p:spPr>
          <a:xfrm>
            <a:off x="9601200" y="34198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341985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540,000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eligible</a:t>
            </a:r>
            <a:endParaRPr lang="en-US" sz="118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38221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0" y="38221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297,000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967728" y="4224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eligible</a:t>
            </a:r>
            <a:endParaRPr lang="en-US" sz="118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422452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422452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252,450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967728" y="46268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access</a:t>
            </a:r>
            <a:endParaRPr lang="en-US" sz="1180" dirty="0"/>
          </a:p>
        </p:txBody>
      </p:sp>
      <p:sp>
        <p:nvSpPr>
          <p:cNvPr id="34" name="Text 31"/>
          <p:cNvSpPr txBox="1"/>
          <p:nvPr/>
        </p:nvSpPr>
        <p:spPr>
          <a:xfrm>
            <a:off x="9601200" y="46268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0241280" y="462686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227,205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903720" y="4974336"/>
            <a:ext cx="4553712" cy="384048"/>
          </a:xfrm>
          <a:prstGeom prst="roundRect">
            <a:avLst>
              <a:gd name="adj" fmla="val 11905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967728" y="5029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treat</a:t>
            </a:r>
            <a:endParaRPr lang="en-US" sz="1180" dirty="0"/>
          </a:p>
        </p:txBody>
      </p:sp>
      <p:sp>
        <p:nvSpPr>
          <p:cNvPr id="38" name="Text 35"/>
          <p:cNvSpPr txBox="1"/>
          <p:nvPr/>
        </p:nvSpPr>
        <p:spPr>
          <a:xfrm>
            <a:off x="9601200" y="50292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0" y="50292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5541264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44-fold reduction. Prevalence and incidence are separate inputs, because a prevalence-only model understates a growing disease.</a:t>
            </a:r>
            <a:endParaRPr lang="en-US" sz="1140" dirty="0"/>
          </a:p>
        </p:txBody>
      </p:sp>
      <p:sp>
        <p:nvSpPr>
          <p:cNvPr id="41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1664208"/>
            <a:ext cx="10844784" cy="1572768"/>
          </a:xfrm>
          <a:prstGeom prst="roundRect">
            <a:avLst>
              <a:gd name="adj" fmla="val 4651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556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 ·  REACT SPA — THE MODEL RUNS HERE, WITH NO NETWORK CALL</a:t>
            </a:r>
            <a:endParaRPr lang="en-US" sz="960" dirty="0"/>
          </a:p>
        </p:txBody>
      </p:sp>
      <p:sp>
        <p:nvSpPr>
          <p:cNvPr id="6" name="Shape 4"/>
          <p:cNvSpPr/>
          <p:nvPr/>
        </p:nvSpPr>
        <p:spPr>
          <a:xfrm>
            <a:off x="804672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tabs</a:t>
            </a:r>
            <a:endParaRPr lang="en-US" sz="124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guided steps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566160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4FC3E8"/>
          </a:solidFill>
          <a:ln w="13970">
            <a:solidFill>
              <a:srgbClr val="4FC3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75888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engine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biaEngine.js · 11 functions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327648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7376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4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views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9089136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98864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124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Excel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3291840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53328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814816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04672" y="2670048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2843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sessionStorage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9089136" y="2670048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98864" y="2843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UI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713232" y="3584448"/>
            <a:ext cx="10844784" cy="1170432"/>
          </a:xfrm>
          <a:prstGeom prst="roundRect">
            <a:avLst>
              <a:gd name="adj" fmla="val 6250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367588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WEB SERVICE  ·  EXPRESS — ONE ORIGIN, NO CALCULATION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804672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host</a:t>
            </a:r>
            <a:endParaRPr lang="en-US" sz="124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built app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3566160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75888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3657600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/api/model/runs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6327648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37376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API</a:t>
            </a:r>
            <a:endParaRPr lang="en-US" sz="1240" dirty="0"/>
          </a:p>
        </p:txBody>
      </p:sp>
      <p:sp>
        <p:nvSpPr>
          <p:cNvPr id="35" name="Text 33"/>
          <p:cNvSpPr txBox="1"/>
          <p:nvPr/>
        </p:nvSpPr>
        <p:spPr>
          <a:xfrm>
            <a:off x="6419088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/api/v1/evitrack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9089136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198864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proxy</a:t>
            </a:r>
            <a:endParaRPr lang="en-US" sz="1240" dirty="0"/>
          </a:p>
        </p:txBody>
      </p:sp>
      <p:sp>
        <p:nvSpPr>
          <p:cNvPr id="38" name="Text 36"/>
          <p:cNvSpPr txBox="1"/>
          <p:nvPr/>
        </p:nvSpPr>
        <p:spPr>
          <a:xfrm>
            <a:off x="9180576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/api/chat · /api/v1/llm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6190488" y="3236976"/>
            <a:ext cx="0" cy="347472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6318504" y="3291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same origin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13232" y="5138928"/>
            <a:ext cx="10844784" cy="1170432"/>
          </a:xfrm>
          <a:prstGeom prst="roundRect">
            <a:avLst>
              <a:gd name="adj" fmla="val 6250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6112" y="52303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 ·  OPTIONAL STORE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3566160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6B7A9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675888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24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run history</a:t>
            </a:r>
            <a:endParaRPr lang="en-US" sz="940" dirty="0"/>
          </a:p>
        </p:txBody>
      </p:sp>
      <p:sp>
        <p:nvSpPr>
          <p:cNvPr id="46" name="Shape 44"/>
          <p:cNvSpPr/>
          <p:nvPr/>
        </p:nvSpPr>
        <p:spPr>
          <a:xfrm>
            <a:off x="6327648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E6F9EF"/>
          </a:solidFill>
          <a:ln w="13970">
            <a:solidFill>
              <a:srgbClr val="9FDCB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37376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sources</a:t>
            </a:r>
            <a:endParaRPr lang="en-US" sz="1240" dirty="0"/>
          </a:p>
        </p:txBody>
      </p:sp>
      <p:sp>
        <p:nvSpPr>
          <p:cNvPr id="48" name="Text 46"/>
          <p:cNvSpPr txBox="1"/>
          <p:nvPr/>
        </p:nvSpPr>
        <p:spPr>
          <a:xfrm>
            <a:off x="6419088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 · trials · FDA · WHO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9089136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E6F9EF"/>
          </a:solidFill>
          <a:ln w="13970">
            <a:solidFill>
              <a:srgbClr val="9FDCB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98864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providers</a:t>
            </a:r>
            <a:endParaRPr lang="en-US" sz="1240" dirty="0"/>
          </a:p>
        </p:txBody>
      </p:sp>
      <p:sp>
        <p:nvSpPr>
          <p:cNvPr id="51" name="Text 49"/>
          <p:cNvSpPr txBox="1"/>
          <p:nvPr/>
        </p:nvSpPr>
        <p:spPr>
          <a:xfrm>
            <a:off x="9180576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· Gemini</a:t>
            </a:r>
            <a:endParaRPr lang="en-US" sz="940" dirty="0"/>
          </a:p>
        </p:txBody>
      </p:sp>
      <p:sp>
        <p:nvSpPr>
          <p:cNvPr id="52" name="Shape 50"/>
          <p:cNvSpPr/>
          <p:nvPr/>
        </p:nvSpPr>
        <p:spPr>
          <a:xfrm>
            <a:off x="4809744" y="4480560"/>
            <a:ext cx="0" cy="969264"/>
          </a:xfrm>
          <a:prstGeom prst="line">
            <a:avLst/>
          </a:prstGeom>
          <a:noFill/>
          <a:ln w="19050">
            <a:solidFill>
              <a:srgbClr val="6B7A90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571232" y="4480560"/>
            <a:ext cx="0" cy="969264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332720" y="4480560"/>
            <a:ext cx="0" cy="969264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6035040" y="6144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= optional: with no database the app still runs.</a:t>
            </a:r>
            <a:endParaRPr lang="en-US" sz="960" dirty="0"/>
          </a:p>
        </p:txBody>
      </p:sp>
      <p:sp>
        <p:nvSpPr>
          <p:cNvPr id="56" name="Text 5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356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8356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8356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8356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8356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8356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8356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8356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8356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927080" y="548640"/>
            <a:ext cx="960120" cy="9601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1041380" y="662940"/>
            <a:ext cx="845820" cy="8458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155680" y="777240"/>
            <a:ext cx="731520" cy="7315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269980" y="891540"/>
            <a:ext cx="617220" cy="6172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384280" y="1005840"/>
            <a:ext cx="502920" cy="5029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498580" y="1120140"/>
            <a:ext cx="388620" cy="3886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612880" y="1234440"/>
            <a:ext cx="274320" cy="2743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727180" y="1348740"/>
            <a:ext cx="160020" cy="1600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841480" y="1463040"/>
            <a:ext cx="45720" cy="457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Model, data and how we check it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>
            <a:off x="713232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" y="2176272"/>
            <a:ext cx="310896" cy="310896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755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08176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&amp; model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cohort projection over the horizon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Adherence- and persistence-weighted treatment cost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Relative-risk event offsets, damped by a regain rate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for the break-even drug price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tornado: 10 parameters at ±20%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Undiscounted costs — ISPOR practice for BIA, not CEA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0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176272"/>
            <a:ext cx="310896" cy="310896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084064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63440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PubMed, ClinicalTrials.gov, openFDA — evidence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GHO, World Bank — epidemiology and expenditure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for a team's own parameters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overridable; provenance columns in schema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065008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39328" y="2176272"/>
            <a:ext cx="310896" cy="31089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39328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approach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automated tests — 14 economics, 24 validation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pinned to hand-calculable cases, not snapshots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re-solves to a net impact of zero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probed: 12 blocked, 10 flagged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13232" y="5632704"/>
            <a:ext cx="10716768" cy="676656"/>
          </a:xfrm>
          <a:prstGeom prst="roundRect">
            <a:avLst>
              <a:gd name="adj" fmla="val 10811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7552" y="5760720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ISPOR BIA GOOD PRACTICE</a:t>
            </a:r>
            <a:endParaRPr lang="en-US" sz="96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5998464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Budget-holder perspective  ·  3–5 year horizon  ·  current vs new treatment mix  ·  undiscounted costs  ·  total and PMPM reporting  ·  scenario analysis</a:t>
            </a:r>
            <a:endParaRPr lang="en-US" sz="102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tool returns</a:t>
            </a:r>
            <a:endParaRPr lang="en-US" sz="3400" dirty="0"/>
          </a:p>
        </p:txBody>
      </p:sp>
      <p:pic>
        <p:nvPicPr>
          <p:cNvPr id="4" name="Image 0" descr="/tmp/claude-0/-home-user-early-stage-bia-react-node-postgres/3c107fb9-fcab-5237-a1e7-c2f6f328748c/scratchpad/slideimg/s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00784"/>
            <a:ext cx="6492240" cy="3712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4681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 — Drug X, a GLP-1, in Germany. Demonstration values, not real product data.</a:t>
            </a:r>
            <a:endParaRPr lang="en-US" sz="1020" dirty="0"/>
          </a:p>
        </p:txBody>
      </p:sp>
      <p:sp>
        <p:nvSpPr>
          <p:cNvPr id="6" name="Shape 3"/>
          <p:cNvSpPr/>
          <p:nvPr/>
        </p:nvSpPr>
        <p:spPr>
          <a:xfrm>
            <a:off x="749808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4438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€296.6M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64438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budget impact, 5 years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950976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5606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65606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member per month, year 1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4438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67,083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treated at peak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5606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€613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annual price</a:t>
            </a:r>
            <a:endParaRPr lang="en-US" sz="98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4224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walkthrough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57200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936992" y="4572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 lives · 9% prevalence · 4→28% uptake · €3,200 drug</a:t>
            </a:r>
            <a:endParaRPr lang="en-US" sz="108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51023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936992" y="5102352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 eligible → 67,083 treated → €296.6M = €0.13 PMPM · 2,480 events avoided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hold up when pushed?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returns a confident wrong number is worse than one that refuses. We check the arithmetic against a case anyone can verify by hand.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2249424"/>
            <a:ext cx="5257800" cy="2395728"/>
          </a:xfrm>
          <a:prstGeom prst="roundRect">
            <a:avLst>
              <a:gd name="adj" fmla="val 381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39572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A REFERENCE CASE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7066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lives</a:t>
            </a:r>
            <a:endParaRPr lang="en-US" sz="114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70662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1,000,000</a:t>
            </a:r>
            <a:endParaRPr lang="en-US" sz="114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99923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prevalence 10%</a:t>
            </a:r>
            <a:endParaRPr lang="en-US" sz="114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29992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</a:t>
            </a:r>
            <a:endParaRPr lang="en-US" sz="114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29184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diagnosed 50%</a:t>
            </a:r>
            <a:endParaRPr lang="en-US" sz="114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2918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eligible</a:t>
            </a:r>
            <a:endParaRPr lang="en-US" sz="114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8444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uptake 100%, 1 year</a:t>
            </a:r>
            <a:endParaRPr lang="en-US" sz="114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5844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treated</a:t>
            </a:r>
            <a:endParaRPr lang="en-US" sz="114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8770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new drug ₹100/yr</a:t>
            </a:r>
            <a:endParaRPr lang="en-US" sz="114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8770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₹5,000,000</a:t>
            </a:r>
            <a:endParaRPr lang="en-US" sz="1140" dirty="0"/>
          </a:p>
        </p:txBody>
      </p:sp>
      <p:sp>
        <p:nvSpPr>
          <p:cNvPr id="17" name="Shape 15"/>
          <p:cNvSpPr/>
          <p:nvPr/>
        </p:nvSpPr>
        <p:spPr>
          <a:xfrm>
            <a:off x="950976" y="4224528"/>
            <a:ext cx="4809744" cy="0"/>
          </a:xfrm>
          <a:prstGeom prst="line">
            <a:avLst/>
          </a:prstGeom>
          <a:noFill/>
          <a:ln w="15240">
            <a:solidFill>
              <a:srgbClr val="9FD9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returns</a:t>
            </a:r>
            <a:endParaRPr lang="en-US" sz="118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43159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60" b="1" dirty="0">
                <a:solidFill>
                  <a:srgbClr val="0B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₹5,000,000  ✓</a:t>
            </a:r>
            <a:endParaRPr lang="en-US" sz="1260" dirty="0"/>
          </a:p>
        </p:txBody>
      </p:sp>
      <p:pic>
        <p:nvPicPr>
          <p:cNvPr id="20" name="Image 0" descr="/tmp/claude-0/-home-user-early-stage-bia-react-node-postgres/3c107fb9-fcab-5237-a1e7-c2f6f328748c/scratchpad/slideimg/s-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249424"/>
            <a:ext cx="5120640" cy="2926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309360" y="52486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— each parameter moved ±20% alone, sorted by how far the answer swings.</a:t>
            </a:r>
            <a:endParaRPr lang="en-US" sz="1020" dirty="0"/>
          </a:p>
        </p:txBody>
      </p:sp>
      <p:sp>
        <p:nvSpPr>
          <p:cNvPr id="22" name="Text 19"/>
          <p:cNvSpPr txBox="1"/>
          <p:nvPr/>
        </p:nvSpPr>
        <p:spPr>
          <a:xfrm>
            <a:off x="713232" y="484632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to changing assumptions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3232" y="5175504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 — 12 blocked, 10 flagged, none produce NaN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price re-solves to a net impact of zero</a:t>
            </a:r>
            <a:endParaRPr lang="en-US" sz="1120" dirty="0"/>
          </a:p>
        </p:txBody>
      </p:sp>
      <p:sp>
        <p:nvSpPr>
          <p:cNvPr id="24" name="Shape 21"/>
          <p:cNvSpPr/>
          <p:nvPr/>
        </p:nvSpPr>
        <p:spPr>
          <a:xfrm>
            <a:off x="6309360" y="5687568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1052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&lt;100ms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51052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recalculation</a:t>
            </a:r>
            <a:endParaRPr lang="en-US" sz="96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0216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60" dirty="0"/>
          </a:p>
        </p:txBody>
      </p:sp>
      <p:sp>
        <p:nvSpPr>
          <p:cNvPr id="29" name="Text 26"/>
          <p:cNvSpPr txBox="1"/>
          <p:nvPr/>
        </p:nvSpPr>
        <p:spPr>
          <a:xfrm>
            <a:off x="989380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89380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calls</a:t>
            </a:r>
            <a:endParaRPr lang="en-US" sz="960" dirty="0"/>
          </a:p>
        </p:txBody>
      </p:sp>
      <p:sp>
        <p:nvSpPr>
          <p:cNvPr id="31" name="Text 2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assumptions come from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challenge to any model is “where did that number come from?” EviTrack is our answer, inside the same tool.</a:t>
            </a:r>
            <a:endParaRPr lang="en-US" sz="1400" dirty="0"/>
          </a:p>
        </p:txBody>
      </p:sp>
      <p:pic>
        <p:nvPicPr>
          <p:cNvPr id="5" name="Image 0" descr="/tmp/claude-0/-home-user-early-stage-bia-react-node-postgres/3c107fb9-fcab-5237-a1e7-c2f6f328748c/scratchpad/slideimg/s-evi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49424"/>
            <a:ext cx="6675120" cy="3813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224942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public sources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2651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</a:t>
            </a:r>
            <a:endParaRPr lang="en-US" sz="122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8712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literature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7726680" y="3264408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21868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</a:t>
            </a:r>
            <a:endParaRPr lang="en-US" sz="122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381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registrations &amp; results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726680" y="3831336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37856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openFDA</a:t>
            </a:r>
            <a:endParaRPr lang="en-US" sz="122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40050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and adverse-event data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726680" y="4398264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43525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</a:t>
            </a:r>
            <a:endParaRPr lang="en-US" sz="122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57200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epidemiology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7726680" y="4965192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9194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Bank</a:t>
            </a:r>
            <a:endParaRPr lang="en-US" sz="122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51389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&amp; health expenditure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726680" y="5541264"/>
            <a:ext cx="3703320" cy="585216"/>
          </a:xfrm>
          <a:prstGeom prst="roundRect">
            <a:avLst>
              <a:gd name="adj" fmla="val 12500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36992" y="565099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summaries are constrained to the retrieved text and cannot alter any model input.</a:t>
            </a:r>
            <a:endParaRPr lang="en-US" sz="1060" dirty="0"/>
          </a:p>
        </p:txBody>
      </p:sp>
      <p:sp>
        <p:nvSpPr>
          <p:cNvPr id="24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50701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2568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066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75643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50624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925605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058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7556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work — what is actually done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honestly, so a reviewer does not have to find the edges themselves.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" y="2615184"/>
            <a:ext cx="3310128" cy="0"/>
          </a:xfrm>
          <a:prstGeom prst="line">
            <a:avLst/>
          </a:prstGeom>
          <a:noFill/>
          <a:ln w="20320">
            <a:solidFill>
              <a:srgbClr val="4FC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diseases with subgroups (obesity, T2D, MASH)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Comparators added or removed as whole columns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result views incl. tornado and audit trail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 and 6-sheet Excel export, in-browser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 across 5 public sources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history — compare two models side by side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and publicly reachable on Render</a:t>
            </a:r>
            <a:endParaRPr lang="en-US" sz="114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but not proven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2615184"/>
            <a:ext cx="3310128" cy="0"/>
          </a:xfrm>
          <a:prstGeom prst="line">
            <a:avLst/>
          </a:prstGeom>
          <a:noFill/>
          <a:ln w="20320">
            <a:solidFill>
              <a:srgbClr val="4A63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provenance schema — 14 tables exist, UI not wired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Public-data sync — implemented, off by default on free hosting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 works with a key, local answers without one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8065008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&amp; data gaps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65008" y="2615184"/>
            <a:ext cx="3310128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65008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country per model — no multi-market roll-up yet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Subgroups inherit parent parameters rather than their own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redistributes proportionally, not by displacement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sensitivity only, no probabilistic run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gap: no validated country cost set — demo values are illustrative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gap: clinical parameters not yet expert-reviewed</a:t>
            </a:r>
            <a:endParaRPr lang="en-US" sz="114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789920" y="4754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789920" y="4754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89920" y="4754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789920" y="4754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789920" y="4754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789920" y="4754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89920" y="4754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89920" y="4754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789920" y="4754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789920" y="47548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904220" y="5897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018520" y="7040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132820" y="8183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247120" y="9326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361420" y="10469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475720" y="11612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590020" y="12755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704320" y="13898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818620" y="15041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directions, each with the property that already makes it possible.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13232" y="2267712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2670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234086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it does not centralise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2688336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runs on the user's own machine, so a thousand analysts cost the same server capacity as one. The API is only touched for evidence search and persistence.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3566160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39684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&amp; market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926080" y="36393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data, not by code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2926080" y="3986784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disease is one registry entry with its subgroups and defaults — no engine change. The same is true of a new comparator or outcome. Multi-country roll-up is the next structural step.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13232" y="4864608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6694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49377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there is nothing to install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5285232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browser tab, holds no patient-level data, and degrades gracefully with no database and no API key — so a pilot needs no procurement or infrastructure review.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420624" cy="420624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225296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a published model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a peer-reviewed BIA end to end and publish the variance. This is what turns a prototype into something defensible.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3474720" y="2103120"/>
            <a:ext cx="420624" cy="420624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986784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Multi-country aggregation</a:t>
            </a:r>
            <a:endParaRPr lang="en-US" sz="132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markets in one model and roll them up to a regional total.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6236208" y="2103120"/>
            <a:ext cx="420624" cy="420624"/>
          </a:xfrm>
          <a:prstGeom prst="ellipse">
            <a:avLst/>
          </a:prstGeom>
          <a:solidFill>
            <a:srgbClr val="1D3A82"/>
          </a:solidFill>
          <a:ln w="12700">
            <a:solidFill>
              <a:srgbClr val="1D3A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6208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48272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6208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3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Subgroup-level parameters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costs and outcomes per subgroup instead of inherited ones.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8997696" y="2103120"/>
            <a:ext cx="420624" cy="420624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97696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997696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997696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sensitivity</a:t>
            </a:r>
            <a:endParaRPr lang="en-US" sz="1320" dirty="0"/>
          </a:p>
        </p:txBody>
      </p:sp>
      <p:sp>
        <p:nvSpPr>
          <p:cNvPr id="26" name="Text 24"/>
          <p:cNvSpPr txBox="1"/>
          <p:nvPr/>
        </p:nvSpPr>
        <p:spPr>
          <a:xfrm>
            <a:off x="8997696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over correlated parameters, beyond the current one-way tornado.</a:t>
            </a:r>
            <a:endParaRPr lang="en-US" sz="112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6268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risks and how we reduce them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parameters are paywalled or country-specific</a:t>
            </a:r>
            <a:endParaRPr lang="en-US" sz="11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open sources; every parameter is overridable and carries its origin.</a:t>
            </a:r>
            <a:endParaRPr lang="en-US" sz="1080" dirty="0"/>
          </a:p>
        </p:txBody>
      </p:sp>
      <p:sp>
        <p:nvSpPr>
          <p:cNvPr id="30" name="Text 28"/>
          <p:cNvSpPr txBox="1"/>
          <p:nvPr/>
        </p:nvSpPr>
        <p:spPr>
          <a:xfrm>
            <a:off x="624535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hosting sleeps; free database expires at 30 days</a:t>
            </a:r>
            <a:endParaRPr lang="en-US" sz="1160" dirty="0"/>
          </a:p>
        </p:txBody>
      </p:sp>
      <p:sp>
        <p:nvSpPr>
          <p:cNvPr id="31" name="Text 29"/>
          <p:cNvSpPr txBox="1"/>
          <p:nvPr/>
        </p:nvSpPr>
        <p:spPr>
          <a:xfrm>
            <a:off x="624535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runs with no database at all — search and calculation degrade gracefully.</a:t>
            </a:r>
            <a:endParaRPr lang="en-US" sz="108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assumptions need expert review</a:t>
            </a:r>
            <a:endParaRPr lang="en-US" sz="116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view exposes every assumption for an HEOR reviewer to challenge.</a:t>
            </a:r>
            <a:endParaRPr lang="en-US" sz="1080" dirty="0"/>
          </a:p>
        </p:txBody>
      </p:sp>
      <p:sp>
        <p:nvSpPr>
          <p:cNvPr id="34" name="Text 32"/>
          <p:cNvSpPr txBox="1"/>
          <p:nvPr/>
        </p:nvSpPr>
        <p:spPr>
          <a:xfrm>
            <a:off x="624535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if real patient data is ever involved</a:t>
            </a:r>
            <a:endParaRPr lang="en-US" sz="1160" dirty="0"/>
          </a:p>
        </p:txBody>
      </p:sp>
      <p:sp>
        <p:nvSpPr>
          <p:cNvPr id="35" name="Text 33"/>
          <p:cNvSpPr txBox="1"/>
          <p:nvPr/>
        </p:nvSpPr>
        <p:spPr>
          <a:xfrm>
            <a:off x="624535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Cohort-level by design; no patient-level data is stored anywhere.</a:t>
            </a:r>
            <a:endParaRPr lang="en-US" sz="108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67821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280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778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92763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67744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2725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1770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9268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967667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42648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39728" y="0"/>
            <a:ext cx="649224" cy="1371600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WHY IT MATTERS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786384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benefits, and how soon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181051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first-pass model in minutes, with sensitivity and an audit trail included rather than added later.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" y="257860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77063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they can interrogate — components reconcile, assumptions are visible, limits are stated.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pilot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353872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749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73075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affordability answers mean less delay between approval and access.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pathway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389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6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inside one therapy-area team on a live pricing question · stakeholders are the HEOR lead, market access and medical affairs · integration effort is low because it is a browser tab with no patient data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86868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984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 PMPM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a payer decides on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438912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028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weeks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recalculation, zero API calls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790956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1072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Shows its working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11072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exactly · 38 tests · limits stated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BIET — Budget Impact Estimation Tool</dc:title>
  <dc:subject>PptxGenJS Presentation</dc:subject>
  <dc:creator>Team Denovo, IBAB</dc:creator>
  <cp:lastModifiedBy>Team Denovo, IBAB</cp:lastModifiedBy>
  <cp:revision>1</cp:revision>
  <dcterms:created xsi:type="dcterms:W3CDTF">2026-09-04T18:07:18Z</dcterms:created>
  <dcterms:modified xsi:type="dcterms:W3CDTF">2026-09-04T18:07:18Z</dcterms:modified>
</cp:coreProperties>
</file>