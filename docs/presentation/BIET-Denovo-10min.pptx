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seconds. Say the name and the one-line claim, then move.
"We are Team Denovo from IBAB. BIET is a budget impact estimation tool: it takes a covered population and a new drug, and returns what reimbursing that drug does to a payer's budget over five years. This chain is the demonstration model you are about to see run live."
Do not read the three figures out one by one. Point at the last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seconds.
Open with the payer's question, not with the tool. "Before a price is agreed, an insurer wants one number: what does saying yes to this drug do to my budget over three to five years."
Then the three failures on the left, quickly. The point is not that Excel is bad. The point is that the model is unauditable and too slow to explore.
Close on the dark bar. Say it out loud: budget impact is affordability, not cost-effectiveness. A judge with an HEOR background will check that you know the difference in the first minute.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seconds. This is the pivot from problem to product.
Lead with the left card, and lead with the second figure not the first. "A budget impact analysis returns two things. First, what it costs: €296.6 million over five years, which is thirteen cents per covered member per month. Quote both, in that order, because the second is the unit the payer negotiates on."
Then the lower half, which is the part that matters for an early-stage asset: "Second, it tells you which assumption the answer actually turns on. Here it is the new drug's annual price, ranked first of ten. That is where the next evidence spend goes." At this stage every input is an estimate, so knowing which estimate to go and firm up is worth more than the point figure.
"BIET turns population data into a five-year payer forecast in a single sitting, with the scenarios, the sensitivity and the audit trail attached."
Take the three points in order, one sentence each. Point 1 is the engineering decision that makes the demo work. Point 3 is the one that makes the answer defensible.
Do not oversell. The claim is 10 minutes to a defensible early-stage estimate, not a validated HTA submission.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seconds on this slide, then switch to the browser. Budget about 4 minutes for the demo itself.
BEFORE THE SESSION: open the app and click through it once. The free Render instance sleeps after 15 minutes idle and the first request takes roughly 50 seconds to wake it. Waking it during the demo costs you most of your slot.
DEMO ROUTE, and say the value of each screen before you click it:
1. Load demo. "Drug X, a GLP-1, in Germany. Five years, insurer's view." It stays on tab one, it does not jump to the answer.
2. Population. "8 million lives down to 181,764 eligible. Prevalence and incidence are separate inputs, because the pool grows."
3. Uptake. "4% to 28%. This curve moves the answer more than price does."
4. Results. "€296.6 million over five years, which is 13 cents per member per month." Change one input live and let them watch every figure move. That is the whole pitch in one gesture.
5. Sensitivity. "And this is what would change that answer."
If the live app fails, go to the backup slides at the end. Do not debug on the 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seconds, straight after the demo. This slide exists so the numbers survive the moment the browser closes.
Lead with the pair. "€296.6 million sounds alarming. Thirteen cents per member per month is the same fact in the unit a payer actually negotiates on. Quote both, in that order."
The break-even price is the figure that usually draws the follow-up question: €613 a year is the price at which this drug costs the insurer nothing net. It reframes the pricing conversation.
Say the disclaimer line yourself rather than letting someone find it. Volunteering the limits of your own data buys credibility for everything else.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seconds. Lead with the decision, not the logo list.
"The whole engine runs client-side. That was not the first design: the model started on the server behind an API call. We moved it because the free Render instance sleeps and takes about 50 seconds to wake, and because round-tripping every keystroke makes a sensitivity tool feel broken."
The server still earns its place. Say what for: evidence APIs that block cross-origin requests, an LLM key that must not reach the browser, optional persistence.
The bottom line is the one to land with an engineering judge. We had two copies of the engine, they had drifted to a 16% disagreement on identical inputs, and we deleted the server copy rather than keep an endpoint that quietly returned a different answer. If asked: EUR 296.6M in the browser against EUR 249.9M through the API.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seconds. Do not read all eight lines.
Frame it once: "Every one of these is a limitation we can name in the tool today, which is why they are the roadmap rather than a wish list."
Then take two, not four. Probabilistic sensitivity is the one an HEOR judge cares about, because a one-way tornado is the honest but limited version. Multi-country is the one a commercial judge cares about, because that is how global teams plan.
Leave the other two on the slide for them to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seconds, and no longer. Names and one workstream each.
Cards run alphabetically by first name, so nobody reads as ranked above anyone else.
Two of the five are confirmed: Nilesh owns the evidence module, Sumithra owns the backend and the database. The other three titles were split across the remaining workstreams in the repository rather than from who actually did what, so check them. Each person should own the area they can answer questions about, because that is the only reason this slide is here.
To drop in photographs: click a circle, Format Shape, Fill, Picture, then delete the initials text box sitting over it.
If everyone is on camera, let each person say their own name and line. It is faster than one person reading five cards, and it puts a face against the workstream the judges may want to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minutes of Q&amp;A. Hand to the person who owns the area rather than answering everything yourself.
Likely questions and where the answer lives:
• "Where do the numbers come from?" → backup slide 10 and 12, and say plainly that the demonstration values are illustrative.
• "How do you know it is right?" → backup slide 13. 38 unit tests, and the negative cases matter more than the positive ones.
• "What is it missing?" → backup slide 14. Answer it straight; the limitations are already written down.
• "Is this an HTA model?" → No. Early-stage estimation, and it should be reviewed by HEOR before any decision relies on it.
If you do not know an answer, say so and say who would find out. Do not invent a number in a room of people who model for a living.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Use this if the live app will not load, or if a judge asks to see the output again during Q&amp;A.
The recommendation paragraph under the summary is generated from the model's own results, not written by hand. It names the largest driver and the most sensitive assumption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This is the slide that answers "how confident are you in that number".
Be honest about the limit: a one-way tornado moves one parameter at a time and ignores correlation between them. That is exactly why probabilistic sensitivity is first on the roadmap.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This is the answer to "why should we believe this number".
The point to make is that auditability was a design constraint, not a feature added afterwards. Economic arithmetic lives in one module. An earlier version had cost formulas duplicated across three components and they drifted, which is exactly the Excel failure the tool exists to fix.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and the strongest slide in the deck if an engineering judge is in the room.
The argument: for a budget impact model, a wrong answer that looks plausible is worse than an error. That is why the negative cases are the ones we care about. Market shares summing to 0.9 throws and names the total, rather than quietly modelling 90% of a market.
Volunteer the coverage gaps on the bottom line. Naming them is worth more than implying coverage we do not have, and a judge who finds one you hid will discount everything else.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Reach for this the moment someone asks what is missing, and answer without hedging.
Every one of these is already written down in the repository's architecture document under known limitations. Being able to name your own gaps in a Q&amp;A is the difference between a demo and a project.
Pair it with the roadmap slide: the first four limitations here are the first four things we would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173A"/>
        </a:solidFill>
      </p:bgPr>
    </p:bg>
    <p:spTree>
      <p:nvGrpSpPr>
        <p:cNvPr id="1" name=""/>
        <p:cNvGrpSpPr/>
        <p:nvPr/>
      </p:nvGrpSpPr>
      <p:grpSpPr>
        <a:xfrm>
          <a:off x="0" y="0"/>
          <a:ext cx="0" cy="0"/>
          <a:chOff x="0" y="0"/>
          <a:chExt cx="0" cy="0"/>
        </a:xfrm>
      </p:grpSpPr>
      <p:sp>
        <p:nvSpPr>
          <p:cNvPr id="2" name="Text 0"/>
          <p:cNvSpPr txBox="1"/>
          <p:nvPr/>
        </p:nvSpPr>
        <p:spPr>
          <a:xfrm>
            <a:off x="566928" y="566928"/>
            <a:ext cx="5486400" cy="274320"/>
          </a:xfrm>
          <a:prstGeom prst="rect">
            <a:avLst/>
          </a:prstGeom>
          <a:noFill/>
          <a:ln/>
        </p:spPr>
        <p:txBody>
          <a:bodyPr wrap="square" lIns="0" tIns="0" rIns="0" bIns="0" rtlCol="0" anchor="ctr"/>
          <a:lstStyle/>
          <a:p>
            <a:pPr indent="0" marL="0">
              <a:buNone/>
            </a:pPr>
            <a:r>
              <a:rPr lang="en-US" sz="1250" b="1" spc="300" kern="0" dirty="0">
                <a:solidFill>
                  <a:srgbClr val="B9B3E8"/>
                </a:solidFill>
                <a:latin typeface="Times New Roman" pitchFamily="34" charset="0"/>
                <a:ea typeface="Times New Roman" pitchFamily="34" charset="-122"/>
                <a:cs typeface="Times New Roman" pitchFamily="34" charset="-120"/>
              </a:rPr>
              <a:t>TEAM DENOVO  ·  IBAB</a:t>
            </a:r>
            <a:endParaRPr lang="en-US" sz="1250" dirty="0"/>
          </a:p>
        </p:txBody>
      </p:sp>
      <p:sp>
        <p:nvSpPr>
          <p:cNvPr id="3" name="Text 1"/>
          <p:cNvSpPr txBox="1"/>
          <p:nvPr/>
        </p:nvSpPr>
        <p:spPr>
          <a:xfrm>
            <a:off x="512064" y="2249424"/>
            <a:ext cx="5486400" cy="1371600"/>
          </a:xfrm>
          <a:prstGeom prst="rect">
            <a:avLst/>
          </a:prstGeom>
          <a:noFill/>
          <a:ln/>
        </p:spPr>
        <p:txBody>
          <a:bodyPr wrap="square" lIns="0" tIns="0" rIns="0" bIns="0" rtlCol="0" anchor="ctr"/>
          <a:lstStyle/>
          <a:p>
            <a:pPr indent="0" marL="0">
              <a:buNone/>
            </a:pPr>
            <a:r>
              <a:rPr lang="en-US" sz="9600" b="1" dirty="0">
                <a:solidFill>
                  <a:srgbClr val="FFFFFF"/>
                </a:solidFill>
                <a:latin typeface="Times New Roman" pitchFamily="34" charset="0"/>
                <a:ea typeface="Times New Roman" pitchFamily="34" charset="-122"/>
                <a:cs typeface="Times New Roman" pitchFamily="34" charset="-120"/>
              </a:rPr>
              <a:t>BIET</a:t>
            </a:r>
            <a:endParaRPr lang="en-US" sz="9600" dirty="0"/>
          </a:p>
        </p:txBody>
      </p:sp>
      <p:sp>
        <p:nvSpPr>
          <p:cNvPr id="4" name="Text 2"/>
          <p:cNvSpPr txBox="1"/>
          <p:nvPr/>
        </p:nvSpPr>
        <p:spPr>
          <a:xfrm>
            <a:off x="566928" y="3566160"/>
            <a:ext cx="5852160" cy="384048"/>
          </a:xfrm>
          <a:prstGeom prst="rect">
            <a:avLst/>
          </a:prstGeom>
          <a:noFill/>
          <a:ln/>
        </p:spPr>
        <p:txBody>
          <a:bodyPr wrap="square" lIns="0" tIns="0" rIns="0" bIns="0" rtlCol="0" anchor="ctr"/>
          <a:lstStyle/>
          <a:p>
            <a:pPr indent="0" marL="0">
              <a:buNone/>
            </a:pPr>
            <a:r>
              <a:rPr lang="en-US" sz="2300" dirty="0">
                <a:solidFill>
                  <a:srgbClr val="FFFFFF"/>
                </a:solidFill>
                <a:latin typeface="Times New Roman" pitchFamily="34" charset="0"/>
                <a:ea typeface="Times New Roman" pitchFamily="34" charset="-122"/>
                <a:cs typeface="Times New Roman" pitchFamily="34" charset="-120"/>
              </a:rPr>
              <a:t>Budget Impact Estimation Tool</a:t>
            </a:r>
            <a:endParaRPr lang="en-US" sz="2300" dirty="0"/>
          </a:p>
        </p:txBody>
      </p:sp>
      <p:sp>
        <p:nvSpPr>
          <p:cNvPr id="5" name="Text 3"/>
          <p:cNvSpPr txBox="1"/>
          <p:nvPr/>
        </p:nvSpPr>
        <p:spPr>
          <a:xfrm>
            <a:off x="566928" y="4041648"/>
            <a:ext cx="5577840" cy="548640"/>
          </a:xfrm>
          <a:prstGeom prst="rect">
            <a:avLst/>
          </a:prstGeom>
          <a:noFill/>
          <a:ln/>
        </p:spPr>
        <p:txBody>
          <a:bodyPr wrap="square" lIns="0" tIns="0" rIns="0" bIns="0" rtlCol="0" anchor="ctr"/>
          <a:lstStyle/>
          <a:p>
            <a:pPr indent="0" marL="0">
              <a:lnSpc>
                <a:spcPct val="115000"/>
              </a:lnSpc>
              <a:buNone/>
            </a:pPr>
            <a:r>
              <a:rPr lang="en-US" sz="1500" dirty="0">
                <a:solidFill>
                  <a:srgbClr val="B9B3E8"/>
                </a:solidFill>
                <a:latin typeface="Times New Roman" pitchFamily="34" charset="0"/>
                <a:ea typeface="Times New Roman" pitchFamily="34" charset="-122"/>
                <a:cs typeface="Times New Roman" pitchFamily="34" charset="-120"/>
              </a:rPr>
              <a:t>Five-year payer budget forecasts for early-stage drug programmes.</a:t>
            </a:r>
            <a:endParaRPr lang="en-US" sz="1500" dirty="0"/>
          </a:p>
        </p:txBody>
      </p:sp>
      <p:sp>
        <p:nvSpPr>
          <p:cNvPr id="6" name="Shape 4"/>
          <p:cNvSpPr/>
          <p:nvPr/>
        </p:nvSpPr>
        <p:spPr>
          <a:xfrm>
            <a:off x="6949440" y="1783080"/>
            <a:ext cx="4672584" cy="3310128"/>
          </a:xfrm>
          <a:prstGeom prst="roundRect">
            <a:avLst>
              <a:gd name="adj" fmla="val 1657"/>
            </a:avLst>
          </a:prstGeom>
          <a:solidFill>
            <a:srgbClr val="24265A"/>
          </a:solidFill>
          <a:ln/>
          <a:effectLst>
            <a:outerShdw sx="100000" sy="100000" kx="0" ky="0" algn="bl" rotWithShape="0" blurRad="101600" dist="25400" dir="5400000">
              <a:srgbClr val="000000">
                <a:alpha val="18000"/>
              </a:srgbClr>
            </a:outerShdw>
          </a:effectLst>
        </p:spPr>
      </p:sp>
      <p:sp>
        <p:nvSpPr>
          <p:cNvPr id="7" name="Text 5"/>
          <p:cNvSpPr txBox="1"/>
          <p:nvPr/>
        </p:nvSpPr>
        <p:spPr>
          <a:xfrm>
            <a:off x="7333488" y="2084832"/>
            <a:ext cx="3904488" cy="237744"/>
          </a:xfrm>
          <a:prstGeom prst="rect">
            <a:avLst/>
          </a:prstGeom>
          <a:noFill/>
          <a:ln/>
        </p:spPr>
        <p:txBody>
          <a:bodyPr wrap="square" lIns="0" tIns="0" rIns="0" bIns="0" rtlCol="0" anchor="ctr"/>
          <a:lstStyle/>
          <a:p>
            <a:pPr indent="0" marL="0">
              <a:buNone/>
            </a:pPr>
            <a:r>
              <a:rPr lang="en-US" sz="1050" b="1" spc="180" kern="0" dirty="0">
                <a:solidFill>
                  <a:srgbClr val="B9B3E8"/>
                </a:solidFill>
                <a:latin typeface="Times New Roman" pitchFamily="34" charset="0"/>
                <a:ea typeface="Times New Roman" pitchFamily="34" charset="-122"/>
                <a:cs typeface="Times New Roman" pitchFamily="34" charset="-120"/>
              </a:rPr>
              <a:t>THE DEMONSTRATION MODEL, END TO END</a:t>
            </a:r>
            <a:endParaRPr lang="en-US" sz="1050" dirty="0"/>
          </a:p>
        </p:txBody>
      </p:sp>
      <p:sp>
        <p:nvSpPr>
          <p:cNvPr id="8" name="Text 6"/>
          <p:cNvSpPr txBox="1"/>
          <p:nvPr/>
        </p:nvSpPr>
        <p:spPr>
          <a:xfrm>
            <a:off x="7333488" y="2523744"/>
            <a:ext cx="2148840" cy="384048"/>
          </a:xfrm>
          <a:prstGeom prst="rect">
            <a:avLst/>
          </a:prstGeom>
          <a:noFill/>
          <a:ln/>
        </p:spPr>
        <p:txBody>
          <a:bodyPr wrap="square" lIns="0" tIns="0" rIns="0" bIns="0" rtlCol="0" anchor="ctr"/>
          <a:lstStyle/>
          <a:p>
            <a:pPr indent="0" marL="0">
              <a:buNone/>
            </a:pPr>
            <a:r>
              <a:rPr lang="en-US" sz="2500" b="1" dirty="0">
                <a:solidFill>
                  <a:srgbClr val="FFFFFF"/>
                </a:solidFill>
                <a:latin typeface="Times New Roman" pitchFamily="34" charset="0"/>
                <a:ea typeface="Times New Roman" pitchFamily="34" charset="-122"/>
                <a:cs typeface="Times New Roman" pitchFamily="34" charset="-120"/>
              </a:rPr>
              <a:t>8,000,000</a:t>
            </a:r>
            <a:endParaRPr lang="en-US" sz="2500" dirty="0"/>
          </a:p>
        </p:txBody>
      </p:sp>
      <p:sp>
        <p:nvSpPr>
          <p:cNvPr id="9" name="Text 7"/>
          <p:cNvSpPr txBox="1"/>
          <p:nvPr/>
        </p:nvSpPr>
        <p:spPr>
          <a:xfrm>
            <a:off x="7333488" y="2889504"/>
            <a:ext cx="2834640" cy="237744"/>
          </a:xfrm>
          <a:prstGeom prst="rect">
            <a:avLst/>
          </a:prstGeom>
          <a:noFill/>
          <a:ln/>
        </p:spPr>
        <p:txBody>
          <a:bodyPr wrap="square" lIns="0" tIns="0" rIns="0" bIns="0" rtlCol="0" anchor="ctr"/>
          <a:lstStyle/>
          <a:p>
            <a:pPr indent="0" marL="0">
              <a:buNone/>
            </a:pPr>
            <a:r>
              <a:rPr lang="en-US" sz="1200" dirty="0">
                <a:solidFill>
                  <a:srgbClr val="B9B3E8"/>
                </a:solidFill>
                <a:latin typeface="Times New Roman" pitchFamily="34" charset="0"/>
                <a:ea typeface="Times New Roman" pitchFamily="34" charset="-122"/>
                <a:cs typeface="Times New Roman" pitchFamily="34" charset="-120"/>
              </a:rPr>
              <a:t>covered lives, Germany</a:t>
            </a:r>
            <a:endParaRPr lang="en-US" sz="1200" dirty="0"/>
          </a:p>
        </p:txBody>
      </p:sp>
      <p:sp>
        <p:nvSpPr>
          <p:cNvPr id="10" name="Text 8"/>
          <p:cNvSpPr txBox="1"/>
          <p:nvPr/>
        </p:nvSpPr>
        <p:spPr>
          <a:xfrm>
            <a:off x="7333488" y="3127248"/>
            <a:ext cx="365760" cy="237744"/>
          </a:xfrm>
          <a:prstGeom prst="rect">
            <a:avLst/>
          </a:prstGeom>
          <a:noFill/>
          <a:ln/>
        </p:spPr>
        <p:txBody>
          <a:bodyPr wrap="square" lIns="0" tIns="0" rIns="0" bIns="0" rtlCol="0" anchor="ctr"/>
          <a:lstStyle/>
          <a:p>
            <a:pPr indent="0" marL="0">
              <a:buNone/>
            </a:pPr>
            <a:r>
              <a:rPr lang="en-US" sz="1300" dirty="0">
                <a:solidFill>
                  <a:srgbClr val="8B85C6"/>
                </a:solidFill>
                <a:latin typeface="Times New Roman" pitchFamily="34" charset="0"/>
                <a:ea typeface="Times New Roman" pitchFamily="34" charset="-122"/>
                <a:cs typeface="Times New Roman" pitchFamily="34" charset="-120"/>
              </a:rPr>
              <a:t>↓</a:t>
            </a:r>
            <a:endParaRPr lang="en-US" sz="1300" dirty="0"/>
          </a:p>
        </p:txBody>
      </p:sp>
      <p:sp>
        <p:nvSpPr>
          <p:cNvPr id="11" name="Text 9"/>
          <p:cNvSpPr txBox="1"/>
          <p:nvPr/>
        </p:nvSpPr>
        <p:spPr>
          <a:xfrm>
            <a:off x="7333488" y="3383280"/>
            <a:ext cx="2148840" cy="384048"/>
          </a:xfrm>
          <a:prstGeom prst="rect">
            <a:avLst/>
          </a:prstGeom>
          <a:noFill/>
          <a:ln/>
        </p:spPr>
        <p:txBody>
          <a:bodyPr wrap="square" lIns="0" tIns="0" rIns="0" bIns="0" rtlCol="0" anchor="ctr"/>
          <a:lstStyle/>
          <a:p>
            <a:pPr indent="0" marL="0">
              <a:buNone/>
            </a:pPr>
            <a:r>
              <a:rPr lang="en-US" sz="2500" b="1" dirty="0">
                <a:solidFill>
                  <a:srgbClr val="FFFFFF"/>
                </a:solidFill>
                <a:latin typeface="Times New Roman" pitchFamily="34" charset="0"/>
                <a:ea typeface="Times New Roman" pitchFamily="34" charset="-122"/>
                <a:cs typeface="Times New Roman" pitchFamily="34" charset="-120"/>
              </a:rPr>
              <a:t>181,764</a:t>
            </a:r>
            <a:endParaRPr lang="en-US" sz="2500" dirty="0"/>
          </a:p>
        </p:txBody>
      </p:sp>
      <p:sp>
        <p:nvSpPr>
          <p:cNvPr id="12" name="Text 10"/>
          <p:cNvSpPr txBox="1"/>
          <p:nvPr/>
        </p:nvSpPr>
        <p:spPr>
          <a:xfrm>
            <a:off x="7333488" y="3749040"/>
            <a:ext cx="2834640" cy="237744"/>
          </a:xfrm>
          <a:prstGeom prst="rect">
            <a:avLst/>
          </a:prstGeom>
          <a:noFill/>
          <a:ln/>
        </p:spPr>
        <p:txBody>
          <a:bodyPr wrap="square" lIns="0" tIns="0" rIns="0" bIns="0" rtlCol="0" anchor="ctr"/>
          <a:lstStyle/>
          <a:p>
            <a:pPr indent="0" marL="0">
              <a:buNone/>
            </a:pPr>
            <a:r>
              <a:rPr lang="en-US" sz="1200" dirty="0">
                <a:solidFill>
                  <a:srgbClr val="B9B3E8"/>
                </a:solidFill>
                <a:latin typeface="Times New Roman" pitchFamily="34" charset="0"/>
                <a:ea typeface="Times New Roman" pitchFamily="34" charset="-122"/>
                <a:cs typeface="Times New Roman" pitchFamily="34" charset="-120"/>
              </a:rPr>
              <a:t>eligible patients, year 1</a:t>
            </a:r>
            <a:endParaRPr lang="en-US" sz="1200" dirty="0"/>
          </a:p>
        </p:txBody>
      </p:sp>
      <p:sp>
        <p:nvSpPr>
          <p:cNvPr id="13" name="Text 11"/>
          <p:cNvSpPr txBox="1"/>
          <p:nvPr/>
        </p:nvSpPr>
        <p:spPr>
          <a:xfrm>
            <a:off x="7333488" y="3986784"/>
            <a:ext cx="365760" cy="237744"/>
          </a:xfrm>
          <a:prstGeom prst="rect">
            <a:avLst/>
          </a:prstGeom>
          <a:noFill/>
          <a:ln/>
        </p:spPr>
        <p:txBody>
          <a:bodyPr wrap="square" lIns="0" tIns="0" rIns="0" bIns="0" rtlCol="0" anchor="ctr"/>
          <a:lstStyle/>
          <a:p>
            <a:pPr indent="0" marL="0">
              <a:buNone/>
            </a:pPr>
            <a:r>
              <a:rPr lang="en-US" sz="1300" dirty="0">
                <a:solidFill>
                  <a:srgbClr val="8B85C6"/>
                </a:solidFill>
                <a:latin typeface="Times New Roman" pitchFamily="34" charset="0"/>
                <a:ea typeface="Times New Roman" pitchFamily="34" charset="-122"/>
                <a:cs typeface="Times New Roman" pitchFamily="34" charset="-120"/>
              </a:rPr>
              <a:t>↓</a:t>
            </a:r>
            <a:endParaRPr lang="en-US" sz="1300" dirty="0"/>
          </a:p>
        </p:txBody>
      </p:sp>
      <p:sp>
        <p:nvSpPr>
          <p:cNvPr id="14" name="Text 12"/>
          <p:cNvSpPr txBox="1"/>
          <p:nvPr/>
        </p:nvSpPr>
        <p:spPr>
          <a:xfrm>
            <a:off x="7333488" y="4242816"/>
            <a:ext cx="2148840" cy="384048"/>
          </a:xfrm>
          <a:prstGeom prst="rect">
            <a:avLst/>
          </a:prstGeom>
          <a:noFill/>
          <a:ln/>
        </p:spPr>
        <p:txBody>
          <a:bodyPr wrap="square" lIns="0" tIns="0" rIns="0" bIns="0" rtlCol="0" anchor="ctr"/>
          <a:lstStyle/>
          <a:p>
            <a:pPr indent="0" marL="0">
              <a:buNone/>
            </a:pPr>
            <a:r>
              <a:rPr lang="en-US" sz="2500" b="1" dirty="0">
                <a:solidFill>
                  <a:srgbClr val="F2853A"/>
                </a:solidFill>
                <a:latin typeface="Times New Roman" pitchFamily="34" charset="0"/>
                <a:ea typeface="Times New Roman" pitchFamily="34" charset="-122"/>
                <a:cs typeface="Times New Roman" pitchFamily="34" charset="-120"/>
              </a:rPr>
              <a:t>€296.6M</a:t>
            </a:r>
            <a:endParaRPr lang="en-US" sz="2500" dirty="0"/>
          </a:p>
        </p:txBody>
      </p:sp>
      <p:sp>
        <p:nvSpPr>
          <p:cNvPr id="15" name="Text 13"/>
          <p:cNvSpPr txBox="1"/>
          <p:nvPr/>
        </p:nvSpPr>
        <p:spPr>
          <a:xfrm>
            <a:off x="7333488" y="4608576"/>
            <a:ext cx="2834640" cy="237744"/>
          </a:xfrm>
          <a:prstGeom prst="rect">
            <a:avLst/>
          </a:prstGeom>
          <a:noFill/>
          <a:ln/>
        </p:spPr>
        <p:txBody>
          <a:bodyPr wrap="square" lIns="0" tIns="0" rIns="0" bIns="0" rtlCol="0" anchor="ctr"/>
          <a:lstStyle/>
          <a:p>
            <a:pPr indent="0" marL="0">
              <a:buNone/>
            </a:pPr>
            <a:r>
              <a:rPr lang="en-US" sz="1200" dirty="0">
                <a:solidFill>
                  <a:srgbClr val="B9B3E8"/>
                </a:solidFill>
                <a:latin typeface="Times New Roman" pitchFamily="34" charset="0"/>
                <a:ea typeface="Times New Roman" pitchFamily="34" charset="-122"/>
                <a:cs typeface="Times New Roman" pitchFamily="34" charset="-120"/>
              </a:rPr>
              <a:t>net budget impact, 5 years</a:t>
            </a:r>
            <a:endParaRPr lang="en-US" sz="1200" dirty="0"/>
          </a:p>
        </p:txBody>
      </p:sp>
      <p:sp>
        <p:nvSpPr>
          <p:cNvPr id="16" name="Text 14"/>
          <p:cNvSpPr txBox="1"/>
          <p:nvPr/>
        </p:nvSpPr>
        <p:spPr>
          <a:xfrm>
            <a:off x="566928" y="5989320"/>
            <a:ext cx="4572000" cy="274320"/>
          </a:xfrm>
          <a:prstGeom prst="rect">
            <a:avLst/>
          </a:prstGeom>
          <a:noFill/>
          <a:ln/>
        </p:spPr>
        <p:txBody>
          <a:bodyPr wrap="square" lIns="0" tIns="0" rIns="0" bIns="0" rtlCol="0" anchor="ctr"/>
          <a:lstStyle/>
          <a:p>
            <a:pPr indent="0" marL="0">
              <a:buNone/>
            </a:pPr>
            <a:r>
              <a:rPr lang="en-US" sz="1300" dirty="0">
                <a:solidFill>
                  <a:srgbClr val="B9B3E8"/>
                </a:solidFill>
                <a:latin typeface="Times New Roman" pitchFamily="34" charset="0"/>
                <a:ea typeface="Times New Roman" pitchFamily="34" charset="-122"/>
                <a:cs typeface="Times New Roman" pitchFamily="34" charset="-120"/>
              </a:rPr>
              <a:t>early-stage-bia.onrender.com</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65760"/>
            <a:ext cx="11057839" cy="237744"/>
          </a:xfrm>
          <a:prstGeom prst="rect">
            <a:avLst/>
          </a:prstGeom>
          <a:noFill/>
          <a:ln/>
        </p:spPr>
        <p:txBody>
          <a:bodyPr wrap="square" lIns="0" tIns="0" rIns="0" bIns="0" rtlCol="0" anchor="ctr"/>
          <a:lstStyle/>
          <a:p>
            <a:pPr indent="0" marL="0">
              <a:buNone/>
            </a:pPr>
            <a:r>
              <a:rPr lang="en-US" sz="1200" b="1" spc="240" kern="0" dirty="0">
                <a:solidFill>
                  <a:srgbClr val="5B3BD4"/>
                </a:solidFill>
                <a:latin typeface="Times New Roman" pitchFamily="34" charset="0"/>
                <a:ea typeface="Times New Roman" pitchFamily="34" charset="-122"/>
                <a:cs typeface="Times New Roman" pitchFamily="34" charset="-120"/>
              </a:rPr>
              <a:t>01 · THE PROBLEM</a:t>
            </a:r>
            <a:endParaRPr lang="en-US" sz="1200" dirty="0"/>
          </a:p>
        </p:txBody>
      </p:sp>
      <p:sp>
        <p:nvSpPr>
          <p:cNvPr id="3" name="Text 1"/>
          <p:cNvSpPr txBox="1"/>
          <p:nvPr/>
        </p:nvSpPr>
        <p:spPr>
          <a:xfrm>
            <a:off x="566928" y="676656"/>
            <a:ext cx="11057839" cy="658368"/>
          </a:xfrm>
          <a:prstGeom prst="rect">
            <a:avLst/>
          </a:prstGeom>
          <a:noFill/>
          <a:ln/>
        </p:spPr>
        <p:txBody>
          <a:bodyPr wrap="square" lIns="0" tIns="0" rIns="0" bIns="0" rtlCol="0" anchor="ctr"/>
          <a:lstStyle/>
          <a:p>
            <a:pPr indent="0" marL="0">
              <a:lnSpc>
                <a:spcPct val="92000"/>
              </a:lnSpc>
              <a:buNone/>
            </a:pPr>
            <a:r>
              <a:rPr lang="en-US" sz="3600" b="1" dirty="0">
                <a:solidFill>
                  <a:srgbClr val="16173A"/>
                </a:solidFill>
                <a:latin typeface="Times New Roman" pitchFamily="34" charset="0"/>
                <a:ea typeface="Times New Roman" pitchFamily="34" charset="-122"/>
                <a:cs typeface="Times New Roman" pitchFamily="34" charset="-120"/>
              </a:rPr>
              <a:t>“What will this do to my budget?”</a:t>
            </a:r>
            <a:endParaRPr lang="en-US" sz="3600" dirty="0"/>
          </a:p>
        </p:txBody>
      </p:sp>
      <p:sp>
        <p:nvSpPr>
          <p:cNvPr id="4" name="Text 2"/>
          <p:cNvSpPr txBox="1"/>
          <p:nvPr/>
        </p:nvSpPr>
        <p:spPr>
          <a:xfrm>
            <a:off x="566928" y="1389888"/>
            <a:ext cx="9966960" cy="566928"/>
          </a:xfrm>
          <a:prstGeom prst="rect">
            <a:avLst/>
          </a:prstGeom>
          <a:noFill/>
          <a:ln/>
        </p:spPr>
        <p:txBody>
          <a:bodyPr wrap="square" lIns="0" tIns="0" rIns="0" bIns="0" rtlCol="0" anchor="ctr"/>
          <a:lstStyle/>
          <a:p>
            <a:pPr indent="0" marL="0">
              <a:lnSpc>
                <a:spcPct val="112000"/>
              </a:lnSpc>
              <a:buNone/>
            </a:pPr>
            <a:r>
              <a:rPr lang="en-US" sz="1500" dirty="0">
                <a:solidFill>
                  <a:srgbClr val="56597D"/>
                </a:solidFill>
                <a:latin typeface="Times New Roman" pitchFamily="34" charset="0"/>
                <a:ea typeface="Times New Roman" pitchFamily="34" charset="-122"/>
                <a:cs typeface="Times New Roman" pitchFamily="34" charset="-120"/>
              </a:rPr>
              <a:t>It is the first question a payer asks, and the one an early-stage team is least equipped to answer. Answering it once takes weeks of bespoke spreadsheet work. Answering it again takes another few weeks.</a:t>
            </a:r>
            <a:endParaRPr lang="en-US" sz="1500" dirty="0"/>
          </a:p>
        </p:txBody>
      </p:sp>
      <p:sp>
        <p:nvSpPr>
          <p:cNvPr id="5" name="Shape 3"/>
          <p:cNvSpPr/>
          <p:nvPr/>
        </p:nvSpPr>
        <p:spPr>
          <a:xfrm>
            <a:off x="566928" y="2139696"/>
            <a:ext cx="5486400" cy="2798064"/>
          </a:xfrm>
          <a:prstGeom prst="roundRect">
            <a:avLst>
              <a:gd name="adj" fmla="val 1961"/>
            </a:avLst>
          </a:prstGeom>
          <a:solidFill>
            <a:srgbClr val="F4F3FB"/>
          </a:solidFill>
          <a:ln/>
          <a:effectLst>
            <a:outerShdw sx="100000" sy="100000" kx="0" ky="0" algn="bl" rotWithShape="0" blurRad="127000" dist="25400" dir="5400000">
              <a:srgbClr val="1B1B4A">
                <a:alpha val="10000"/>
              </a:srgbClr>
            </a:outerShdw>
          </a:effectLst>
        </p:spPr>
      </p:sp>
      <p:sp>
        <p:nvSpPr>
          <p:cNvPr id="6" name="Text 4"/>
          <p:cNvSpPr txBox="1"/>
          <p:nvPr/>
        </p:nvSpPr>
        <p:spPr>
          <a:xfrm>
            <a:off x="932688" y="2395728"/>
            <a:ext cx="4754880" cy="292608"/>
          </a:xfrm>
          <a:prstGeom prst="rect">
            <a:avLst/>
          </a:prstGeom>
          <a:noFill/>
          <a:ln/>
        </p:spPr>
        <p:txBody>
          <a:bodyPr wrap="square" lIns="0" tIns="0" rIns="0" bIns="0" rtlCol="0" anchor="ctr"/>
          <a:lstStyle/>
          <a:p>
            <a:pPr indent="0" marL="0">
              <a:buNone/>
            </a:pPr>
            <a:r>
              <a:rPr lang="en-US" sz="1600" b="1" dirty="0">
                <a:solidFill>
                  <a:srgbClr val="16173A"/>
                </a:solidFill>
                <a:latin typeface="Times New Roman" pitchFamily="34" charset="0"/>
                <a:ea typeface="Times New Roman" pitchFamily="34" charset="-122"/>
                <a:cs typeface="Times New Roman" pitchFamily="34" charset="-120"/>
              </a:rPr>
              <a:t>How it is answered today</a:t>
            </a:r>
            <a:endParaRPr lang="en-US" sz="1600" dirty="0"/>
          </a:p>
        </p:txBody>
      </p:sp>
      <p:sp>
        <p:nvSpPr>
          <p:cNvPr id="7" name="Shape 5"/>
          <p:cNvSpPr/>
          <p:nvPr/>
        </p:nvSpPr>
        <p:spPr>
          <a:xfrm>
            <a:off x="950976" y="2907792"/>
            <a:ext cx="100584" cy="100584"/>
          </a:xfrm>
          <a:prstGeom prst="roundRect">
            <a:avLst>
              <a:gd name="adj" fmla="val 45455"/>
            </a:avLst>
          </a:prstGeom>
          <a:solidFill>
            <a:srgbClr val="5B3BD4"/>
          </a:solidFill>
          <a:ln/>
        </p:spPr>
      </p:sp>
      <p:sp>
        <p:nvSpPr>
          <p:cNvPr id="8" name="Text 6"/>
          <p:cNvSpPr txBox="1"/>
          <p:nvPr/>
        </p:nvSpPr>
        <p:spPr>
          <a:xfrm>
            <a:off x="1225296" y="2816352"/>
            <a:ext cx="4480560" cy="548640"/>
          </a:xfrm>
          <a:prstGeom prst="rect">
            <a:avLst/>
          </a:prstGeom>
          <a:noFill/>
          <a:ln/>
        </p:spPr>
        <p:txBody>
          <a:bodyPr wrap="square" lIns="0" tIns="0" rIns="0" bIns="0" rtlCol="0" anchor="ctr"/>
          <a:lstStyle/>
          <a:p>
            <a:pPr indent="0" marL="0">
              <a:lnSpc>
                <a:spcPct val="108000"/>
              </a:lnSpc>
              <a:buNone/>
            </a:pPr>
            <a:r>
              <a:rPr lang="en-US" sz="1350" dirty="0">
                <a:solidFill>
                  <a:srgbClr val="34365A"/>
                </a:solidFill>
                <a:latin typeface="Times New Roman" pitchFamily="34" charset="0"/>
                <a:ea typeface="Times New Roman" pitchFamily="34" charset="-122"/>
                <a:cs typeface="Times New Roman" pitchFamily="34" charset="-120"/>
              </a:rPr>
              <a:t>Built from scratch in Excel, for every product and every market.</a:t>
            </a:r>
            <a:endParaRPr lang="en-US" sz="1350" dirty="0"/>
          </a:p>
        </p:txBody>
      </p:sp>
      <p:sp>
        <p:nvSpPr>
          <p:cNvPr id="9" name="Shape 7"/>
          <p:cNvSpPr/>
          <p:nvPr/>
        </p:nvSpPr>
        <p:spPr>
          <a:xfrm>
            <a:off x="950976" y="3566160"/>
            <a:ext cx="100584" cy="100584"/>
          </a:xfrm>
          <a:prstGeom prst="roundRect">
            <a:avLst>
              <a:gd name="adj" fmla="val 45455"/>
            </a:avLst>
          </a:prstGeom>
          <a:solidFill>
            <a:srgbClr val="5B3BD4"/>
          </a:solidFill>
          <a:ln/>
        </p:spPr>
      </p:sp>
      <p:sp>
        <p:nvSpPr>
          <p:cNvPr id="10" name="Text 8"/>
          <p:cNvSpPr txBox="1"/>
          <p:nvPr/>
        </p:nvSpPr>
        <p:spPr>
          <a:xfrm>
            <a:off x="1225296" y="3474720"/>
            <a:ext cx="4480560" cy="548640"/>
          </a:xfrm>
          <a:prstGeom prst="rect">
            <a:avLst/>
          </a:prstGeom>
          <a:noFill/>
          <a:ln/>
        </p:spPr>
        <p:txBody>
          <a:bodyPr wrap="square" lIns="0" tIns="0" rIns="0" bIns="0" rtlCol="0" anchor="ctr"/>
          <a:lstStyle/>
          <a:p>
            <a:pPr indent="0" marL="0">
              <a:lnSpc>
                <a:spcPct val="108000"/>
              </a:lnSpc>
              <a:buNone/>
            </a:pPr>
            <a:r>
              <a:rPr lang="en-US" sz="1350" dirty="0">
                <a:solidFill>
                  <a:srgbClr val="34365A"/>
                </a:solidFill>
                <a:latin typeface="Times New Roman" pitchFamily="34" charset="0"/>
                <a:ea typeface="Times New Roman" pitchFamily="34" charset="-122"/>
                <a:cs typeface="Times New Roman" pitchFamily="34" charset="-120"/>
              </a:rPr>
              <a:t>Formulas sit in cells no reviewer can trace, so the answer is accepted or rejected whole.</a:t>
            </a:r>
            <a:endParaRPr lang="en-US" sz="1350" dirty="0"/>
          </a:p>
        </p:txBody>
      </p:sp>
      <p:sp>
        <p:nvSpPr>
          <p:cNvPr id="11" name="Shape 9"/>
          <p:cNvSpPr/>
          <p:nvPr/>
        </p:nvSpPr>
        <p:spPr>
          <a:xfrm>
            <a:off x="950976" y="4224528"/>
            <a:ext cx="100584" cy="100584"/>
          </a:xfrm>
          <a:prstGeom prst="roundRect">
            <a:avLst>
              <a:gd name="adj" fmla="val 45455"/>
            </a:avLst>
          </a:prstGeom>
          <a:solidFill>
            <a:srgbClr val="5B3BD4"/>
          </a:solidFill>
          <a:ln/>
        </p:spPr>
      </p:sp>
      <p:sp>
        <p:nvSpPr>
          <p:cNvPr id="12" name="Text 10"/>
          <p:cNvSpPr txBox="1"/>
          <p:nvPr/>
        </p:nvSpPr>
        <p:spPr>
          <a:xfrm>
            <a:off x="1225296" y="4133088"/>
            <a:ext cx="4480560" cy="548640"/>
          </a:xfrm>
          <a:prstGeom prst="rect">
            <a:avLst/>
          </a:prstGeom>
          <a:noFill/>
          <a:ln/>
        </p:spPr>
        <p:txBody>
          <a:bodyPr wrap="square" lIns="0" tIns="0" rIns="0" bIns="0" rtlCol="0" anchor="ctr"/>
          <a:lstStyle/>
          <a:p>
            <a:pPr indent="0" marL="0">
              <a:lnSpc>
                <a:spcPct val="108000"/>
              </a:lnSpc>
              <a:buNone/>
            </a:pPr>
            <a:r>
              <a:rPr lang="en-US" sz="1350" dirty="0">
                <a:solidFill>
                  <a:srgbClr val="34365A"/>
                </a:solidFill>
                <a:latin typeface="Times New Roman" pitchFamily="34" charset="0"/>
                <a:ea typeface="Times New Roman" pitchFamily="34" charset="-122"/>
                <a:cs typeface="Times New Roman" pitchFamily="34" charset="-120"/>
              </a:rPr>
              <a:t>Changing one assumption means rebuilding, so the alternatives never get tested.</a:t>
            </a:r>
            <a:endParaRPr lang="en-US" sz="1350" dirty="0"/>
          </a:p>
        </p:txBody>
      </p:sp>
      <p:sp>
        <p:nvSpPr>
          <p:cNvPr id="13" name="Text 11"/>
          <p:cNvSpPr txBox="1"/>
          <p:nvPr/>
        </p:nvSpPr>
        <p:spPr>
          <a:xfrm>
            <a:off x="6419088" y="2395728"/>
            <a:ext cx="4846320" cy="292608"/>
          </a:xfrm>
          <a:prstGeom prst="rect">
            <a:avLst/>
          </a:prstGeom>
          <a:noFill/>
          <a:ln/>
        </p:spPr>
        <p:txBody>
          <a:bodyPr wrap="square" lIns="0" tIns="0" rIns="0" bIns="0" rtlCol="0" anchor="ctr"/>
          <a:lstStyle/>
          <a:p>
            <a:pPr indent="0" marL="0">
              <a:buNone/>
            </a:pPr>
            <a:r>
              <a:rPr lang="en-US" sz="1600" b="1" dirty="0">
                <a:solidFill>
                  <a:srgbClr val="16173A"/>
                </a:solidFill>
                <a:latin typeface="Times New Roman" pitchFamily="34" charset="0"/>
                <a:ea typeface="Times New Roman" pitchFamily="34" charset="-122"/>
                <a:cs typeface="Times New Roman" pitchFamily="34" charset="-120"/>
              </a:rPr>
              <a:t>Who carries the cost of that</a:t>
            </a:r>
            <a:endParaRPr lang="en-US" sz="1600" dirty="0"/>
          </a:p>
        </p:txBody>
      </p:sp>
      <p:sp>
        <p:nvSpPr>
          <p:cNvPr id="14" name="Shape 12"/>
          <p:cNvSpPr/>
          <p:nvPr/>
        </p:nvSpPr>
        <p:spPr>
          <a:xfrm>
            <a:off x="6419088" y="2871216"/>
            <a:ext cx="182880" cy="182880"/>
          </a:xfrm>
          <a:prstGeom prst="roundRect">
            <a:avLst>
              <a:gd name="adj" fmla="val 50000"/>
            </a:avLst>
          </a:prstGeom>
          <a:solidFill>
            <a:srgbClr val="5B3BD4"/>
          </a:solidFill>
          <a:ln/>
        </p:spPr>
      </p:sp>
      <p:sp>
        <p:nvSpPr>
          <p:cNvPr id="15" name="Text 13"/>
          <p:cNvSpPr txBox="1"/>
          <p:nvPr/>
        </p:nvSpPr>
        <p:spPr>
          <a:xfrm>
            <a:off x="6748272" y="2798064"/>
            <a:ext cx="4480560" cy="237744"/>
          </a:xfrm>
          <a:prstGeom prst="rect">
            <a:avLst/>
          </a:prstGeom>
          <a:noFill/>
          <a:ln/>
        </p:spPr>
        <p:txBody>
          <a:bodyPr wrap="square" lIns="0" tIns="0" rIns="0" bIns="0" rtlCol="0" anchor="ctr"/>
          <a:lstStyle/>
          <a:p>
            <a:pPr indent="0" marL="0">
              <a:buNone/>
            </a:pPr>
            <a:r>
              <a:rPr lang="en-US" sz="1400" b="1" dirty="0">
                <a:solidFill>
                  <a:srgbClr val="16173A"/>
                </a:solidFill>
                <a:latin typeface="Times New Roman" pitchFamily="34" charset="0"/>
                <a:ea typeface="Times New Roman" pitchFamily="34" charset="-122"/>
                <a:cs typeface="Times New Roman" pitchFamily="34" charset="-120"/>
              </a:rPr>
              <a:t>HEOR &amp; market access</a:t>
            </a:r>
            <a:endParaRPr lang="en-US" sz="1400" dirty="0"/>
          </a:p>
        </p:txBody>
      </p:sp>
      <p:sp>
        <p:nvSpPr>
          <p:cNvPr id="16" name="Text 14"/>
          <p:cNvSpPr txBox="1"/>
          <p:nvPr/>
        </p:nvSpPr>
        <p:spPr>
          <a:xfrm>
            <a:off x="6748272" y="3054096"/>
            <a:ext cx="4572000" cy="457200"/>
          </a:xfrm>
          <a:prstGeom prst="rect">
            <a:avLst/>
          </a:prstGeom>
          <a:noFill/>
          <a:ln/>
        </p:spPr>
        <p:txBody>
          <a:bodyPr wrap="square" lIns="0" tIns="0" rIns="0" bIns="0" rtlCol="0" anchor="t"/>
          <a:lstStyle/>
          <a:p>
            <a:pPr indent="0" marL="0">
              <a:lnSpc>
                <a:spcPct val="105000"/>
              </a:lnSpc>
              <a:buNone/>
            </a:pPr>
            <a:r>
              <a:rPr lang="en-US" sz="1300" dirty="0">
                <a:solidFill>
                  <a:srgbClr val="56597D"/>
                </a:solidFill>
                <a:latin typeface="Times New Roman" pitchFamily="34" charset="0"/>
                <a:ea typeface="Times New Roman" pitchFamily="34" charset="-122"/>
                <a:cs typeface="Times New Roman" pitchFamily="34" charset="-120"/>
              </a:rPr>
              <a:t>Defend every assumption to a payer with no audit trail to point at.</a:t>
            </a:r>
            <a:endParaRPr lang="en-US" sz="1300" dirty="0"/>
          </a:p>
        </p:txBody>
      </p:sp>
      <p:sp>
        <p:nvSpPr>
          <p:cNvPr id="17" name="Shape 15"/>
          <p:cNvSpPr/>
          <p:nvPr/>
        </p:nvSpPr>
        <p:spPr>
          <a:xfrm>
            <a:off x="6419088" y="3621024"/>
            <a:ext cx="182880" cy="182880"/>
          </a:xfrm>
          <a:prstGeom prst="roundRect">
            <a:avLst>
              <a:gd name="adj" fmla="val 50000"/>
            </a:avLst>
          </a:prstGeom>
          <a:solidFill>
            <a:srgbClr val="C2521A"/>
          </a:solidFill>
          <a:ln/>
        </p:spPr>
      </p:sp>
      <p:sp>
        <p:nvSpPr>
          <p:cNvPr id="18" name="Text 16"/>
          <p:cNvSpPr txBox="1"/>
          <p:nvPr/>
        </p:nvSpPr>
        <p:spPr>
          <a:xfrm>
            <a:off x="6748272" y="3547872"/>
            <a:ext cx="4480560" cy="237744"/>
          </a:xfrm>
          <a:prstGeom prst="rect">
            <a:avLst/>
          </a:prstGeom>
          <a:noFill/>
          <a:ln/>
        </p:spPr>
        <p:txBody>
          <a:bodyPr wrap="square" lIns="0" tIns="0" rIns="0" bIns="0" rtlCol="0" anchor="ctr"/>
          <a:lstStyle/>
          <a:p>
            <a:pPr indent="0" marL="0">
              <a:buNone/>
            </a:pPr>
            <a:r>
              <a:rPr lang="en-US" sz="1400" b="1" dirty="0">
                <a:solidFill>
                  <a:srgbClr val="16173A"/>
                </a:solidFill>
                <a:latin typeface="Times New Roman" pitchFamily="34" charset="0"/>
                <a:ea typeface="Times New Roman" pitchFamily="34" charset="-122"/>
                <a:cs typeface="Times New Roman" pitchFamily="34" charset="-120"/>
              </a:rPr>
              <a:t>Payers &amp; insurers</a:t>
            </a:r>
            <a:endParaRPr lang="en-US" sz="1400" dirty="0"/>
          </a:p>
        </p:txBody>
      </p:sp>
      <p:sp>
        <p:nvSpPr>
          <p:cNvPr id="19" name="Text 17"/>
          <p:cNvSpPr txBox="1"/>
          <p:nvPr/>
        </p:nvSpPr>
        <p:spPr>
          <a:xfrm>
            <a:off x="6748272" y="3803904"/>
            <a:ext cx="4572000" cy="457200"/>
          </a:xfrm>
          <a:prstGeom prst="rect">
            <a:avLst/>
          </a:prstGeom>
          <a:noFill/>
          <a:ln/>
        </p:spPr>
        <p:txBody>
          <a:bodyPr wrap="square" lIns="0" tIns="0" rIns="0" bIns="0" rtlCol="0" anchor="t"/>
          <a:lstStyle/>
          <a:p>
            <a:pPr indent="0" marL="0">
              <a:lnSpc>
                <a:spcPct val="105000"/>
              </a:lnSpc>
              <a:buNone/>
            </a:pPr>
            <a:r>
              <a:rPr lang="en-US" sz="1300" dirty="0">
                <a:solidFill>
                  <a:srgbClr val="56597D"/>
                </a:solidFill>
                <a:latin typeface="Times New Roman" pitchFamily="34" charset="0"/>
                <a:ea typeface="Times New Roman" pitchFamily="34" charset="-122"/>
                <a:cs typeface="Times New Roman" pitchFamily="34" charset="-120"/>
              </a:rPr>
              <a:t>Receive a single number they cannot interrogate before committing budget.</a:t>
            </a:r>
            <a:endParaRPr lang="en-US" sz="1300" dirty="0"/>
          </a:p>
        </p:txBody>
      </p:sp>
      <p:sp>
        <p:nvSpPr>
          <p:cNvPr id="20" name="Shape 18"/>
          <p:cNvSpPr/>
          <p:nvPr/>
        </p:nvSpPr>
        <p:spPr>
          <a:xfrm>
            <a:off x="6419088" y="4370832"/>
            <a:ext cx="182880" cy="182880"/>
          </a:xfrm>
          <a:prstGeom prst="roundRect">
            <a:avLst>
              <a:gd name="adj" fmla="val 50000"/>
            </a:avLst>
          </a:prstGeom>
          <a:solidFill>
            <a:srgbClr val="0E9384"/>
          </a:solidFill>
          <a:ln/>
        </p:spPr>
      </p:sp>
      <p:sp>
        <p:nvSpPr>
          <p:cNvPr id="21" name="Text 19"/>
          <p:cNvSpPr txBox="1"/>
          <p:nvPr/>
        </p:nvSpPr>
        <p:spPr>
          <a:xfrm>
            <a:off x="6748272" y="4297680"/>
            <a:ext cx="4480560" cy="237744"/>
          </a:xfrm>
          <a:prstGeom prst="rect">
            <a:avLst/>
          </a:prstGeom>
          <a:noFill/>
          <a:ln/>
        </p:spPr>
        <p:txBody>
          <a:bodyPr wrap="square" lIns="0" tIns="0" rIns="0" bIns="0" rtlCol="0" anchor="ctr"/>
          <a:lstStyle/>
          <a:p>
            <a:pPr indent="0" marL="0">
              <a:buNone/>
            </a:pPr>
            <a:r>
              <a:rPr lang="en-US" sz="1400" b="1" dirty="0">
                <a:solidFill>
                  <a:srgbClr val="16173A"/>
                </a:solidFill>
                <a:latin typeface="Times New Roman" pitchFamily="34" charset="0"/>
                <a:ea typeface="Times New Roman" pitchFamily="34" charset="-122"/>
                <a:cs typeface="Times New Roman" pitchFamily="34" charset="-120"/>
              </a:rPr>
              <a:t>Patients</a:t>
            </a:r>
            <a:endParaRPr lang="en-US" sz="1400" dirty="0"/>
          </a:p>
        </p:txBody>
      </p:sp>
      <p:sp>
        <p:nvSpPr>
          <p:cNvPr id="22" name="Text 20"/>
          <p:cNvSpPr txBox="1"/>
          <p:nvPr/>
        </p:nvSpPr>
        <p:spPr>
          <a:xfrm>
            <a:off x="6748272" y="4553712"/>
            <a:ext cx="4572000" cy="457200"/>
          </a:xfrm>
          <a:prstGeom prst="rect">
            <a:avLst/>
          </a:prstGeom>
          <a:noFill/>
          <a:ln/>
        </p:spPr>
        <p:txBody>
          <a:bodyPr wrap="square" lIns="0" tIns="0" rIns="0" bIns="0" rtlCol="0" anchor="t"/>
          <a:lstStyle/>
          <a:p>
            <a:pPr indent="0" marL="0">
              <a:lnSpc>
                <a:spcPct val="105000"/>
              </a:lnSpc>
              <a:buNone/>
            </a:pPr>
            <a:r>
              <a:rPr lang="en-US" sz="1300" dirty="0">
                <a:solidFill>
                  <a:srgbClr val="56597D"/>
                </a:solidFill>
                <a:latin typeface="Times New Roman" pitchFamily="34" charset="0"/>
                <a:ea typeface="Times New Roman" pitchFamily="34" charset="-122"/>
                <a:cs typeface="Times New Roman" pitchFamily="34" charset="-120"/>
              </a:rPr>
              <a:t>Wait while the same analysis is rebuilt market by market.</a:t>
            </a:r>
            <a:endParaRPr lang="en-US" sz="1300" dirty="0"/>
          </a:p>
        </p:txBody>
      </p:sp>
      <p:sp>
        <p:nvSpPr>
          <p:cNvPr id="23" name="Shape 21"/>
          <p:cNvSpPr/>
          <p:nvPr/>
        </p:nvSpPr>
        <p:spPr>
          <a:xfrm>
            <a:off x="566928" y="5157216"/>
            <a:ext cx="11057839" cy="914400"/>
          </a:xfrm>
          <a:prstGeom prst="roundRect">
            <a:avLst>
              <a:gd name="adj" fmla="val 6000"/>
            </a:avLst>
          </a:prstGeom>
          <a:solidFill>
            <a:srgbClr val="16173A"/>
          </a:solidFill>
          <a:ln/>
          <a:effectLst>
            <a:outerShdw sx="100000" sy="100000" kx="0" ky="0" algn="bl" rotWithShape="0" blurRad="127000" dist="25400" dir="5400000">
              <a:srgbClr val="1B1B4A">
                <a:alpha val="10000"/>
              </a:srgbClr>
            </a:outerShdw>
          </a:effectLst>
        </p:spPr>
      </p:sp>
      <p:sp>
        <p:nvSpPr>
          <p:cNvPr id="24" name="Text 22"/>
          <p:cNvSpPr txBox="1"/>
          <p:nvPr/>
        </p:nvSpPr>
        <p:spPr>
          <a:xfrm>
            <a:off x="950976" y="5340096"/>
            <a:ext cx="10289743" cy="566928"/>
          </a:xfrm>
          <a:prstGeom prst="rect">
            <a:avLst/>
          </a:prstGeom>
          <a:noFill/>
          <a:ln/>
        </p:spPr>
        <p:txBody>
          <a:bodyPr wrap="square" lIns="0" tIns="0" rIns="0" bIns="0" rtlCol="0" anchor="ctr"/>
          <a:lstStyle/>
          <a:p>
            <a:pPr indent="0" marL="0">
              <a:lnSpc>
                <a:spcPct val="110000"/>
              </a:lnSpc>
              <a:buNone/>
            </a:pPr>
            <a:r>
              <a:rPr lang="en-US" sz="1450" b="1" dirty="0">
                <a:solidFill>
                  <a:srgbClr val="FFFFFF"/>
                </a:solidFill>
                <a:latin typeface="Times New Roman" pitchFamily="34" charset="0"/>
                <a:ea typeface="Times New Roman" pitchFamily="34" charset="-122"/>
                <a:cs typeface="Times New Roman" pitchFamily="34" charset="-120"/>
              </a:rPr>
              <a:t>Budget impact answers affordability: what it costs the budget. </a:t>
            </a:r>
            <a:pPr indent="0" marL="0">
              <a:lnSpc>
                <a:spcPct val="110000"/>
              </a:lnSpc>
              <a:buNone/>
            </a:pPr>
            <a:r>
              <a:rPr lang="en-US" sz="1450" dirty="0">
                <a:solidFill>
                  <a:srgbClr val="B9B3E8"/>
                </a:solidFill>
                <a:latin typeface="Times New Roman" pitchFamily="34" charset="0"/>
                <a:ea typeface="Times New Roman" pitchFamily="34" charset="-122"/>
                <a:cs typeface="Times New Roman" pitchFamily="34" charset="-120"/>
              </a:rPr>
              <a:t>Cost-effectiveness asks a different question, whether the drug is good value. BIET answers the first, and says so.</a:t>
            </a:r>
            <a:endParaRPr lang="en-US" sz="1450" dirty="0"/>
          </a:p>
        </p:txBody>
      </p:sp>
      <p:sp>
        <p:nvSpPr>
          <p:cNvPr id="26" name="Text 23"/>
          <p:cNvSpPr txBox="1"/>
          <p:nvPr/>
        </p:nvSpPr>
        <p:spPr>
          <a:xfrm>
            <a:off x="566928" y="6336792"/>
            <a:ext cx="5486400" cy="256032"/>
          </a:xfrm>
          <a:prstGeom prst="rect">
            <a:avLst/>
          </a:prstGeom>
          <a:noFill/>
          <a:ln/>
        </p:spPr>
        <p:txBody>
          <a:bodyPr wrap="square" lIns="0" tIns="0" rIns="0" bIns="0" rtlCol="0" anchor="ctr"/>
          <a:lstStyle/>
          <a:p>
            <a:pPr indent="0" marL="0">
              <a:buNone/>
            </a:pPr>
            <a:r>
              <a:rPr lang="en-US" sz="1050" dirty="0">
                <a:solidFill>
                  <a:srgbClr val="DAD6F2"/>
                </a:solidFill>
                <a:latin typeface="Times New Roman" pitchFamily="34" charset="0"/>
                <a:ea typeface="Times New Roman" pitchFamily="34" charset="-122"/>
                <a:cs typeface="Times New Roman" pitchFamily="34" charset="-120"/>
              </a:rPr>
              <a:t>BIET  ·  Team Denovo  ·  IBAB</a:t>
            </a:r>
            <a:endParaRPr lang="en-US" sz="1050" dirty="0"/>
          </a:p>
        </p:txBody>
      </p:sp>
      <p:sp>
        <p:nvSpPr>
          <p:cNvPr id="27" name="Text 24"/>
          <p:cNvSpPr txBox="1"/>
          <p:nvPr/>
        </p:nvSpPr>
        <p:spPr>
          <a:xfrm>
            <a:off x="10710367" y="6336792"/>
            <a:ext cx="914400" cy="256032"/>
          </a:xfrm>
          <a:prstGeom prst="rect">
            <a:avLst/>
          </a:prstGeom>
          <a:noFill/>
          <a:ln/>
        </p:spPr>
        <p:txBody>
          <a:bodyPr wrap="square" lIns="0" tIns="0" rIns="0" bIns="0" rtlCol="0" anchor="ctr"/>
          <a:lstStyle/>
          <a:p>
            <a:pPr algn="r" indent="0" marL="0">
              <a:buNone/>
            </a:pPr>
            <a:r>
              <a:rPr lang="en-US" sz="1050" b="1" dirty="0">
                <a:solidFill>
                  <a:srgbClr val="DAD6F2"/>
                </a:solidFill>
                <a:latin typeface="Times New Roman" pitchFamily="34" charset="0"/>
                <a:ea typeface="Times New Roman" pitchFamily="34" charset="-122"/>
                <a:cs typeface="Times New Roman" pitchFamily="34" charset="-120"/>
              </a:rPr>
              <a:t>02</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65760"/>
            <a:ext cx="11057839" cy="237744"/>
          </a:xfrm>
          <a:prstGeom prst="rect">
            <a:avLst/>
          </a:prstGeom>
          <a:noFill/>
          <a:ln/>
        </p:spPr>
        <p:txBody>
          <a:bodyPr wrap="square" lIns="0" tIns="0" rIns="0" bIns="0" rtlCol="0" anchor="ctr"/>
          <a:lstStyle/>
          <a:p>
            <a:pPr indent="0" marL="0">
              <a:buNone/>
            </a:pPr>
            <a:r>
              <a:rPr lang="en-US" sz="1200" b="1" spc="240" kern="0" dirty="0">
                <a:solidFill>
                  <a:srgbClr val="5B3BD4"/>
                </a:solidFill>
                <a:latin typeface="Times New Roman" pitchFamily="34" charset="0"/>
                <a:ea typeface="Times New Roman" pitchFamily="34" charset="-122"/>
                <a:cs typeface="Times New Roman" pitchFamily="34" charset="-120"/>
              </a:rPr>
              <a:t>02 · THE SOLUTION</a:t>
            </a:r>
            <a:endParaRPr lang="en-US" sz="1200" dirty="0"/>
          </a:p>
        </p:txBody>
      </p:sp>
      <p:sp>
        <p:nvSpPr>
          <p:cNvPr id="3" name="Text 1"/>
          <p:cNvSpPr txBox="1"/>
          <p:nvPr/>
        </p:nvSpPr>
        <p:spPr>
          <a:xfrm>
            <a:off x="566928" y="676656"/>
            <a:ext cx="11057839" cy="658368"/>
          </a:xfrm>
          <a:prstGeom prst="rect">
            <a:avLst/>
          </a:prstGeom>
          <a:noFill/>
          <a:ln/>
        </p:spPr>
        <p:txBody>
          <a:bodyPr wrap="square" lIns="0" tIns="0" rIns="0" bIns="0" rtlCol="0" anchor="ctr"/>
          <a:lstStyle/>
          <a:p>
            <a:pPr indent="0" marL="0">
              <a:lnSpc>
                <a:spcPct val="92000"/>
              </a:lnSpc>
              <a:buNone/>
            </a:pPr>
            <a:r>
              <a:rPr lang="en-US" sz="3600" b="1" dirty="0">
                <a:solidFill>
                  <a:srgbClr val="16173A"/>
                </a:solidFill>
                <a:latin typeface="Times New Roman" pitchFamily="34" charset="0"/>
                <a:ea typeface="Times New Roman" pitchFamily="34" charset="-122"/>
                <a:cs typeface="Times New Roman" pitchFamily="34" charset="-120"/>
              </a:rPr>
              <a:t>Six inputs in. A five-year payer forecast out.</a:t>
            </a:r>
            <a:endParaRPr lang="en-US" sz="3600" dirty="0"/>
          </a:p>
        </p:txBody>
      </p:sp>
      <p:sp>
        <p:nvSpPr>
          <p:cNvPr id="4" name="Text 2"/>
          <p:cNvSpPr txBox="1"/>
          <p:nvPr/>
        </p:nvSpPr>
        <p:spPr>
          <a:xfrm>
            <a:off x="566928" y="1389888"/>
            <a:ext cx="9966960" cy="566928"/>
          </a:xfrm>
          <a:prstGeom prst="rect">
            <a:avLst/>
          </a:prstGeom>
          <a:noFill/>
          <a:ln/>
        </p:spPr>
        <p:txBody>
          <a:bodyPr wrap="square" lIns="0" tIns="0" rIns="0" bIns="0" rtlCol="0" anchor="ctr"/>
          <a:lstStyle/>
          <a:p>
            <a:pPr indent="0" marL="0">
              <a:lnSpc>
                <a:spcPct val="112000"/>
              </a:lnSpc>
              <a:buNone/>
            </a:pPr>
            <a:r>
              <a:rPr lang="en-US" sz="1500" dirty="0">
                <a:solidFill>
                  <a:srgbClr val="56597D"/>
                </a:solidFill>
                <a:latin typeface="Times New Roman" pitchFamily="34" charset="0"/>
                <a:ea typeface="Times New Roman" pitchFamily="34" charset="-122"/>
                <a:cs typeface="Times New Roman" pitchFamily="34" charset="-120"/>
              </a:rPr>
              <a:t>One guided flow holds the whole model. Change any input and every figure moves with it, so the analysis is something you interrogate during the meeting rather than after it.</a:t>
            </a:r>
            <a:endParaRPr lang="en-US" sz="1500" dirty="0"/>
          </a:p>
        </p:txBody>
      </p:sp>
      <p:sp>
        <p:nvSpPr>
          <p:cNvPr id="5" name="Shape 3"/>
          <p:cNvSpPr/>
          <p:nvPr/>
        </p:nvSpPr>
        <p:spPr>
          <a:xfrm>
            <a:off x="566928" y="2194560"/>
            <a:ext cx="4114800" cy="3639312"/>
          </a:xfrm>
          <a:prstGeom prst="roundRect">
            <a:avLst>
              <a:gd name="adj" fmla="val 1508"/>
            </a:avLst>
          </a:prstGeom>
          <a:solidFill>
            <a:srgbClr val="5B3BD4"/>
          </a:solidFill>
          <a:ln/>
          <a:effectLst>
            <a:outerShdw sx="100000" sy="100000" kx="0" ky="0" algn="bl" rotWithShape="0" blurRad="127000" dist="25400" dir="5400000">
              <a:srgbClr val="1B1B4A">
                <a:alpha val="10000"/>
              </a:srgbClr>
            </a:outerShdw>
          </a:effectLst>
        </p:spPr>
      </p:sp>
      <p:sp>
        <p:nvSpPr>
          <p:cNvPr id="6" name="Text 4"/>
          <p:cNvSpPr txBox="1"/>
          <p:nvPr/>
        </p:nvSpPr>
        <p:spPr>
          <a:xfrm>
            <a:off x="950976" y="2450592"/>
            <a:ext cx="3383280" cy="237744"/>
          </a:xfrm>
          <a:prstGeom prst="rect">
            <a:avLst/>
          </a:prstGeom>
          <a:noFill/>
          <a:ln/>
        </p:spPr>
        <p:txBody>
          <a:bodyPr wrap="square" lIns="0" tIns="0" rIns="0" bIns="0" rtlCol="0" anchor="ctr"/>
          <a:lstStyle/>
          <a:p>
            <a:pPr indent="0" marL="0">
              <a:buNone/>
            </a:pPr>
            <a:r>
              <a:rPr lang="en-US" sz="1100" b="1" spc="200" kern="0" dirty="0">
                <a:solidFill>
                  <a:srgbClr val="D9D2FA"/>
                </a:solidFill>
                <a:latin typeface="Times New Roman" pitchFamily="34" charset="0"/>
                <a:ea typeface="Times New Roman" pitchFamily="34" charset="-122"/>
                <a:cs typeface="Times New Roman" pitchFamily="34" charset="-120"/>
              </a:rPr>
              <a:t>AFFORDABILITY</a:t>
            </a:r>
            <a:endParaRPr lang="en-US" sz="1100" dirty="0"/>
          </a:p>
        </p:txBody>
      </p:sp>
      <p:sp>
        <p:nvSpPr>
          <p:cNvPr id="7" name="Text 5"/>
          <p:cNvSpPr txBox="1"/>
          <p:nvPr/>
        </p:nvSpPr>
        <p:spPr>
          <a:xfrm>
            <a:off x="914400" y="2706624"/>
            <a:ext cx="3474720" cy="731520"/>
          </a:xfrm>
          <a:prstGeom prst="rect">
            <a:avLst/>
          </a:prstGeom>
          <a:noFill/>
          <a:ln/>
        </p:spPr>
        <p:txBody>
          <a:bodyPr wrap="square" lIns="0" tIns="0" rIns="0" bIns="0" rtlCol="0" anchor="ctr"/>
          <a:lstStyle/>
          <a:p>
            <a:pPr indent="0" marL="0">
              <a:buNone/>
            </a:pPr>
            <a:r>
              <a:rPr lang="en-US" sz="4600" b="1" dirty="0">
                <a:solidFill>
                  <a:srgbClr val="FFFFFF"/>
                </a:solidFill>
                <a:latin typeface="Times New Roman" pitchFamily="34" charset="0"/>
                <a:ea typeface="Times New Roman" pitchFamily="34" charset="-122"/>
                <a:cs typeface="Times New Roman" pitchFamily="34" charset="-120"/>
              </a:rPr>
              <a:t>€0.13</a:t>
            </a:r>
            <a:endParaRPr lang="en-US" sz="4600" dirty="0"/>
          </a:p>
        </p:txBody>
      </p:sp>
      <p:sp>
        <p:nvSpPr>
          <p:cNvPr id="8" name="Text 6"/>
          <p:cNvSpPr txBox="1"/>
          <p:nvPr/>
        </p:nvSpPr>
        <p:spPr>
          <a:xfrm>
            <a:off x="950976" y="3511296"/>
            <a:ext cx="3383280" cy="822960"/>
          </a:xfrm>
          <a:prstGeom prst="rect">
            <a:avLst/>
          </a:prstGeom>
          <a:noFill/>
          <a:ln/>
        </p:spPr>
        <p:txBody>
          <a:bodyPr wrap="square" lIns="0" tIns="0" rIns="0" bIns="0" rtlCol="0" anchor="t"/>
          <a:lstStyle/>
          <a:p>
            <a:pPr indent="0" marL="0">
              <a:lnSpc>
                <a:spcPct val="110000"/>
              </a:lnSpc>
              <a:buNone/>
            </a:pPr>
            <a:r>
              <a:rPr lang="en-US" sz="1300" dirty="0">
                <a:solidFill>
                  <a:srgbClr val="E4DFFC"/>
                </a:solidFill>
                <a:latin typeface="Times New Roman" pitchFamily="34" charset="0"/>
                <a:ea typeface="Times New Roman" pitchFamily="34" charset="-122"/>
                <a:cs typeface="Times New Roman" pitchFamily="34" charset="-120"/>
              </a:rPr>
              <a:t>per covered member per month. The same fact as €296.6M over five years, in the unit a payer negotiates on.</a:t>
            </a:r>
            <a:endParaRPr lang="en-US" sz="1300" dirty="0"/>
          </a:p>
        </p:txBody>
      </p:sp>
      <p:sp>
        <p:nvSpPr>
          <p:cNvPr id="9" name="Text 7"/>
          <p:cNvSpPr txBox="1"/>
          <p:nvPr/>
        </p:nvSpPr>
        <p:spPr>
          <a:xfrm>
            <a:off x="950976" y="4480560"/>
            <a:ext cx="3383280" cy="237744"/>
          </a:xfrm>
          <a:prstGeom prst="rect">
            <a:avLst/>
          </a:prstGeom>
          <a:noFill/>
          <a:ln/>
        </p:spPr>
        <p:txBody>
          <a:bodyPr wrap="square" lIns="0" tIns="0" rIns="0" bIns="0" rtlCol="0" anchor="ctr"/>
          <a:lstStyle/>
          <a:p>
            <a:pPr indent="0" marL="0">
              <a:buNone/>
            </a:pPr>
            <a:r>
              <a:rPr lang="en-US" sz="1100" b="1" spc="200" kern="0" dirty="0">
                <a:solidFill>
                  <a:srgbClr val="D9D2FA"/>
                </a:solidFill>
                <a:latin typeface="Times New Roman" pitchFamily="34" charset="0"/>
                <a:ea typeface="Times New Roman" pitchFamily="34" charset="-122"/>
                <a:cs typeface="Times New Roman" pitchFamily="34" charset="-120"/>
              </a:rPr>
              <a:t>WHAT DECIDES IT</a:t>
            </a:r>
            <a:endParaRPr lang="en-US" sz="1100" dirty="0"/>
          </a:p>
        </p:txBody>
      </p:sp>
      <p:sp>
        <p:nvSpPr>
          <p:cNvPr id="10" name="Text 8"/>
          <p:cNvSpPr txBox="1"/>
          <p:nvPr/>
        </p:nvSpPr>
        <p:spPr>
          <a:xfrm>
            <a:off x="932688" y="4736592"/>
            <a:ext cx="3474720" cy="310896"/>
          </a:xfrm>
          <a:prstGeom prst="rect">
            <a:avLst/>
          </a:prstGeom>
          <a:noFill/>
          <a:ln/>
        </p:spPr>
        <p:txBody>
          <a:bodyPr wrap="square" lIns="0" tIns="0" rIns="0" bIns="0" rtlCol="0" anchor="ctr"/>
          <a:lstStyle/>
          <a:p>
            <a:pPr indent="0" marL="0">
              <a:buNone/>
            </a:pPr>
            <a:r>
              <a:rPr lang="en-US" sz="2000" b="1" dirty="0">
                <a:solidFill>
                  <a:srgbClr val="FFFFFF"/>
                </a:solidFill>
                <a:latin typeface="Times New Roman" pitchFamily="34" charset="0"/>
                <a:ea typeface="Times New Roman" pitchFamily="34" charset="-122"/>
                <a:cs typeface="Times New Roman" pitchFamily="34" charset="-120"/>
              </a:rPr>
              <a:t>New drug annual price</a:t>
            </a:r>
            <a:endParaRPr lang="en-US" sz="2000" dirty="0"/>
          </a:p>
        </p:txBody>
      </p:sp>
      <p:sp>
        <p:nvSpPr>
          <p:cNvPr id="11" name="Text 9"/>
          <p:cNvSpPr txBox="1"/>
          <p:nvPr/>
        </p:nvSpPr>
        <p:spPr>
          <a:xfrm>
            <a:off x="950976" y="5084064"/>
            <a:ext cx="3383280" cy="694944"/>
          </a:xfrm>
          <a:prstGeom prst="rect">
            <a:avLst/>
          </a:prstGeom>
          <a:noFill/>
          <a:ln/>
        </p:spPr>
        <p:txBody>
          <a:bodyPr wrap="square" lIns="0" tIns="0" rIns="0" bIns="0" rtlCol="0" anchor="t"/>
          <a:lstStyle/>
          <a:p>
            <a:pPr indent="0" marL="0">
              <a:lnSpc>
                <a:spcPct val="110000"/>
              </a:lnSpc>
              <a:buNone/>
            </a:pPr>
            <a:r>
              <a:rPr lang="en-US" sz="1300" dirty="0">
                <a:solidFill>
                  <a:srgbClr val="E4DFFC"/>
                </a:solidFill>
                <a:latin typeface="Times New Roman" pitchFamily="34" charset="0"/>
                <a:ea typeface="Times New Roman" pitchFamily="34" charset="-122"/>
                <a:cs typeface="Times New Roman" pitchFamily="34" charset="-120"/>
              </a:rPr>
              <a:t>Ranked first of ten assumptions, each moved ±20%. Evidence spend goes where it changes the answer.</a:t>
            </a:r>
            <a:endParaRPr lang="en-US" sz="1300" dirty="0"/>
          </a:p>
        </p:txBody>
      </p:sp>
      <p:sp>
        <p:nvSpPr>
          <p:cNvPr id="12" name="Shape 10"/>
          <p:cNvSpPr/>
          <p:nvPr/>
        </p:nvSpPr>
        <p:spPr>
          <a:xfrm>
            <a:off x="5230368" y="2368296"/>
            <a:ext cx="310896" cy="310896"/>
          </a:xfrm>
          <a:prstGeom prst="roundRect">
            <a:avLst>
              <a:gd name="adj" fmla="val 88235"/>
            </a:avLst>
          </a:prstGeom>
          <a:solidFill>
            <a:srgbClr val="5B3BD4"/>
          </a:solidFill>
          <a:ln/>
        </p:spPr>
      </p:sp>
      <p:sp>
        <p:nvSpPr>
          <p:cNvPr id="13" name="Text 11"/>
          <p:cNvSpPr txBox="1"/>
          <p:nvPr/>
        </p:nvSpPr>
        <p:spPr>
          <a:xfrm>
            <a:off x="5230368" y="2368296"/>
            <a:ext cx="310896" cy="310896"/>
          </a:xfrm>
          <a:prstGeom prst="rect">
            <a:avLst/>
          </a:prstGeom>
          <a:noFill/>
          <a:ln/>
        </p:spPr>
        <p:txBody>
          <a:bodyPr wrap="square" lIns="0" tIns="0" rIns="0" bIns="0" rtlCol="0" anchor="ctr"/>
          <a:lstStyle/>
          <a:p>
            <a:pPr algn="ctr" indent="0" marL="0">
              <a:buNone/>
            </a:pPr>
            <a:r>
              <a:rPr lang="en-US" sz="1250" b="1" dirty="0">
                <a:solidFill>
                  <a:srgbClr val="FFFFFF"/>
                </a:solidFill>
                <a:latin typeface="Times New Roman" pitchFamily="34" charset="0"/>
                <a:ea typeface="Times New Roman" pitchFamily="34" charset="-122"/>
                <a:cs typeface="Times New Roman" pitchFamily="34" charset="-120"/>
              </a:rPr>
              <a:t>1</a:t>
            </a:r>
            <a:endParaRPr lang="en-US" sz="1250" dirty="0"/>
          </a:p>
        </p:txBody>
      </p:sp>
      <p:sp>
        <p:nvSpPr>
          <p:cNvPr id="14" name="Text 12"/>
          <p:cNvSpPr txBox="1"/>
          <p:nvPr/>
        </p:nvSpPr>
        <p:spPr>
          <a:xfrm>
            <a:off x="5705856" y="2340864"/>
            <a:ext cx="5559552" cy="274320"/>
          </a:xfrm>
          <a:prstGeom prst="rect">
            <a:avLst/>
          </a:prstGeom>
          <a:noFill/>
          <a:ln/>
        </p:spPr>
        <p:txBody>
          <a:bodyPr wrap="square" lIns="0" tIns="0" rIns="0" bIns="0" rtlCol="0" anchor="ctr"/>
          <a:lstStyle/>
          <a:p>
            <a:pPr indent="0" marL="0">
              <a:buNone/>
            </a:pPr>
            <a:r>
              <a:rPr lang="en-US" sz="1550" b="1" dirty="0">
                <a:solidFill>
                  <a:srgbClr val="16173A"/>
                </a:solidFill>
                <a:latin typeface="Times New Roman" pitchFamily="34" charset="0"/>
                <a:ea typeface="Times New Roman" pitchFamily="34" charset="-122"/>
                <a:cs typeface="Times New Roman" pitchFamily="34" charset="-120"/>
              </a:rPr>
              <a:t>The engine runs in the browser</a:t>
            </a:r>
            <a:endParaRPr lang="en-US" sz="1550" dirty="0"/>
          </a:p>
        </p:txBody>
      </p:sp>
      <p:sp>
        <p:nvSpPr>
          <p:cNvPr id="15" name="Text 13"/>
          <p:cNvSpPr txBox="1"/>
          <p:nvPr/>
        </p:nvSpPr>
        <p:spPr>
          <a:xfrm>
            <a:off x="5705856" y="2642616"/>
            <a:ext cx="5559552" cy="786384"/>
          </a:xfrm>
          <a:prstGeom prst="rect">
            <a:avLst/>
          </a:prstGeom>
          <a:noFill/>
          <a:ln/>
        </p:spPr>
        <p:txBody>
          <a:bodyPr wrap="square" lIns="0" tIns="0" rIns="0" bIns="0" rtlCol="0" anchor="t"/>
          <a:lstStyle/>
          <a:p>
            <a:pPr indent="0" marL="0">
              <a:lnSpc>
                <a:spcPct val="106000"/>
              </a:lnSpc>
              <a:buNone/>
            </a:pPr>
            <a:r>
              <a:rPr lang="en-US" sz="1300" dirty="0">
                <a:solidFill>
                  <a:srgbClr val="56597D"/>
                </a:solidFill>
                <a:latin typeface="Times New Roman" pitchFamily="34" charset="0"/>
                <a:ea typeface="Times New Roman" pitchFamily="34" charset="-122"/>
                <a:cs typeface="Times New Roman" pitchFamily="34" charset="-120"/>
              </a:rPr>
              <a:t>No network call sits between an input and its result. A five-year model takes minutes to build and seconds to re-run, against weeks of spreadsheet work.</a:t>
            </a:r>
            <a:endParaRPr lang="en-US" sz="1300" dirty="0"/>
          </a:p>
        </p:txBody>
      </p:sp>
      <p:sp>
        <p:nvSpPr>
          <p:cNvPr id="16" name="Shape 14"/>
          <p:cNvSpPr/>
          <p:nvPr/>
        </p:nvSpPr>
        <p:spPr>
          <a:xfrm>
            <a:off x="5230368" y="3502152"/>
            <a:ext cx="310896" cy="310896"/>
          </a:xfrm>
          <a:prstGeom prst="roundRect">
            <a:avLst>
              <a:gd name="adj" fmla="val 88235"/>
            </a:avLst>
          </a:prstGeom>
          <a:solidFill>
            <a:srgbClr val="5B3BD4"/>
          </a:solidFill>
          <a:ln/>
        </p:spPr>
      </p:sp>
      <p:sp>
        <p:nvSpPr>
          <p:cNvPr id="17" name="Text 15"/>
          <p:cNvSpPr txBox="1"/>
          <p:nvPr/>
        </p:nvSpPr>
        <p:spPr>
          <a:xfrm>
            <a:off x="5230368" y="3502152"/>
            <a:ext cx="310896" cy="310896"/>
          </a:xfrm>
          <a:prstGeom prst="rect">
            <a:avLst/>
          </a:prstGeom>
          <a:noFill/>
          <a:ln/>
        </p:spPr>
        <p:txBody>
          <a:bodyPr wrap="square" lIns="0" tIns="0" rIns="0" bIns="0" rtlCol="0" anchor="ctr"/>
          <a:lstStyle/>
          <a:p>
            <a:pPr algn="ctr" indent="0" marL="0">
              <a:buNone/>
            </a:pPr>
            <a:r>
              <a:rPr lang="en-US" sz="1250" b="1" dirty="0">
                <a:solidFill>
                  <a:srgbClr val="FFFFFF"/>
                </a:solidFill>
                <a:latin typeface="Times New Roman" pitchFamily="34" charset="0"/>
                <a:ea typeface="Times New Roman" pitchFamily="34" charset="-122"/>
                <a:cs typeface="Times New Roman" pitchFamily="34" charset="-120"/>
              </a:rPr>
              <a:t>2</a:t>
            </a:r>
            <a:endParaRPr lang="en-US" sz="1250" dirty="0"/>
          </a:p>
        </p:txBody>
      </p:sp>
      <p:sp>
        <p:nvSpPr>
          <p:cNvPr id="18" name="Text 16"/>
          <p:cNvSpPr txBox="1"/>
          <p:nvPr/>
        </p:nvSpPr>
        <p:spPr>
          <a:xfrm>
            <a:off x="5705856" y="3474720"/>
            <a:ext cx="5559552" cy="274320"/>
          </a:xfrm>
          <a:prstGeom prst="rect">
            <a:avLst/>
          </a:prstGeom>
          <a:noFill/>
          <a:ln/>
        </p:spPr>
        <p:txBody>
          <a:bodyPr wrap="square" lIns="0" tIns="0" rIns="0" bIns="0" rtlCol="0" anchor="ctr"/>
          <a:lstStyle/>
          <a:p>
            <a:pPr indent="0" marL="0">
              <a:buNone/>
            </a:pPr>
            <a:r>
              <a:rPr lang="en-US" sz="1550" b="1" dirty="0">
                <a:solidFill>
                  <a:srgbClr val="16173A"/>
                </a:solidFill>
                <a:latin typeface="Times New Roman" pitchFamily="34" charset="0"/>
                <a:ea typeface="Times New Roman" pitchFamily="34" charset="-122"/>
                <a:cs typeface="Times New Roman" pitchFamily="34" charset="-120"/>
              </a:rPr>
              <a:t>Evidence sits beside the model</a:t>
            </a:r>
            <a:endParaRPr lang="en-US" sz="1550" dirty="0"/>
          </a:p>
        </p:txBody>
      </p:sp>
      <p:sp>
        <p:nvSpPr>
          <p:cNvPr id="19" name="Text 17"/>
          <p:cNvSpPr txBox="1"/>
          <p:nvPr/>
        </p:nvSpPr>
        <p:spPr>
          <a:xfrm>
            <a:off x="5705856" y="3776472"/>
            <a:ext cx="5559552" cy="786384"/>
          </a:xfrm>
          <a:prstGeom prst="rect">
            <a:avLst/>
          </a:prstGeom>
          <a:noFill/>
          <a:ln/>
        </p:spPr>
        <p:txBody>
          <a:bodyPr wrap="square" lIns="0" tIns="0" rIns="0" bIns="0" rtlCol="0" anchor="t"/>
          <a:lstStyle/>
          <a:p>
            <a:pPr indent="0" marL="0">
              <a:lnSpc>
                <a:spcPct val="106000"/>
              </a:lnSpc>
              <a:buNone/>
            </a:pPr>
            <a:r>
              <a:rPr lang="en-US" sz="1300" dirty="0">
                <a:solidFill>
                  <a:srgbClr val="56597D"/>
                </a:solidFill>
                <a:latin typeface="Times New Roman" pitchFamily="34" charset="0"/>
                <a:ea typeface="Times New Roman" pitchFamily="34" charset="-122"/>
                <a:cs typeface="Times New Roman" pitchFamily="34" charset="-120"/>
              </a:rPr>
              <a:t>PubMed, ClinicalTrials.gov, openFDA, WHO GHO and the World Bank are searched inside the same tool, so an assumption and its source stay together.</a:t>
            </a:r>
            <a:endParaRPr lang="en-US" sz="1300" dirty="0"/>
          </a:p>
        </p:txBody>
      </p:sp>
      <p:sp>
        <p:nvSpPr>
          <p:cNvPr id="20" name="Shape 18"/>
          <p:cNvSpPr/>
          <p:nvPr/>
        </p:nvSpPr>
        <p:spPr>
          <a:xfrm>
            <a:off x="5230368" y="4636008"/>
            <a:ext cx="310896" cy="310896"/>
          </a:xfrm>
          <a:prstGeom prst="roundRect">
            <a:avLst>
              <a:gd name="adj" fmla="val 88235"/>
            </a:avLst>
          </a:prstGeom>
          <a:solidFill>
            <a:srgbClr val="5B3BD4"/>
          </a:solidFill>
          <a:ln/>
        </p:spPr>
      </p:sp>
      <p:sp>
        <p:nvSpPr>
          <p:cNvPr id="21" name="Text 19"/>
          <p:cNvSpPr txBox="1"/>
          <p:nvPr/>
        </p:nvSpPr>
        <p:spPr>
          <a:xfrm>
            <a:off x="5230368" y="4636008"/>
            <a:ext cx="310896" cy="310896"/>
          </a:xfrm>
          <a:prstGeom prst="rect">
            <a:avLst/>
          </a:prstGeom>
          <a:noFill/>
          <a:ln/>
        </p:spPr>
        <p:txBody>
          <a:bodyPr wrap="square" lIns="0" tIns="0" rIns="0" bIns="0" rtlCol="0" anchor="ctr"/>
          <a:lstStyle/>
          <a:p>
            <a:pPr algn="ctr" indent="0" marL="0">
              <a:buNone/>
            </a:pPr>
            <a:r>
              <a:rPr lang="en-US" sz="1250" b="1" dirty="0">
                <a:solidFill>
                  <a:srgbClr val="FFFFFF"/>
                </a:solidFill>
                <a:latin typeface="Times New Roman" pitchFamily="34" charset="0"/>
                <a:ea typeface="Times New Roman" pitchFamily="34" charset="-122"/>
                <a:cs typeface="Times New Roman" pitchFamily="34" charset="-120"/>
              </a:rPr>
              <a:t>3</a:t>
            </a:r>
            <a:endParaRPr lang="en-US" sz="1250" dirty="0"/>
          </a:p>
        </p:txBody>
      </p:sp>
      <p:sp>
        <p:nvSpPr>
          <p:cNvPr id="22" name="Text 20"/>
          <p:cNvSpPr txBox="1"/>
          <p:nvPr/>
        </p:nvSpPr>
        <p:spPr>
          <a:xfrm>
            <a:off x="5705856" y="4608576"/>
            <a:ext cx="5559552" cy="274320"/>
          </a:xfrm>
          <a:prstGeom prst="rect">
            <a:avLst/>
          </a:prstGeom>
          <a:noFill/>
          <a:ln/>
        </p:spPr>
        <p:txBody>
          <a:bodyPr wrap="square" lIns="0" tIns="0" rIns="0" bIns="0" rtlCol="0" anchor="ctr"/>
          <a:lstStyle/>
          <a:p>
            <a:pPr indent="0" marL="0">
              <a:buNone/>
            </a:pPr>
            <a:r>
              <a:rPr lang="en-US" sz="1550" b="1" dirty="0">
                <a:solidFill>
                  <a:srgbClr val="16173A"/>
                </a:solidFill>
                <a:latin typeface="Times New Roman" pitchFamily="34" charset="0"/>
                <a:ea typeface="Times New Roman" pitchFamily="34" charset="-122"/>
                <a:cs typeface="Times New Roman" pitchFamily="34" charset="-120"/>
              </a:rPr>
              <a:t>Every figure traces back</a:t>
            </a:r>
            <a:endParaRPr lang="en-US" sz="1550" dirty="0"/>
          </a:p>
        </p:txBody>
      </p:sp>
      <p:sp>
        <p:nvSpPr>
          <p:cNvPr id="23" name="Text 21"/>
          <p:cNvSpPr txBox="1"/>
          <p:nvPr/>
        </p:nvSpPr>
        <p:spPr>
          <a:xfrm>
            <a:off x="5705856" y="4910328"/>
            <a:ext cx="5559552" cy="786384"/>
          </a:xfrm>
          <a:prstGeom prst="rect">
            <a:avLst/>
          </a:prstGeom>
          <a:noFill/>
          <a:ln/>
        </p:spPr>
        <p:txBody>
          <a:bodyPr wrap="square" lIns="0" tIns="0" rIns="0" bIns="0" rtlCol="0" anchor="t"/>
          <a:lstStyle/>
          <a:p>
            <a:pPr indent="0" marL="0">
              <a:lnSpc>
                <a:spcPct val="106000"/>
              </a:lnSpc>
              <a:buNone/>
            </a:pPr>
            <a:r>
              <a:rPr lang="en-US" sz="1300" dirty="0">
                <a:solidFill>
                  <a:srgbClr val="56597D"/>
                </a:solidFill>
                <a:latin typeface="Times New Roman" pitchFamily="34" charset="0"/>
                <a:ea typeface="Times New Roman" pitchFamily="34" charset="-122"/>
                <a:cs typeface="Times New Roman" pitchFamily="34" charset="-120"/>
              </a:rPr>
              <a:t>A methodology view follows the calculation from covered population to headline without anyone opening the code.</a:t>
            </a:r>
            <a:endParaRPr lang="en-US" sz="1300" dirty="0"/>
          </a:p>
        </p:txBody>
      </p:sp>
      <p:sp>
        <p:nvSpPr>
          <p:cNvPr id="25" name="Text 22"/>
          <p:cNvSpPr txBox="1"/>
          <p:nvPr/>
        </p:nvSpPr>
        <p:spPr>
          <a:xfrm>
            <a:off x="566928" y="6336792"/>
            <a:ext cx="5486400" cy="256032"/>
          </a:xfrm>
          <a:prstGeom prst="rect">
            <a:avLst/>
          </a:prstGeom>
          <a:noFill/>
          <a:ln/>
        </p:spPr>
        <p:txBody>
          <a:bodyPr wrap="square" lIns="0" tIns="0" rIns="0" bIns="0" rtlCol="0" anchor="ctr"/>
          <a:lstStyle/>
          <a:p>
            <a:pPr indent="0" marL="0">
              <a:buNone/>
            </a:pPr>
            <a:r>
              <a:rPr lang="en-US" sz="1050" dirty="0">
                <a:solidFill>
                  <a:srgbClr val="DAD6F2"/>
                </a:solidFill>
                <a:latin typeface="Times New Roman" pitchFamily="34" charset="0"/>
                <a:ea typeface="Times New Roman" pitchFamily="34" charset="-122"/>
                <a:cs typeface="Times New Roman" pitchFamily="34" charset="-120"/>
              </a:rPr>
              <a:t>BIET  ·  Team Denovo  ·  IBAB</a:t>
            </a:r>
            <a:endParaRPr lang="en-US" sz="1050" dirty="0"/>
          </a:p>
        </p:txBody>
      </p:sp>
      <p:sp>
        <p:nvSpPr>
          <p:cNvPr id="26" name="Text 23"/>
          <p:cNvSpPr txBox="1"/>
          <p:nvPr/>
        </p:nvSpPr>
        <p:spPr>
          <a:xfrm>
            <a:off x="10710367" y="6336792"/>
            <a:ext cx="914400" cy="256032"/>
          </a:xfrm>
          <a:prstGeom prst="rect">
            <a:avLst/>
          </a:prstGeom>
          <a:noFill/>
          <a:ln/>
        </p:spPr>
        <p:txBody>
          <a:bodyPr wrap="square" lIns="0" tIns="0" rIns="0" bIns="0" rtlCol="0" anchor="ctr"/>
          <a:lstStyle/>
          <a:p>
            <a:pPr algn="r" indent="0" marL="0">
              <a:buNone/>
            </a:pPr>
            <a:r>
              <a:rPr lang="en-US" sz="1050" b="1" dirty="0">
                <a:solidFill>
                  <a:srgbClr val="DAD6F2"/>
                </a:solidFill>
                <a:latin typeface="Times New Roman" pitchFamily="34" charset="0"/>
                <a:ea typeface="Times New Roman" pitchFamily="34" charset="-122"/>
                <a:cs typeface="Times New Roman" pitchFamily="34" charset="-120"/>
              </a:rPr>
              <a:t>03</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6173A"/>
        </a:solidFill>
      </p:bgPr>
    </p:bg>
    <p:spTree>
      <p:nvGrpSpPr>
        <p:cNvPr id="1" name=""/>
        <p:cNvGrpSpPr/>
        <p:nvPr/>
      </p:nvGrpSpPr>
      <p:grpSpPr>
        <a:xfrm>
          <a:off x="0" y="0"/>
          <a:ext cx="0" cy="0"/>
          <a:chOff x="0" y="0"/>
          <a:chExt cx="0" cy="0"/>
        </a:xfrm>
      </p:grpSpPr>
      <p:sp>
        <p:nvSpPr>
          <p:cNvPr id="2" name="Text 0"/>
          <p:cNvSpPr txBox="1"/>
          <p:nvPr/>
        </p:nvSpPr>
        <p:spPr>
          <a:xfrm>
            <a:off x="566928" y="365760"/>
            <a:ext cx="11057839" cy="237744"/>
          </a:xfrm>
          <a:prstGeom prst="rect">
            <a:avLst/>
          </a:prstGeom>
          <a:noFill/>
          <a:ln/>
        </p:spPr>
        <p:txBody>
          <a:bodyPr wrap="square" lIns="0" tIns="0" rIns="0" bIns="0" rtlCol="0" anchor="ctr"/>
          <a:lstStyle/>
          <a:p>
            <a:pPr indent="0" marL="0">
              <a:buNone/>
            </a:pPr>
            <a:r>
              <a:rPr lang="en-US" sz="1200" b="1" spc="240" kern="0" dirty="0">
                <a:solidFill>
                  <a:srgbClr val="B9B3E8"/>
                </a:solidFill>
                <a:latin typeface="Times New Roman" pitchFamily="34" charset="0"/>
                <a:ea typeface="Times New Roman" pitchFamily="34" charset="-122"/>
                <a:cs typeface="Times New Roman" pitchFamily="34" charset="-120"/>
              </a:rPr>
              <a:t>03 · LIVE DEMONSTRATION</a:t>
            </a:r>
            <a:endParaRPr lang="en-US" sz="1200" dirty="0"/>
          </a:p>
        </p:txBody>
      </p:sp>
      <p:sp>
        <p:nvSpPr>
          <p:cNvPr id="3" name="Text 1"/>
          <p:cNvSpPr txBox="1"/>
          <p:nvPr/>
        </p:nvSpPr>
        <p:spPr>
          <a:xfrm>
            <a:off x="566928" y="676656"/>
            <a:ext cx="11057839" cy="658368"/>
          </a:xfrm>
          <a:prstGeom prst="rect">
            <a:avLst/>
          </a:prstGeom>
          <a:noFill/>
          <a:ln/>
        </p:spPr>
        <p:txBody>
          <a:bodyPr wrap="square" lIns="0" tIns="0" rIns="0" bIns="0" rtlCol="0" anchor="ctr"/>
          <a:lstStyle/>
          <a:p>
            <a:pPr indent="0" marL="0">
              <a:lnSpc>
                <a:spcPct val="92000"/>
              </a:lnSpc>
              <a:buNone/>
            </a:pPr>
            <a:r>
              <a:rPr lang="en-US" sz="3600" b="1" dirty="0">
                <a:solidFill>
                  <a:srgbClr val="FFFFFF"/>
                </a:solidFill>
                <a:latin typeface="Times New Roman" pitchFamily="34" charset="0"/>
                <a:ea typeface="Times New Roman" pitchFamily="34" charset="-122"/>
                <a:cs typeface="Times New Roman" pitchFamily="34" charset="-120"/>
              </a:rPr>
              <a:t>Drug X, an early-stage GLP-1, in Germany</a:t>
            </a:r>
            <a:endParaRPr lang="en-US" sz="3600" dirty="0"/>
          </a:p>
        </p:txBody>
      </p:sp>
      <p:sp>
        <p:nvSpPr>
          <p:cNvPr id="4" name="Text 2"/>
          <p:cNvSpPr txBox="1"/>
          <p:nvPr/>
        </p:nvSpPr>
        <p:spPr>
          <a:xfrm>
            <a:off x="566928" y="1389888"/>
            <a:ext cx="9966960" cy="566928"/>
          </a:xfrm>
          <a:prstGeom prst="rect">
            <a:avLst/>
          </a:prstGeom>
          <a:noFill/>
          <a:ln/>
        </p:spPr>
        <p:txBody>
          <a:bodyPr wrap="square" lIns="0" tIns="0" rIns="0" bIns="0" rtlCol="0" anchor="ctr"/>
          <a:lstStyle/>
          <a:p>
            <a:pPr indent="0" marL="0">
              <a:lnSpc>
                <a:spcPct val="112000"/>
              </a:lnSpc>
              <a:buNone/>
            </a:pPr>
            <a:r>
              <a:rPr lang="en-US" sz="1500" dirty="0">
                <a:solidFill>
                  <a:srgbClr val="B9B3E8"/>
                </a:solidFill>
                <a:latin typeface="Times New Roman" pitchFamily="34" charset="0"/>
                <a:ea typeface="Times New Roman" pitchFamily="34" charset="-122"/>
                <a:cs typeface="Times New Roman" pitchFamily="34" charset="-120"/>
              </a:rPr>
              <a:t>Type 2 diabetes. A statutory health insurer's view, over five years, 2026 to 2030.</a:t>
            </a:r>
            <a:endParaRPr lang="en-US" sz="1500" dirty="0"/>
          </a:p>
        </p:txBody>
      </p:sp>
      <p:sp>
        <p:nvSpPr>
          <p:cNvPr id="5" name="Shape 3"/>
          <p:cNvSpPr/>
          <p:nvPr/>
        </p:nvSpPr>
        <p:spPr>
          <a:xfrm>
            <a:off x="566928" y="2157984"/>
            <a:ext cx="1353312" cy="749808"/>
          </a:xfrm>
          <a:prstGeom prst="roundRect">
            <a:avLst>
              <a:gd name="adj" fmla="val 9756"/>
            </a:avLst>
          </a:prstGeom>
          <a:solidFill>
            <a:srgbClr val="24265A"/>
          </a:solidFill>
          <a:ln w="9525">
            <a:solidFill>
              <a:srgbClr val="3A3D76"/>
            </a:solidFill>
            <a:prstDash val="solid"/>
          </a:ln>
        </p:spPr>
      </p:sp>
      <p:sp>
        <p:nvSpPr>
          <p:cNvPr id="6" name="Text 4"/>
          <p:cNvSpPr txBox="1"/>
          <p:nvPr/>
        </p:nvSpPr>
        <p:spPr>
          <a:xfrm>
            <a:off x="694944" y="2249424"/>
            <a:ext cx="365760" cy="219456"/>
          </a:xfrm>
          <a:prstGeom prst="rect">
            <a:avLst/>
          </a:prstGeom>
          <a:noFill/>
          <a:ln/>
        </p:spPr>
        <p:txBody>
          <a:bodyPr wrap="square" lIns="0" tIns="0" rIns="0" bIns="0" rtlCol="0" anchor="ctr"/>
          <a:lstStyle/>
          <a:p>
            <a:pPr indent="0" marL="0">
              <a:buNone/>
            </a:pPr>
            <a:r>
              <a:rPr lang="en-US" sz="1100" b="1" dirty="0">
                <a:solidFill>
                  <a:srgbClr val="B9B3E8"/>
                </a:solidFill>
                <a:latin typeface="Times New Roman" pitchFamily="34" charset="0"/>
                <a:ea typeface="Times New Roman" pitchFamily="34" charset="-122"/>
                <a:cs typeface="Times New Roman" pitchFamily="34" charset="-120"/>
              </a:rPr>
              <a:t>1</a:t>
            </a:r>
            <a:endParaRPr lang="en-US" sz="1100" dirty="0"/>
          </a:p>
        </p:txBody>
      </p:sp>
      <p:sp>
        <p:nvSpPr>
          <p:cNvPr id="7" name="Text 5"/>
          <p:cNvSpPr txBox="1"/>
          <p:nvPr/>
        </p:nvSpPr>
        <p:spPr>
          <a:xfrm>
            <a:off x="694944" y="2487168"/>
            <a:ext cx="1097280" cy="310896"/>
          </a:xfrm>
          <a:prstGeom prst="rect">
            <a:avLst/>
          </a:prstGeom>
          <a:noFill/>
          <a:ln/>
        </p:spPr>
        <p:txBody>
          <a:bodyPr wrap="square" lIns="0" tIns="0" rIns="0" bIns="0" rtlCol="0" anchor="ctr"/>
          <a:lstStyle/>
          <a:p>
            <a:pPr indent="0" marL="0">
              <a:buNone/>
            </a:pPr>
            <a:r>
              <a:rPr lang="en-US" sz="1300" b="1" dirty="0">
                <a:solidFill>
                  <a:srgbClr val="FFFFFF"/>
                </a:solidFill>
                <a:latin typeface="Times New Roman" pitchFamily="34" charset="0"/>
                <a:ea typeface="Times New Roman" pitchFamily="34" charset="-122"/>
                <a:cs typeface="Times New Roman" pitchFamily="34" charset="-120"/>
              </a:rPr>
              <a:t>Therapy area</a:t>
            </a:r>
            <a:endParaRPr lang="en-US" sz="1300" dirty="0"/>
          </a:p>
        </p:txBody>
      </p:sp>
      <p:sp>
        <p:nvSpPr>
          <p:cNvPr id="8" name="Shape 6"/>
          <p:cNvSpPr/>
          <p:nvPr/>
        </p:nvSpPr>
        <p:spPr>
          <a:xfrm>
            <a:off x="2039112" y="2157984"/>
            <a:ext cx="1353312" cy="749808"/>
          </a:xfrm>
          <a:prstGeom prst="roundRect">
            <a:avLst>
              <a:gd name="adj" fmla="val 9756"/>
            </a:avLst>
          </a:prstGeom>
          <a:solidFill>
            <a:srgbClr val="24265A"/>
          </a:solidFill>
          <a:ln w="9525">
            <a:solidFill>
              <a:srgbClr val="3A3D76"/>
            </a:solidFill>
            <a:prstDash val="solid"/>
          </a:ln>
        </p:spPr>
      </p:sp>
      <p:sp>
        <p:nvSpPr>
          <p:cNvPr id="9" name="Text 7"/>
          <p:cNvSpPr txBox="1"/>
          <p:nvPr/>
        </p:nvSpPr>
        <p:spPr>
          <a:xfrm>
            <a:off x="2167128" y="2249424"/>
            <a:ext cx="365760" cy="219456"/>
          </a:xfrm>
          <a:prstGeom prst="rect">
            <a:avLst/>
          </a:prstGeom>
          <a:noFill/>
          <a:ln/>
        </p:spPr>
        <p:txBody>
          <a:bodyPr wrap="square" lIns="0" tIns="0" rIns="0" bIns="0" rtlCol="0" anchor="ctr"/>
          <a:lstStyle/>
          <a:p>
            <a:pPr indent="0" marL="0">
              <a:buNone/>
            </a:pPr>
            <a:r>
              <a:rPr lang="en-US" sz="1100" b="1" dirty="0">
                <a:solidFill>
                  <a:srgbClr val="B9B3E8"/>
                </a:solidFill>
                <a:latin typeface="Times New Roman" pitchFamily="34" charset="0"/>
                <a:ea typeface="Times New Roman" pitchFamily="34" charset="-122"/>
                <a:cs typeface="Times New Roman" pitchFamily="34" charset="-120"/>
              </a:rPr>
              <a:t>2</a:t>
            </a:r>
            <a:endParaRPr lang="en-US" sz="1100" dirty="0"/>
          </a:p>
        </p:txBody>
      </p:sp>
      <p:sp>
        <p:nvSpPr>
          <p:cNvPr id="10" name="Text 8"/>
          <p:cNvSpPr txBox="1"/>
          <p:nvPr/>
        </p:nvSpPr>
        <p:spPr>
          <a:xfrm>
            <a:off x="2167128" y="2487168"/>
            <a:ext cx="1097280" cy="310896"/>
          </a:xfrm>
          <a:prstGeom prst="rect">
            <a:avLst/>
          </a:prstGeom>
          <a:noFill/>
          <a:ln/>
        </p:spPr>
        <p:txBody>
          <a:bodyPr wrap="square" lIns="0" tIns="0" rIns="0" bIns="0" rtlCol="0" anchor="ctr"/>
          <a:lstStyle/>
          <a:p>
            <a:pPr indent="0" marL="0">
              <a:buNone/>
            </a:pPr>
            <a:r>
              <a:rPr lang="en-US" sz="1300" b="1" dirty="0">
                <a:solidFill>
                  <a:srgbClr val="FFFFFF"/>
                </a:solidFill>
                <a:latin typeface="Times New Roman" pitchFamily="34" charset="0"/>
                <a:ea typeface="Times New Roman" pitchFamily="34" charset="-122"/>
                <a:cs typeface="Times New Roman" pitchFamily="34" charset="-120"/>
              </a:rPr>
              <a:t>Population</a:t>
            </a:r>
            <a:endParaRPr lang="en-US" sz="1300" dirty="0"/>
          </a:p>
        </p:txBody>
      </p:sp>
      <p:sp>
        <p:nvSpPr>
          <p:cNvPr id="11" name="Shape 9"/>
          <p:cNvSpPr/>
          <p:nvPr/>
        </p:nvSpPr>
        <p:spPr>
          <a:xfrm>
            <a:off x="3511296" y="2157984"/>
            <a:ext cx="1353312" cy="749808"/>
          </a:xfrm>
          <a:prstGeom prst="roundRect">
            <a:avLst>
              <a:gd name="adj" fmla="val 9756"/>
            </a:avLst>
          </a:prstGeom>
          <a:solidFill>
            <a:srgbClr val="24265A"/>
          </a:solidFill>
          <a:ln w="9525">
            <a:solidFill>
              <a:srgbClr val="3A3D76"/>
            </a:solidFill>
            <a:prstDash val="solid"/>
          </a:ln>
        </p:spPr>
      </p:sp>
      <p:sp>
        <p:nvSpPr>
          <p:cNvPr id="12" name="Text 10"/>
          <p:cNvSpPr txBox="1"/>
          <p:nvPr/>
        </p:nvSpPr>
        <p:spPr>
          <a:xfrm>
            <a:off x="3639312" y="2249424"/>
            <a:ext cx="365760" cy="219456"/>
          </a:xfrm>
          <a:prstGeom prst="rect">
            <a:avLst/>
          </a:prstGeom>
          <a:noFill/>
          <a:ln/>
        </p:spPr>
        <p:txBody>
          <a:bodyPr wrap="square" lIns="0" tIns="0" rIns="0" bIns="0" rtlCol="0" anchor="ctr"/>
          <a:lstStyle/>
          <a:p>
            <a:pPr indent="0" marL="0">
              <a:buNone/>
            </a:pPr>
            <a:r>
              <a:rPr lang="en-US" sz="1100" b="1" dirty="0">
                <a:solidFill>
                  <a:srgbClr val="B9B3E8"/>
                </a:solidFill>
                <a:latin typeface="Times New Roman" pitchFamily="34" charset="0"/>
                <a:ea typeface="Times New Roman" pitchFamily="34" charset="-122"/>
                <a:cs typeface="Times New Roman" pitchFamily="34" charset="-120"/>
              </a:rPr>
              <a:t>3</a:t>
            </a:r>
            <a:endParaRPr lang="en-US" sz="1100" dirty="0"/>
          </a:p>
        </p:txBody>
      </p:sp>
      <p:sp>
        <p:nvSpPr>
          <p:cNvPr id="13" name="Text 11"/>
          <p:cNvSpPr txBox="1"/>
          <p:nvPr/>
        </p:nvSpPr>
        <p:spPr>
          <a:xfrm>
            <a:off x="3639312" y="2487168"/>
            <a:ext cx="1097280" cy="310896"/>
          </a:xfrm>
          <a:prstGeom prst="rect">
            <a:avLst/>
          </a:prstGeom>
          <a:noFill/>
          <a:ln/>
        </p:spPr>
        <p:txBody>
          <a:bodyPr wrap="square" lIns="0" tIns="0" rIns="0" bIns="0" rtlCol="0" anchor="ctr"/>
          <a:lstStyle/>
          <a:p>
            <a:pPr indent="0" marL="0">
              <a:buNone/>
            </a:pPr>
            <a:r>
              <a:rPr lang="en-US" sz="1300" b="1" dirty="0">
                <a:solidFill>
                  <a:srgbClr val="FFFFFF"/>
                </a:solidFill>
                <a:latin typeface="Times New Roman" pitchFamily="34" charset="0"/>
                <a:ea typeface="Times New Roman" pitchFamily="34" charset="-122"/>
                <a:cs typeface="Times New Roman" pitchFamily="34" charset="-120"/>
              </a:rPr>
              <a:t>Current care</a:t>
            </a:r>
            <a:endParaRPr lang="en-US" sz="1300" dirty="0"/>
          </a:p>
        </p:txBody>
      </p:sp>
      <p:sp>
        <p:nvSpPr>
          <p:cNvPr id="14" name="Shape 12"/>
          <p:cNvSpPr/>
          <p:nvPr/>
        </p:nvSpPr>
        <p:spPr>
          <a:xfrm>
            <a:off x="4983480" y="2157984"/>
            <a:ext cx="1353312" cy="749808"/>
          </a:xfrm>
          <a:prstGeom prst="roundRect">
            <a:avLst>
              <a:gd name="adj" fmla="val 9756"/>
            </a:avLst>
          </a:prstGeom>
          <a:solidFill>
            <a:srgbClr val="24265A"/>
          </a:solidFill>
          <a:ln w="9525">
            <a:solidFill>
              <a:srgbClr val="3A3D76"/>
            </a:solidFill>
            <a:prstDash val="solid"/>
          </a:ln>
        </p:spPr>
      </p:sp>
      <p:sp>
        <p:nvSpPr>
          <p:cNvPr id="15" name="Text 13"/>
          <p:cNvSpPr txBox="1"/>
          <p:nvPr/>
        </p:nvSpPr>
        <p:spPr>
          <a:xfrm>
            <a:off x="5111496" y="2249424"/>
            <a:ext cx="365760" cy="219456"/>
          </a:xfrm>
          <a:prstGeom prst="rect">
            <a:avLst/>
          </a:prstGeom>
          <a:noFill/>
          <a:ln/>
        </p:spPr>
        <p:txBody>
          <a:bodyPr wrap="square" lIns="0" tIns="0" rIns="0" bIns="0" rtlCol="0" anchor="ctr"/>
          <a:lstStyle/>
          <a:p>
            <a:pPr indent="0" marL="0">
              <a:buNone/>
            </a:pPr>
            <a:r>
              <a:rPr lang="en-US" sz="1100" b="1" dirty="0">
                <a:solidFill>
                  <a:srgbClr val="B9B3E8"/>
                </a:solidFill>
                <a:latin typeface="Times New Roman" pitchFamily="34" charset="0"/>
                <a:ea typeface="Times New Roman" pitchFamily="34" charset="-122"/>
                <a:cs typeface="Times New Roman" pitchFamily="34" charset="-120"/>
              </a:rPr>
              <a:t>4</a:t>
            </a:r>
            <a:endParaRPr lang="en-US" sz="1100" dirty="0"/>
          </a:p>
        </p:txBody>
      </p:sp>
      <p:sp>
        <p:nvSpPr>
          <p:cNvPr id="16" name="Text 14"/>
          <p:cNvSpPr txBox="1"/>
          <p:nvPr/>
        </p:nvSpPr>
        <p:spPr>
          <a:xfrm>
            <a:off x="5111496" y="2487168"/>
            <a:ext cx="1097280" cy="310896"/>
          </a:xfrm>
          <a:prstGeom prst="rect">
            <a:avLst/>
          </a:prstGeom>
          <a:noFill/>
          <a:ln/>
        </p:spPr>
        <p:txBody>
          <a:bodyPr wrap="square" lIns="0" tIns="0" rIns="0" bIns="0" rtlCol="0" anchor="ctr"/>
          <a:lstStyle/>
          <a:p>
            <a:pPr indent="0" marL="0">
              <a:buNone/>
            </a:pPr>
            <a:r>
              <a:rPr lang="en-US" sz="1300" b="1" dirty="0">
                <a:solidFill>
                  <a:srgbClr val="FFFFFF"/>
                </a:solidFill>
                <a:latin typeface="Times New Roman" pitchFamily="34" charset="0"/>
                <a:ea typeface="Times New Roman" pitchFamily="34" charset="-122"/>
                <a:cs typeface="Times New Roman" pitchFamily="34" charset="-120"/>
              </a:rPr>
              <a:t>Intervention</a:t>
            </a:r>
            <a:endParaRPr lang="en-US" sz="1300" dirty="0"/>
          </a:p>
        </p:txBody>
      </p:sp>
      <p:sp>
        <p:nvSpPr>
          <p:cNvPr id="17" name="Shape 15"/>
          <p:cNvSpPr/>
          <p:nvPr/>
        </p:nvSpPr>
        <p:spPr>
          <a:xfrm>
            <a:off x="6455664" y="2157984"/>
            <a:ext cx="1353312" cy="749808"/>
          </a:xfrm>
          <a:prstGeom prst="roundRect">
            <a:avLst>
              <a:gd name="adj" fmla="val 9756"/>
            </a:avLst>
          </a:prstGeom>
          <a:solidFill>
            <a:srgbClr val="24265A"/>
          </a:solidFill>
          <a:ln w="9525">
            <a:solidFill>
              <a:srgbClr val="3A3D76"/>
            </a:solidFill>
            <a:prstDash val="solid"/>
          </a:ln>
        </p:spPr>
      </p:sp>
      <p:sp>
        <p:nvSpPr>
          <p:cNvPr id="18" name="Text 16"/>
          <p:cNvSpPr txBox="1"/>
          <p:nvPr/>
        </p:nvSpPr>
        <p:spPr>
          <a:xfrm>
            <a:off x="6583680" y="2249424"/>
            <a:ext cx="365760" cy="219456"/>
          </a:xfrm>
          <a:prstGeom prst="rect">
            <a:avLst/>
          </a:prstGeom>
          <a:noFill/>
          <a:ln/>
        </p:spPr>
        <p:txBody>
          <a:bodyPr wrap="square" lIns="0" tIns="0" rIns="0" bIns="0" rtlCol="0" anchor="ctr"/>
          <a:lstStyle/>
          <a:p>
            <a:pPr indent="0" marL="0">
              <a:buNone/>
            </a:pPr>
            <a:r>
              <a:rPr lang="en-US" sz="1100" b="1" dirty="0">
                <a:solidFill>
                  <a:srgbClr val="B9B3E8"/>
                </a:solidFill>
                <a:latin typeface="Times New Roman" pitchFamily="34" charset="0"/>
                <a:ea typeface="Times New Roman" pitchFamily="34" charset="-122"/>
                <a:cs typeface="Times New Roman" pitchFamily="34" charset="-120"/>
              </a:rPr>
              <a:t>5</a:t>
            </a:r>
            <a:endParaRPr lang="en-US" sz="1100" dirty="0"/>
          </a:p>
        </p:txBody>
      </p:sp>
      <p:sp>
        <p:nvSpPr>
          <p:cNvPr id="19" name="Text 17"/>
          <p:cNvSpPr txBox="1"/>
          <p:nvPr/>
        </p:nvSpPr>
        <p:spPr>
          <a:xfrm>
            <a:off x="6583680" y="2487168"/>
            <a:ext cx="1097280" cy="310896"/>
          </a:xfrm>
          <a:prstGeom prst="rect">
            <a:avLst/>
          </a:prstGeom>
          <a:noFill/>
          <a:ln/>
        </p:spPr>
        <p:txBody>
          <a:bodyPr wrap="square" lIns="0" tIns="0" rIns="0" bIns="0" rtlCol="0" anchor="ctr"/>
          <a:lstStyle/>
          <a:p>
            <a:pPr indent="0" marL="0">
              <a:buNone/>
            </a:pPr>
            <a:r>
              <a:rPr lang="en-US" sz="1300" b="1" dirty="0">
                <a:solidFill>
                  <a:srgbClr val="FFFFFF"/>
                </a:solidFill>
                <a:latin typeface="Times New Roman" pitchFamily="34" charset="0"/>
                <a:ea typeface="Times New Roman" pitchFamily="34" charset="-122"/>
                <a:cs typeface="Times New Roman" pitchFamily="34" charset="-120"/>
              </a:rPr>
              <a:t>Uptake</a:t>
            </a:r>
            <a:endParaRPr lang="en-US" sz="1300" dirty="0"/>
          </a:p>
        </p:txBody>
      </p:sp>
      <p:sp>
        <p:nvSpPr>
          <p:cNvPr id="20" name="Shape 18"/>
          <p:cNvSpPr/>
          <p:nvPr/>
        </p:nvSpPr>
        <p:spPr>
          <a:xfrm>
            <a:off x="7927848" y="2157984"/>
            <a:ext cx="1353312" cy="749808"/>
          </a:xfrm>
          <a:prstGeom prst="roundRect">
            <a:avLst>
              <a:gd name="adj" fmla="val 9756"/>
            </a:avLst>
          </a:prstGeom>
          <a:solidFill>
            <a:srgbClr val="24265A"/>
          </a:solidFill>
          <a:ln w="9525">
            <a:solidFill>
              <a:srgbClr val="3A3D76"/>
            </a:solidFill>
            <a:prstDash val="solid"/>
          </a:ln>
        </p:spPr>
      </p:sp>
      <p:sp>
        <p:nvSpPr>
          <p:cNvPr id="21" name="Text 19"/>
          <p:cNvSpPr txBox="1"/>
          <p:nvPr/>
        </p:nvSpPr>
        <p:spPr>
          <a:xfrm>
            <a:off x="8055864" y="2249424"/>
            <a:ext cx="365760" cy="219456"/>
          </a:xfrm>
          <a:prstGeom prst="rect">
            <a:avLst/>
          </a:prstGeom>
          <a:noFill/>
          <a:ln/>
        </p:spPr>
        <p:txBody>
          <a:bodyPr wrap="square" lIns="0" tIns="0" rIns="0" bIns="0" rtlCol="0" anchor="ctr"/>
          <a:lstStyle/>
          <a:p>
            <a:pPr indent="0" marL="0">
              <a:buNone/>
            </a:pPr>
            <a:r>
              <a:rPr lang="en-US" sz="1100" b="1" dirty="0">
                <a:solidFill>
                  <a:srgbClr val="B9B3E8"/>
                </a:solidFill>
                <a:latin typeface="Times New Roman" pitchFamily="34" charset="0"/>
                <a:ea typeface="Times New Roman" pitchFamily="34" charset="-122"/>
                <a:cs typeface="Times New Roman" pitchFamily="34" charset="-120"/>
              </a:rPr>
              <a:t>6</a:t>
            </a:r>
            <a:endParaRPr lang="en-US" sz="1100" dirty="0"/>
          </a:p>
        </p:txBody>
      </p:sp>
      <p:sp>
        <p:nvSpPr>
          <p:cNvPr id="22" name="Text 20"/>
          <p:cNvSpPr txBox="1"/>
          <p:nvPr/>
        </p:nvSpPr>
        <p:spPr>
          <a:xfrm>
            <a:off x="8055864" y="2487168"/>
            <a:ext cx="1097280" cy="310896"/>
          </a:xfrm>
          <a:prstGeom prst="rect">
            <a:avLst/>
          </a:prstGeom>
          <a:noFill/>
          <a:ln/>
        </p:spPr>
        <p:txBody>
          <a:bodyPr wrap="square" lIns="0" tIns="0" rIns="0" bIns="0" rtlCol="0" anchor="ctr"/>
          <a:lstStyle/>
          <a:p>
            <a:pPr indent="0" marL="0">
              <a:buNone/>
            </a:pPr>
            <a:r>
              <a:rPr lang="en-US" sz="1300" b="1" dirty="0">
                <a:solidFill>
                  <a:srgbClr val="FFFFFF"/>
                </a:solidFill>
                <a:latin typeface="Times New Roman" pitchFamily="34" charset="0"/>
                <a:ea typeface="Times New Roman" pitchFamily="34" charset="-122"/>
                <a:cs typeface="Times New Roman" pitchFamily="34" charset="-120"/>
              </a:rPr>
              <a:t>Outcomes</a:t>
            </a:r>
            <a:endParaRPr lang="en-US" sz="1300" dirty="0"/>
          </a:p>
        </p:txBody>
      </p:sp>
      <p:sp>
        <p:nvSpPr>
          <p:cNvPr id="23" name="Shape 21"/>
          <p:cNvSpPr/>
          <p:nvPr/>
        </p:nvSpPr>
        <p:spPr>
          <a:xfrm>
            <a:off x="9400032" y="2157984"/>
            <a:ext cx="2224735" cy="749808"/>
          </a:xfrm>
          <a:prstGeom prst="roundRect">
            <a:avLst>
              <a:gd name="adj" fmla="val 9756"/>
            </a:avLst>
          </a:prstGeom>
          <a:solidFill>
            <a:srgbClr val="5B3BD4"/>
          </a:solidFill>
          <a:ln/>
        </p:spPr>
      </p:sp>
      <p:sp>
        <p:nvSpPr>
          <p:cNvPr id="24" name="Text 22"/>
          <p:cNvSpPr txBox="1"/>
          <p:nvPr/>
        </p:nvSpPr>
        <p:spPr>
          <a:xfrm>
            <a:off x="9582912" y="2286000"/>
            <a:ext cx="1828800" cy="274320"/>
          </a:xfrm>
          <a:prstGeom prst="rect">
            <a:avLst/>
          </a:prstGeom>
          <a:noFill/>
          <a:ln/>
        </p:spPr>
        <p:txBody>
          <a:bodyPr wrap="square" lIns="0" tIns="0" rIns="0" bIns="0" rtlCol="0" anchor="ctr"/>
          <a:lstStyle/>
          <a:p>
            <a:pPr indent="0" marL="0">
              <a:buNone/>
            </a:pPr>
            <a:r>
              <a:rPr lang="en-US" sz="1450" b="1" dirty="0">
                <a:solidFill>
                  <a:srgbClr val="FFFFFF"/>
                </a:solidFill>
                <a:latin typeface="Times New Roman" pitchFamily="34" charset="0"/>
                <a:ea typeface="Times New Roman" pitchFamily="34" charset="-122"/>
                <a:cs typeface="Times New Roman" pitchFamily="34" charset="-120"/>
              </a:rPr>
              <a:t>Results</a:t>
            </a:r>
            <a:endParaRPr lang="en-US" sz="1450" dirty="0"/>
          </a:p>
        </p:txBody>
      </p:sp>
      <p:sp>
        <p:nvSpPr>
          <p:cNvPr id="25" name="Text 23"/>
          <p:cNvSpPr txBox="1"/>
          <p:nvPr/>
        </p:nvSpPr>
        <p:spPr>
          <a:xfrm>
            <a:off x="9582912" y="2551176"/>
            <a:ext cx="2103120" cy="256032"/>
          </a:xfrm>
          <a:prstGeom prst="rect">
            <a:avLst/>
          </a:prstGeom>
          <a:noFill/>
          <a:ln/>
        </p:spPr>
        <p:txBody>
          <a:bodyPr wrap="square" lIns="0" tIns="0" rIns="0" bIns="0" rtlCol="0" anchor="ctr"/>
          <a:lstStyle/>
          <a:p>
            <a:pPr indent="0" marL="0">
              <a:buNone/>
            </a:pPr>
            <a:r>
              <a:rPr lang="en-US" sz="1150" dirty="0">
                <a:solidFill>
                  <a:srgbClr val="DAD3FB"/>
                </a:solidFill>
                <a:latin typeface="Times New Roman" pitchFamily="34" charset="0"/>
                <a:ea typeface="Times New Roman" pitchFamily="34" charset="-122"/>
                <a:cs typeface="Times New Roman" pitchFamily="34" charset="-120"/>
              </a:rPr>
              <a:t>7 views over one calculation</a:t>
            </a:r>
            <a:endParaRPr lang="en-US" sz="1150" dirty="0"/>
          </a:p>
        </p:txBody>
      </p:sp>
      <p:sp>
        <p:nvSpPr>
          <p:cNvPr id="26" name="Text 24"/>
          <p:cNvSpPr txBox="1"/>
          <p:nvPr/>
        </p:nvSpPr>
        <p:spPr>
          <a:xfrm>
            <a:off x="566928" y="3310128"/>
            <a:ext cx="5486400" cy="237744"/>
          </a:xfrm>
          <a:prstGeom prst="rect">
            <a:avLst/>
          </a:prstGeom>
          <a:noFill/>
          <a:ln/>
        </p:spPr>
        <p:txBody>
          <a:bodyPr wrap="square" lIns="0" tIns="0" rIns="0" bIns="0" rtlCol="0" anchor="ctr"/>
          <a:lstStyle/>
          <a:p>
            <a:pPr indent="0" marL="0">
              <a:buNone/>
            </a:pPr>
            <a:r>
              <a:rPr lang="en-US" sz="1100" b="1" spc="200" kern="0" dirty="0">
                <a:solidFill>
                  <a:srgbClr val="B9B3E8"/>
                </a:solidFill>
                <a:latin typeface="Times New Roman" pitchFamily="34" charset="0"/>
                <a:ea typeface="Times New Roman" pitchFamily="34" charset="-122"/>
                <a:cs typeface="Times New Roman" pitchFamily="34" charset="-120"/>
              </a:rPr>
              <a:t>THREE THINGS TO WATCH</a:t>
            </a:r>
            <a:endParaRPr lang="en-US" sz="1100" dirty="0"/>
          </a:p>
        </p:txBody>
      </p:sp>
      <p:sp>
        <p:nvSpPr>
          <p:cNvPr id="27" name="Shape 25"/>
          <p:cNvSpPr/>
          <p:nvPr/>
        </p:nvSpPr>
        <p:spPr>
          <a:xfrm>
            <a:off x="566928" y="3675888"/>
            <a:ext cx="3503066" cy="1700784"/>
          </a:xfrm>
          <a:prstGeom prst="roundRect">
            <a:avLst>
              <a:gd name="adj" fmla="val 3226"/>
            </a:avLst>
          </a:prstGeom>
          <a:solidFill>
            <a:srgbClr val="24265A"/>
          </a:solidFill>
          <a:ln/>
          <a:effectLst>
            <a:outerShdw sx="100000" sy="100000" kx="0" ky="0" algn="bl" rotWithShape="0" blurRad="101600" dist="25400" dir="5400000">
              <a:srgbClr val="000000">
                <a:alpha val="18000"/>
              </a:srgbClr>
            </a:outerShdw>
          </a:effectLst>
        </p:spPr>
      </p:sp>
      <p:sp>
        <p:nvSpPr>
          <p:cNvPr id="28" name="Text 26"/>
          <p:cNvSpPr txBox="1"/>
          <p:nvPr/>
        </p:nvSpPr>
        <p:spPr>
          <a:xfrm>
            <a:off x="877824" y="3931920"/>
            <a:ext cx="2881274" cy="274320"/>
          </a:xfrm>
          <a:prstGeom prst="rect">
            <a:avLst/>
          </a:prstGeom>
          <a:noFill/>
          <a:ln/>
        </p:spPr>
        <p:txBody>
          <a:bodyPr wrap="square" lIns="0" tIns="0" rIns="0" bIns="0" rtlCol="0" anchor="ctr"/>
          <a:lstStyle/>
          <a:p>
            <a:pPr indent="0" marL="0">
              <a:buNone/>
            </a:pPr>
            <a:r>
              <a:rPr lang="en-US" sz="1550" b="1" dirty="0">
                <a:solidFill>
                  <a:srgbClr val="FFFFFF"/>
                </a:solidFill>
                <a:latin typeface="Times New Roman" pitchFamily="34" charset="0"/>
                <a:ea typeface="Times New Roman" pitchFamily="34" charset="-122"/>
                <a:cs typeface="Times New Roman" pitchFamily="34" charset="-120"/>
              </a:rPr>
              <a:t>The funnel</a:t>
            </a:r>
            <a:endParaRPr lang="en-US" sz="1550" dirty="0"/>
          </a:p>
        </p:txBody>
      </p:sp>
      <p:sp>
        <p:nvSpPr>
          <p:cNvPr id="29" name="Text 27"/>
          <p:cNvSpPr txBox="1"/>
          <p:nvPr/>
        </p:nvSpPr>
        <p:spPr>
          <a:xfrm>
            <a:off x="877824" y="4261104"/>
            <a:ext cx="2881274" cy="969264"/>
          </a:xfrm>
          <a:prstGeom prst="rect">
            <a:avLst/>
          </a:prstGeom>
          <a:noFill/>
          <a:ln/>
        </p:spPr>
        <p:txBody>
          <a:bodyPr wrap="square" lIns="0" tIns="0" rIns="0" bIns="0" rtlCol="0" anchor="ctr"/>
          <a:lstStyle/>
          <a:p>
            <a:pPr indent="0" marL="0">
              <a:lnSpc>
                <a:spcPct val="110000"/>
              </a:lnSpc>
              <a:buNone/>
            </a:pPr>
            <a:r>
              <a:rPr lang="en-US" sz="1300" dirty="0">
                <a:solidFill>
                  <a:srgbClr val="B9B3E8"/>
                </a:solidFill>
                <a:latin typeface="Times New Roman" pitchFamily="34" charset="0"/>
                <a:ea typeface="Times New Roman" pitchFamily="34" charset="-122"/>
                <a:cs typeface="Times New Roman" pitchFamily="34" charset="-120"/>
              </a:rPr>
              <a:t>8,000,000 covered lives narrow to 181,764 eligible patients. Every currency figure in the tool hangs off that number.</a:t>
            </a:r>
            <a:endParaRPr lang="en-US" sz="1300" dirty="0"/>
          </a:p>
        </p:txBody>
      </p:sp>
      <p:sp>
        <p:nvSpPr>
          <p:cNvPr id="30" name="Shape 28"/>
          <p:cNvSpPr/>
          <p:nvPr/>
        </p:nvSpPr>
        <p:spPr>
          <a:xfrm>
            <a:off x="4344314" y="3675888"/>
            <a:ext cx="3503066" cy="1700784"/>
          </a:xfrm>
          <a:prstGeom prst="roundRect">
            <a:avLst>
              <a:gd name="adj" fmla="val 3226"/>
            </a:avLst>
          </a:prstGeom>
          <a:solidFill>
            <a:srgbClr val="24265A"/>
          </a:solidFill>
          <a:ln/>
          <a:effectLst>
            <a:outerShdw sx="100000" sy="100000" kx="0" ky="0" algn="bl" rotWithShape="0" blurRad="101600" dist="25400" dir="5400000">
              <a:srgbClr val="000000">
                <a:alpha val="18000"/>
              </a:srgbClr>
            </a:outerShdw>
          </a:effectLst>
        </p:spPr>
      </p:sp>
      <p:sp>
        <p:nvSpPr>
          <p:cNvPr id="31" name="Text 29"/>
          <p:cNvSpPr txBox="1"/>
          <p:nvPr/>
        </p:nvSpPr>
        <p:spPr>
          <a:xfrm>
            <a:off x="4655210" y="3931920"/>
            <a:ext cx="2881274" cy="274320"/>
          </a:xfrm>
          <a:prstGeom prst="rect">
            <a:avLst/>
          </a:prstGeom>
          <a:noFill/>
          <a:ln/>
        </p:spPr>
        <p:txBody>
          <a:bodyPr wrap="square" lIns="0" tIns="0" rIns="0" bIns="0" rtlCol="0" anchor="ctr"/>
          <a:lstStyle/>
          <a:p>
            <a:pPr indent="0" marL="0">
              <a:buNone/>
            </a:pPr>
            <a:r>
              <a:rPr lang="en-US" sz="1550" b="1" dirty="0">
                <a:solidFill>
                  <a:srgbClr val="FFFFFF"/>
                </a:solidFill>
                <a:latin typeface="Times New Roman" pitchFamily="34" charset="0"/>
                <a:ea typeface="Times New Roman" pitchFamily="34" charset="-122"/>
                <a:cs typeface="Times New Roman" pitchFamily="34" charset="-120"/>
              </a:rPr>
              <a:t>One answer, two units</a:t>
            </a:r>
            <a:endParaRPr lang="en-US" sz="1550" dirty="0"/>
          </a:p>
        </p:txBody>
      </p:sp>
      <p:sp>
        <p:nvSpPr>
          <p:cNvPr id="32" name="Text 30"/>
          <p:cNvSpPr txBox="1"/>
          <p:nvPr/>
        </p:nvSpPr>
        <p:spPr>
          <a:xfrm>
            <a:off x="4655210" y="4261104"/>
            <a:ext cx="2881274" cy="969264"/>
          </a:xfrm>
          <a:prstGeom prst="rect">
            <a:avLst/>
          </a:prstGeom>
          <a:noFill/>
          <a:ln/>
        </p:spPr>
        <p:txBody>
          <a:bodyPr wrap="square" lIns="0" tIns="0" rIns="0" bIns="0" rtlCol="0" anchor="ctr"/>
          <a:lstStyle/>
          <a:p>
            <a:pPr indent="0" marL="0">
              <a:lnSpc>
                <a:spcPct val="110000"/>
              </a:lnSpc>
              <a:buNone/>
            </a:pPr>
            <a:r>
              <a:rPr lang="en-US" sz="1300" dirty="0">
                <a:solidFill>
                  <a:srgbClr val="B9B3E8"/>
                </a:solidFill>
                <a:latin typeface="Times New Roman" pitchFamily="34" charset="0"/>
                <a:ea typeface="Times New Roman" pitchFamily="34" charset="-122"/>
                <a:cs typeface="Times New Roman" pitchFamily="34" charset="-120"/>
              </a:rPr>
              <a:t>€296.6M over five years is €0.13 per member per month. The second is the one a payer negotiates on.</a:t>
            </a:r>
            <a:endParaRPr lang="en-US" sz="1300" dirty="0"/>
          </a:p>
        </p:txBody>
      </p:sp>
      <p:sp>
        <p:nvSpPr>
          <p:cNvPr id="33" name="Shape 31"/>
          <p:cNvSpPr/>
          <p:nvPr/>
        </p:nvSpPr>
        <p:spPr>
          <a:xfrm>
            <a:off x="8121701" y="3675888"/>
            <a:ext cx="3503066" cy="1700784"/>
          </a:xfrm>
          <a:prstGeom prst="roundRect">
            <a:avLst>
              <a:gd name="adj" fmla="val 3226"/>
            </a:avLst>
          </a:prstGeom>
          <a:solidFill>
            <a:srgbClr val="24265A"/>
          </a:solidFill>
          <a:ln/>
          <a:effectLst>
            <a:outerShdw sx="100000" sy="100000" kx="0" ky="0" algn="bl" rotWithShape="0" blurRad="101600" dist="25400" dir="5400000">
              <a:srgbClr val="000000">
                <a:alpha val="18000"/>
              </a:srgbClr>
            </a:outerShdw>
          </a:effectLst>
        </p:spPr>
      </p:sp>
      <p:sp>
        <p:nvSpPr>
          <p:cNvPr id="34" name="Text 32"/>
          <p:cNvSpPr txBox="1"/>
          <p:nvPr/>
        </p:nvSpPr>
        <p:spPr>
          <a:xfrm>
            <a:off x="8432597" y="3931920"/>
            <a:ext cx="2881274" cy="274320"/>
          </a:xfrm>
          <a:prstGeom prst="rect">
            <a:avLst/>
          </a:prstGeom>
          <a:noFill/>
          <a:ln/>
        </p:spPr>
        <p:txBody>
          <a:bodyPr wrap="square" lIns="0" tIns="0" rIns="0" bIns="0" rtlCol="0" anchor="ctr"/>
          <a:lstStyle/>
          <a:p>
            <a:pPr indent="0" marL="0">
              <a:buNone/>
            </a:pPr>
            <a:r>
              <a:rPr lang="en-US" sz="1550" b="1" dirty="0">
                <a:solidFill>
                  <a:srgbClr val="FFFFFF"/>
                </a:solidFill>
                <a:latin typeface="Times New Roman" pitchFamily="34" charset="0"/>
                <a:ea typeface="Times New Roman" pitchFamily="34" charset="-122"/>
                <a:cs typeface="Times New Roman" pitchFamily="34" charset="-120"/>
              </a:rPr>
              <a:t>What would change it</a:t>
            </a:r>
            <a:endParaRPr lang="en-US" sz="1550" dirty="0"/>
          </a:p>
        </p:txBody>
      </p:sp>
      <p:sp>
        <p:nvSpPr>
          <p:cNvPr id="35" name="Text 33"/>
          <p:cNvSpPr txBox="1"/>
          <p:nvPr/>
        </p:nvSpPr>
        <p:spPr>
          <a:xfrm>
            <a:off x="8432597" y="4261104"/>
            <a:ext cx="2881274" cy="969264"/>
          </a:xfrm>
          <a:prstGeom prst="rect">
            <a:avLst/>
          </a:prstGeom>
          <a:noFill/>
          <a:ln/>
        </p:spPr>
        <p:txBody>
          <a:bodyPr wrap="square" lIns="0" tIns="0" rIns="0" bIns="0" rtlCol="0" anchor="ctr"/>
          <a:lstStyle/>
          <a:p>
            <a:pPr indent="0" marL="0">
              <a:lnSpc>
                <a:spcPct val="110000"/>
              </a:lnSpc>
              <a:buNone/>
            </a:pPr>
            <a:r>
              <a:rPr lang="en-US" sz="1300" dirty="0">
                <a:solidFill>
                  <a:srgbClr val="B9B3E8"/>
                </a:solidFill>
                <a:latin typeface="Times New Roman" pitchFamily="34" charset="0"/>
                <a:ea typeface="Times New Roman" pitchFamily="34" charset="-122"/>
                <a:cs typeface="Times New Roman" pitchFamily="34" charset="-120"/>
              </a:rPr>
              <a:t>Ten assumptions moved ±20% and ranked by how far the answer swings. It says where to spend the evidence budget.</a:t>
            </a:r>
            <a:endParaRPr lang="en-US" sz="1300" dirty="0"/>
          </a:p>
        </p:txBody>
      </p:sp>
      <p:sp>
        <p:nvSpPr>
          <p:cNvPr id="36" name="Text 34"/>
          <p:cNvSpPr txBox="1"/>
          <p:nvPr/>
        </p:nvSpPr>
        <p:spPr>
          <a:xfrm>
            <a:off x="566928" y="5687568"/>
            <a:ext cx="11057839" cy="292608"/>
          </a:xfrm>
          <a:prstGeom prst="rect">
            <a:avLst/>
          </a:prstGeom>
          <a:noFill/>
          <a:ln/>
        </p:spPr>
        <p:txBody>
          <a:bodyPr wrap="square" lIns="0" tIns="0" rIns="0" bIns="0" rtlCol="0" anchor="ctr"/>
          <a:lstStyle/>
          <a:p>
            <a:pPr indent="0" marL="0">
              <a:buNone/>
            </a:pPr>
            <a:r>
              <a:rPr lang="en-US" sz="1150" i="1" dirty="0">
                <a:solidFill>
                  <a:srgbClr val="8B85C6"/>
                </a:solidFill>
                <a:latin typeface="Times New Roman" pitchFamily="34" charset="0"/>
                <a:ea typeface="Times New Roman" pitchFamily="34" charset="-122"/>
                <a:cs typeface="Times New Roman" pitchFamily="34" charset="-120"/>
              </a:rPr>
              <a:t>All figures in the demonstration scenario are illustrative. They are plausible for a walkthrough, not drawn from a validated published source.</a:t>
            </a:r>
            <a:endParaRPr lang="en-US" sz="1150" dirty="0"/>
          </a:p>
        </p:txBody>
      </p:sp>
      <p:sp>
        <p:nvSpPr>
          <p:cNvPr id="38" name="Text 35"/>
          <p:cNvSpPr txBox="1"/>
          <p:nvPr/>
        </p:nvSpPr>
        <p:spPr>
          <a:xfrm>
            <a:off x="566928" y="6336792"/>
            <a:ext cx="5486400" cy="256032"/>
          </a:xfrm>
          <a:prstGeom prst="rect">
            <a:avLst/>
          </a:prstGeom>
          <a:noFill/>
          <a:ln/>
        </p:spPr>
        <p:txBody>
          <a:bodyPr wrap="square" lIns="0" tIns="0" rIns="0" bIns="0" rtlCol="0" anchor="ctr"/>
          <a:lstStyle/>
          <a:p>
            <a:pPr indent="0" marL="0">
              <a:buNone/>
            </a:pPr>
            <a:r>
              <a:rPr lang="en-US" sz="1050" dirty="0">
                <a:solidFill>
                  <a:srgbClr val="2E3168"/>
                </a:solidFill>
                <a:latin typeface="Times New Roman" pitchFamily="34" charset="0"/>
                <a:ea typeface="Times New Roman" pitchFamily="34" charset="-122"/>
                <a:cs typeface="Times New Roman" pitchFamily="34" charset="-120"/>
              </a:rPr>
              <a:t>BIET  ·  Team Denovo  ·  IBAB</a:t>
            </a:r>
            <a:endParaRPr lang="en-US" sz="1050" dirty="0"/>
          </a:p>
        </p:txBody>
      </p:sp>
      <p:sp>
        <p:nvSpPr>
          <p:cNvPr id="39" name="Text 36"/>
          <p:cNvSpPr txBox="1"/>
          <p:nvPr/>
        </p:nvSpPr>
        <p:spPr>
          <a:xfrm>
            <a:off x="10710367" y="6336792"/>
            <a:ext cx="914400" cy="256032"/>
          </a:xfrm>
          <a:prstGeom prst="rect">
            <a:avLst/>
          </a:prstGeom>
          <a:noFill/>
          <a:ln/>
        </p:spPr>
        <p:txBody>
          <a:bodyPr wrap="square" lIns="0" tIns="0" rIns="0" bIns="0" rtlCol="0" anchor="ctr"/>
          <a:lstStyle/>
          <a:p>
            <a:pPr algn="r" indent="0" marL="0">
              <a:buNone/>
            </a:pPr>
            <a:r>
              <a:rPr lang="en-US" sz="1050" b="1" dirty="0">
                <a:solidFill>
                  <a:srgbClr val="2E3168"/>
                </a:solidFill>
                <a:latin typeface="Times New Roman" pitchFamily="34" charset="0"/>
                <a:ea typeface="Times New Roman" pitchFamily="34" charset="-122"/>
                <a:cs typeface="Times New Roman" pitchFamily="34" charset="-120"/>
              </a:rPr>
              <a:t>04</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6173A"/>
        </a:solidFill>
      </p:bgPr>
    </p:bg>
    <p:spTree>
      <p:nvGrpSpPr>
        <p:cNvPr id="1" name=""/>
        <p:cNvGrpSpPr/>
        <p:nvPr/>
      </p:nvGrpSpPr>
      <p:grpSpPr>
        <a:xfrm>
          <a:off x="0" y="0"/>
          <a:ext cx="0" cy="0"/>
          <a:chOff x="0" y="0"/>
          <a:chExt cx="0" cy="0"/>
        </a:xfrm>
      </p:grpSpPr>
      <p:sp>
        <p:nvSpPr>
          <p:cNvPr id="2" name="Text 0"/>
          <p:cNvSpPr txBox="1"/>
          <p:nvPr/>
        </p:nvSpPr>
        <p:spPr>
          <a:xfrm>
            <a:off x="566928" y="365760"/>
            <a:ext cx="11057839" cy="237744"/>
          </a:xfrm>
          <a:prstGeom prst="rect">
            <a:avLst/>
          </a:prstGeom>
          <a:noFill/>
          <a:ln/>
        </p:spPr>
        <p:txBody>
          <a:bodyPr wrap="square" lIns="0" tIns="0" rIns="0" bIns="0" rtlCol="0" anchor="ctr"/>
          <a:lstStyle/>
          <a:p>
            <a:pPr indent="0" marL="0">
              <a:buNone/>
            </a:pPr>
            <a:r>
              <a:rPr lang="en-US" sz="1200" b="1" spc="240" kern="0" dirty="0">
                <a:solidFill>
                  <a:srgbClr val="B9B3E8"/>
                </a:solidFill>
                <a:latin typeface="Times New Roman" pitchFamily="34" charset="0"/>
                <a:ea typeface="Times New Roman" pitchFamily="34" charset="-122"/>
                <a:cs typeface="Times New Roman" pitchFamily="34" charset="-120"/>
              </a:rPr>
              <a:t>03 · WHAT THE MODEL RETURNS</a:t>
            </a:r>
            <a:endParaRPr lang="en-US" sz="1200" dirty="0"/>
          </a:p>
        </p:txBody>
      </p:sp>
      <p:sp>
        <p:nvSpPr>
          <p:cNvPr id="3" name="Text 1"/>
          <p:cNvSpPr txBox="1"/>
          <p:nvPr/>
        </p:nvSpPr>
        <p:spPr>
          <a:xfrm>
            <a:off x="566928" y="676656"/>
            <a:ext cx="11057839" cy="658368"/>
          </a:xfrm>
          <a:prstGeom prst="rect">
            <a:avLst/>
          </a:prstGeom>
          <a:noFill/>
          <a:ln/>
        </p:spPr>
        <p:txBody>
          <a:bodyPr wrap="square" lIns="0" tIns="0" rIns="0" bIns="0" rtlCol="0" anchor="ctr"/>
          <a:lstStyle/>
          <a:p>
            <a:pPr indent="0" marL="0">
              <a:lnSpc>
                <a:spcPct val="92000"/>
              </a:lnSpc>
              <a:buNone/>
            </a:pPr>
            <a:r>
              <a:rPr lang="en-US" sz="3600" b="1" dirty="0">
                <a:solidFill>
                  <a:srgbClr val="FFFFFF"/>
                </a:solidFill>
                <a:latin typeface="Times New Roman" pitchFamily="34" charset="0"/>
                <a:ea typeface="Times New Roman" pitchFamily="34" charset="-122"/>
                <a:cs typeface="Times New Roman" pitchFamily="34" charset="-120"/>
              </a:rPr>
              <a:t>One answer, in the unit that decides it</a:t>
            </a:r>
            <a:endParaRPr lang="en-US" sz="3600" dirty="0"/>
          </a:p>
        </p:txBody>
      </p:sp>
      <p:sp>
        <p:nvSpPr>
          <p:cNvPr id="4" name="Shape 2"/>
          <p:cNvSpPr/>
          <p:nvPr/>
        </p:nvSpPr>
        <p:spPr>
          <a:xfrm>
            <a:off x="566928" y="1627632"/>
            <a:ext cx="5349240" cy="1773936"/>
          </a:xfrm>
          <a:prstGeom prst="roundRect">
            <a:avLst>
              <a:gd name="adj" fmla="val 3093"/>
            </a:avLst>
          </a:prstGeom>
          <a:solidFill>
            <a:srgbClr val="24265A"/>
          </a:solidFill>
          <a:ln/>
          <a:effectLst>
            <a:outerShdw sx="100000" sy="100000" kx="0" ky="0" algn="bl" rotWithShape="0" blurRad="101600" dist="25400" dir="5400000">
              <a:srgbClr val="000000">
                <a:alpha val="18000"/>
              </a:srgbClr>
            </a:outerShdw>
          </a:effectLst>
        </p:spPr>
      </p:sp>
      <p:sp>
        <p:nvSpPr>
          <p:cNvPr id="5" name="Text 3"/>
          <p:cNvSpPr txBox="1"/>
          <p:nvPr/>
        </p:nvSpPr>
        <p:spPr>
          <a:xfrm>
            <a:off x="950976" y="1828800"/>
            <a:ext cx="4572000" cy="868680"/>
          </a:xfrm>
          <a:prstGeom prst="rect">
            <a:avLst/>
          </a:prstGeom>
          <a:noFill/>
          <a:ln/>
        </p:spPr>
        <p:txBody>
          <a:bodyPr wrap="square" lIns="0" tIns="0" rIns="0" bIns="0" rtlCol="0" anchor="ctr"/>
          <a:lstStyle/>
          <a:p>
            <a:pPr indent="0" marL="0">
              <a:buNone/>
            </a:pPr>
            <a:r>
              <a:rPr lang="en-US" sz="5400" b="1" dirty="0">
                <a:solidFill>
                  <a:srgbClr val="FFFFFF"/>
                </a:solidFill>
                <a:latin typeface="Times New Roman" pitchFamily="34" charset="0"/>
                <a:ea typeface="Times New Roman" pitchFamily="34" charset="-122"/>
                <a:cs typeface="Times New Roman" pitchFamily="34" charset="-120"/>
              </a:rPr>
              <a:t>€296.6M</a:t>
            </a:r>
            <a:endParaRPr lang="en-US" sz="5400" dirty="0"/>
          </a:p>
        </p:txBody>
      </p:sp>
      <p:sp>
        <p:nvSpPr>
          <p:cNvPr id="6" name="Text 4"/>
          <p:cNvSpPr txBox="1"/>
          <p:nvPr/>
        </p:nvSpPr>
        <p:spPr>
          <a:xfrm>
            <a:off x="969264" y="2761488"/>
            <a:ext cx="4572000" cy="384048"/>
          </a:xfrm>
          <a:prstGeom prst="rect">
            <a:avLst/>
          </a:prstGeom>
          <a:noFill/>
          <a:ln/>
        </p:spPr>
        <p:txBody>
          <a:bodyPr wrap="square" lIns="0" tIns="0" rIns="0" bIns="0" rtlCol="0" anchor="ctr"/>
          <a:lstStyle/>
          <a:p>
            <a:pPr indent="0" marL="0">
              <a:buNone/>
            </a:pPr>
            <a:r>
              <a:rPr lang="en-US" sz="1350" dirty="0">
                <a:solidFill>
                  <a:srgbClr val="B9B3E8"/>
                </a:solidFill>
                <a:latin typeface="Times New Roman" pitchFamily="34" charset="0"/>
                <a:ea typeface="Times New Roman" pitchFamily="34" charset="-122"/>
                <a:cs typeface="Times New Roman" pitchFamily="34" charset="-120"/>
              </a:rPr>
              <a:t>Net budget impact over five years, against current care</a:t>
            </a:r>
            <a:endParaRPr lang="en-US" sz="1350" dirty="0"/>
          </a:p>
        </p:txBody>
      </p:sp>
      <p:sp>
        <p:nvSpPr>
          <p:cNvPr id="7" name="Shape 5"/>
          <p:cNvSpPr/>
          <p:nvPr/>
        </p:nvSpPr>
        <p:spPr>
          <a:xfrm>
            <a:off x="6272784" y="1627632"/>
            <a:ext cx="5349240" cy="1773936"/>
          </a:xfrm>
          <a:prstGeom prst="roundRect">
            <a:avLst>
              <a:gd name="adj" fmla="val 3093"/>
            </a:avLst>
          </a:prstGeom>
          <a:solidFill>
            <a:srgbClr val="24265A"/>
          </a:solidFill>
          <a:ln/>
          <a:effectLst>
            <a:outerShdw sx="100000" sy="100000" kx="0" ky="0" algn="bl" rotWithShape="0" blurRad="101600" dist="25400" dir="5400000">
              <a:srgbClr val="000000">
                <a:alpha val="18000"/>
              </a:srgbClr>
            </a:outerShdw>
          </a:effectLst>
        </p:spPr>
      </p:sp>
      <p:sp>
        <p:nvSpPr>
          <p:cNvPr id="8" name="Text 6"/>
          <p:cNvSpPr txBox="1"/>
          <p:nvPr/>
        </p:nvSpPr>
        <p:spPr>
          <a:xfrm>
            <a:off x="6656832" y="1828800"/>
            <a:ext cx="4572000" cy="868680"/>
          </a:xfrm>
          <a:prstGeom prst="rect">
            <a:avLst/>
          </a:prstGeom>
          <a:noFill/>
          <a:ln/>
        </p:spPr>
        <p:txBody>
          <a:bodyPr wrap="square" lIns="0" tIns="0" rIns="0" bIns="0" rtlCol="0" anchor="ctr"/>
          <a:lstStyle/>
          <a:p>
            <a:pPr indent="0" marL="0">
              <a:buNone/>
            </a:pPr>
            <a:r>
              <a:rPr lang="en-US" sz="5400" b="1" dirty="0">
                <a:solidFill>
                  <a:srgbClr val="F2853A"/>
                </a:solidFill>
                <a:latin typeface="Times New Roman" pitchFamily="34" charset="0"/>
                <a:ea typeface="Times New Roman" pitchFamily="34" charset="-122"/>
                <a:cs typeface="Times New Roman" pitchFamily="34" charset="-120"/>
              </a:rPr>
              <a:t>€0.13</a:t>
            </a:r>
            <a:endParaRPr lang="en-US" sz="5400" dirty="0"/>
          </a:p>
        </p:txBody>
      </p:sp>
      <p:sp>
        <p:nvSpPr>
          <p:cNvPr id="9" name="Text 7"/>
          <p:cNvSpPr txBox="1"/>
          <p:nvPr/>
        </p:nvSpPr>
        <p:spPr>
          <a:xfrm>
            <a:off x="6675120" y="2761488"/>
            <a:ext cx="4572000" cy="384048"/>
          </a:xfrm>
          <a:prstGeom prst="rect">
            <a:avLst/>
          </a:prstGeom>
          <a:noFill/>
          <a:ln/>
        </p:spPr>
        <p:txBody>
          <a:bodyPr wrap="square" lIns="0" tIns="0" rIns="0" bIns="0" rtlCol="0" anchor="ctr"/>
          <a:lstStyle/>
          <a:p>
            <a:pPr indent="0" marL="0">
              <a:buNone/>
            </a:pPr>
            <a:r>
              <a:rPr lang="en-US" sz="1350" dirty="0">
                <a:solidFill>
                  <a:srgbClr val="B9B3E8"/>
                </a:solidFill>
                <a:latin typeface="Times New Roman" pitchFamily="34" charset="0"/>
                <a:ea typeface="Times New Roman" pitchFamily="34" charset="-122"/>
                <a:cs typeface="Times New Roman" pitchFamily="34" charset="-120"/>
              </a:rPr>
              <a:t>Per covered member per month in year 1, the negotiating unit</a:t>
            </a:r>
            <a:endParaRPr lang="en-US" sz="1350" dirty="0"/>
          </a:p>
        </p:txBody>
      </p:sp>
      <p:sp>
        <p:nvSpPr>
          <p:cNvPr id="10" name="Text 8"/>
          <p:cNvSpPr txBox="1"/>
          <p:nvPr/>
        </p:nvSpPr>
        <p:spPr>
          <a:xfrm>
            <a:off x="566928" y="3675888"/>
            <a:ext cx="3448202" cy="420624"/>
          </a:xfrm>
          <a:prstGeom prst="rect">
            <a:avLst/>
          </a:prstGeom>
          <a:noFill/>
          <a:ln/>
        </p:spPr>
        <p:txBody>
          <a:bodyPr wrap="square" lIns="0" tIns="0" rIns="0" bIns="0" rtlCol="0" anchor="ctr"/>
          <a:lstStyle/>
          <a:p>
            <a:pPr indent="0" marL="0">
              <a:buNone/>
            </a:pPr>
            <a:r>
              <a:rPr lang="en-US" sz="2600" b="1" dirty="0">
                <a:solidFill>
                  <a:srgbClr val="FFFFFF"/>
                </a:solidFill>
                <a:latin typeface="Times New Roman" pitchFamily="34" charset="0"/>
                <a:ea typeface="Times New Roman" pitchFamily="34" charset="-122"/>
                <a:cs typeface="Times New Roman" pitchFamily="34" charset="-120"/>
              </a:rPr>
              <a:t>181,764</a:t>
            </a:r>
            <a:endParaRPr lang="en-US" sz="2600" dirty="0"/>
          </a:p>
        </p:txBody>
      </p:sp>
      <p:sp>
        <p:nvSpPr>
          <p:cNvPr id="11" name="Text 9"/>
          <p:cNvSpPr txBox="1"/>
          <p:nvPr/>
        </p:nvSpPr>
        <p:spPr>
          <a:xfrm>
            <a:off x="566928" y="4133088"/>
            <a:ext cx="3311042" cy="566928"/>
          </a:xfrm>
          <a:prstGeom prst="rect">
            <a:avLst/>
          </a:prstGeom>
          <a:noFill/>
          <a:ln/>
        </p:spPr>
        <p:txBody>
          <a:bodyPr wrap="square" lIns="0" tIns="0" rIns="0" bIns="0" rtlCol="0" anchor="ctr"/>
          <a:lstStyle/>
          <a:p>
            <a:pPr indent="0" marL="0">
              <a:lnSpc>
                <a:spcPct val="106000"/>
              </a:lnSpc>
              <a:buNone/>
            </a:pPr>
            <a:r>
              <a:rPr lang="en-US" sz="1250" dirty="0">
                <a:solidFill>
                  <a:srgbClr val="B9B3E8"/>
                </a:solidFill>
                <a:latin typeface="Times New Roman" pitchFamily="34" charset="0"/>
                <a:ea typeface="Times New Roman" pitchFamily="34" charset="-122"/>
                <a:cs typeface="Times New Roman" pitchFamily="34" charset="-120"/>
              </a:rPr>
              <a:t>eligible patients, year 1</a:t>
            </a:r>
            <a:endParaRPr lang="en-US" sz="1250" dirty="0"/>
          </a:p>
        </p:txBody>
      </p:sp>
      <p:sp>
        <p:nvSpPr>
          <p:cNvPr id="12" name="Text 10"/>
          <p:cNvSpPr txBox="1"/>
          <p:nvPr/>
        </p:nvSpPr>
        <p:spPr>
          <a:xfrm>
            <a:off x="4371746" y="3675888"/>
            <a:ext cx="3448202" cy="420624"/>
          </a:xfrm>
          <a:prstGeom prst="rect">
            <a:avLst/>
          </a:prstGeom>
          <a:noFill/>
          <a:ln/>
        </p:spPr>
        <p:txBody>
          <a:bodyPr wrap="square" lIns="0" tIns="0" rIns="0" bIns="0" rtlCol="0" anchor="ctr"/>
          <a:lstStyle/>
          <a:p>
            <a:pPr indent="0" marL="0">
              <a:buNone/>
            </a:pPr>
            <a:r>
              <a:rPr lang="en-US" sz="2600" b="1" dirty="0">
                <a:solidFill>
                  <a:srgbClr val="FFFFFF"/>
                </a:solidFill>
                <a:latin typeface="Times New Roman" pitchFamily="34" charset="0"/>
                <a:ea typeface="Times New Roman" pitchFamily="34" charset="-122"/>
                <a:cs typeface="Times New Roman" pitchFamily="34" charset="-120"/>
              </a:rPr>
              <a:t>67,083</a:t>
            </a:r>
            <a:endParaRPr lang="en-US" sz="2600" dirty="0"/>
          </a:p>
        </p:txBody>
      </p:sp>
      <p:sp>
        <p:nvSpPr>
          <p:cNvPr id="13" name="Text 11"/>
          <p:cNvSpPr txBox="1"/>
          <p:nvPr/>
        </p:nvSpPr>
        <p:spPr>
          <a:xfrm>
            <a:off x="4371746" y="4133088"/>
            <a:ext cx="3311042" cy="566928"/>
          </a:xfrm>
          <a:prstGeom prst="rect">
            <a:avLst/>
          </a:prstGeom>
          <a:noFill/>
          <a:ln/>
        </p:spPr>
        <p:txBody>
          <a:bodyPr wrap="square" lIns="0" tIns="0" rIns="0" bIns="0" rtlCol="0" anchor="ctr"/>
          <a:lstStyle/>
          <a:p>
            <a:pPr indent="0" marL="0">
              <a:lnSpc>
                <a:spcPct val="106000"/>
              </a:lnSpc>
              <a:buNone/>
            </a:pPr>
            <a:r>
              <a:rPr lang="en-US" sz="1250" dirty="0">
                <a:solidFill>
                  <a:srgbClr val="B9B3E8"/>
                </a:solidFill>
                <a:latin typeface="Times New Roman" pitchFamily="34" charset="0"/>
                <a:ea typeface="Times New Roman" pitchFamily="34" charset="-122"/>
                <a:cs typeface="Times New Roman" pitchFamily="34" charset="-120"/>
              </a:rPr>
              <a:t>patients treated at peak, year 5</a:t>
            </a:r>
            <a:endParaRPr lang="en-US" sz="1250" dirty="0"/>
          </a:p>
        </p:txBody>
      </p:sp>
      <p:sp>
        <p:nvSpPr>
          <p:cNvPr id="14" name="Text 12"/>
          <p:cNvSpPr txBox="1"/>
          <p:nvPr/>
        </p:nvSpPr>
        <p:spPr>
          <a:xfrm>
            <a:off x="8176565" y="3675888"/>
            <a:ext cx="3448202" cy="420624"/>
          </a:xfrm>
          <a:prstGeom prst="rect">
            <a:avLst/>
          </a:prstGeom>
          <a:noFill/>
          <a:ln/>
        </p:spPr>
        <p:txBody>
          <a:bodyPr wrap="square" lIns="0" tIns="0" rIns="0" bIns="0" rtlCol="0" anchor="ctr"/>
          <a:lstStyle/>
          <a:p>
            <a:pPr indent="0" marL="0">
              <a:buNone/>
            </a:pPr>
            <a:r>
              <a:rPr lang="en-US" sz="2600" b="1" dirty="0">
                <a:solidFill>
                  <a:srgbClr val="FFFFFF"/>
                </a:solidFill>
                <a:latin typeface="Times New Roman" pitchFamily="34" charset="0"/>
                <a:ea typeface="Times New Roman" pitchFamily="34" charset="-122"/>
                <a:cs typeface="Times New Roman" pitchFamily="34" charset="-120"/>
              </a:rPr>
              <a:t>€2,527</a:t>
            </a:r>
            <a:endParaRPr lang="en-US" sz="2600" dirty="0"/>
          </a:p>
        </p:txBody>
      </p:sp>
      <p:sp>
        <p:nvSpPr>
          <p:cNvPr id="15" name="Text 13"/>
          <p:cNvSpPr txBox="1"/>
          <p:nvPr/>
        </p:nvSpPr>
        <p:spPr>
          <a:xfrm>
            <a:off x="8176565" y="4133088"/>
            <a:ext cx="3311042" cy="566928"/>
          </a:xfrm>
          <a:prstGeom prst="rect">
            <a:avLst/>
          </a:prstGeom>
          <a:noFill/>
          <a:ln/>
        </p:spPr>
        <p:txBody>
          <a:bodyPr wrap="square" lIns="0" tIns="0" rIns="0" bIns="0" rtlCol="0" anchor="ctr"/>
          <a:lstStyle/>
          <a:p>
            <a:pPr indent="0" marL="0">
              <a:lnSpc>
                <a:spcPct val="106000"/>
              </a:lnSpc>
              <a:buNone/>
            </a:pPr>
            <a:r>
              <a:rPr lang="en-US" sz="1250" dirty="0">
                <a:solidFill>
                  <a:srgbClr val="B9B3E8"/>
                </a:solidFill>
                <a:latin typeface="Times New Roman" pitchFamily="34" charset="0"/>
                <a:ea typeface="Times New Roman" pitchFamily="34" charset="-122"/>
                <a:cs typeface="Times New Roman" pitchFamily="34" charset="-120"/>
              </a:rPr>
              <a:t>cost per treated patient-year, on a €3,200 list price</a:t>
            </a:r>
            <a:endParaRPr lang="en-US" sz="1250" dirty="0"/>
          </a:p>
        </p:txBody>
      </p:sp>
      <p:sp>
        <p:nvSpPr>
          <p:cNvPr id="16" name="Text 14"/>
          <p:cNvSpPr txBox="1"/>
          <p:nvPr/>
        </p:nvSpPr>
        <p:spPr>
          <a:xfrm>
            <a:off x="566928" y="4882896"/>
            <a:ext cx="3448202" cy="420624"/>
          </a:xfrm>
          <a:prstGeom prst="rect">
            <a:avLst/>
          </a:prstGeom>
          <a:noFill/>
          <a:ln/>
        </p:spPr>
        <p:txBody>
          <a:bodyPr wrap="square" lIns="0" tIns="0" rIns="0" bIns="0" rtlCol="0" anchor="ctr"/>
          <a:lstStyle/>
          <a:p>
            <a:pPr indent="0" marL="0">
              <a:buNone/>
            </a:pPr>
            <a:r>
              <a:rPr lang="en-US" sz="2600" b="1" dirty="0">
                <a:solidFill>
                  <a:srgbClr val="FFFFFF"/>
                </a:solidFill>
                <a:latin typeface="Times New Roman" pitchFamily="34" charset="0"/>
                <a:ea typeface="Times New Roman" pitchFamily="34" charset="-122"/>
                <a:cs typeface="Times New Roman" pitchFamily="34" charset="-120"/>
              </a:rPr>
              <a:t>€613</a:t>
            </a:r>
            <a:endParaRPr lang="en-US" sz="2600" dirty="0"/>
          </a:p>
        </p:txBody>
      </p:sp>
      <p:sp>
        <p:nvSpPr>
          <p:cNvPr id="17" name="Text 15"/>
          <p:cNvSpPr txBox="1"/>
          <p:nvPr/>
        </p:nvSpPr>
        <p:spPr>
          <a:xfrm>
            <a:off x="566928" y="5340096"/>
            <a:ext cx="3311042" cy="566928"/>
          </a:xfrm>
          <a:prstGeom prst="rect">
            <a:avLst/>
          </a:prstGeom>
          <a:noFill/>
          <a:ln/>
        </p:spPr>
        <p:txBody>
          <a:bodyPr wrap="square" lIns="0" tIns="0" rIns="0" bIns="0" rtlCol="0" anchor="ctr"/>
          <a:lstStyle/>
          <a:p>
            <a:pPr indent="0" marL="0">
              <a:lnSpc>
                <a:spcPct val="106000"/>
              </a:lnSpc>
              <a:buNone/>
            </a:pPr>
            <a:r>
              <a:rPr lang="en-US" sz="1250" dirty="0">
                <a:solidFill>
                  <a:srgbClr val="B9B3E8"/>
                </a:solidFill>
                <a:latin typeface="Times New Roman" pitchFamily="34" charset="0"/>
                <a:ea typeface="Times New Roman" pitchFamily="34" charset="-122"/>
                <a:cs typeface="Times New Roman" pitchFamily="34" charset="-120"/>
              </a:rPr>
              <a:t>annual price at which net impact reaches zero</a:t>
            </a:r>
            <a:endParaRPr lang="en-US" sz="1250" dirty="0"/>
          </a:p>
        </p:txBody>
      </p:sp>
      <p:sp>
        <p:nvSpPr>
          <p:cNvPr id="18" name="Text 16"/>
          <p:cNvSpPr txBox="1"/>
          <p:nvPr/>
        </p:nvSpPr>
        <p:spPr>
          <a:xfrm>
            <a:off x="4371746" y="4882896"/>
            <a:ext cx="3448202" cy="420624"/>
          </a:xfrm>
          <a:prstGeom prst="rect">
            <a:avLst/>
          </a:prstGeom>
          <a:noFill/>
          <a:ln/>
        </p:spPr>
        <p:txBody>
          <a:bodyPr wrap="square" lIns="0" tIns="0" rIns="0" bIns="0" rtlCol="0" anchor="ctr"/>
          <a:lstStyle/>
          <a:p>
            <a:pPr indent="0" marL="0">
              <a:buNone/>
            </a:pPr>
            <a:r>
              <a:rPr lang="en-US" sz="2600" b="1" dirty="0">
                <a:solidFill>
                  <a:srgbClr val="FFFFFF"/>
                </a:solidFill>
                <a:latin typeface="Times New Roman" pitchFamily="34" charset="0"/>
                <a:ea typeface="Times New Roman" pitchFamily="34" charset="-122"/>
                <a:cs typeface="Times New Roman" pitchFamily="34" charset="-120"/>
              </a:rPr>
              <a:t>2,480</a:t>
            </a:r>
            <a:endParaRPr lang="en-US" sz="2600" dirty="0"/>
          </a:p>
        </p:txBody>
      </p:sp>
      <p:sp>
        <p:nvSpPr>
          <p:cNvPr id="19" name="Text 17"/>
          <p:cNvSpPr txBox="1"/>
          <p:nvPr/>
        </p:nvSpPr>
        <p:spPr>
          <a:xfrm>
            <a:off x="4371746" y="5340096"/>
            <a:ext cx="3311042" cy="566928"/>
          </a:xfrm>
          <a:prstGeom prst="rect">
            <a:avLst/>
          </a:prstGeom>
          <a:noFill/>
          <a:ln/>
        </p:spPr>
        <p:txBody>
          <a:bodyPr wrap="square" lIns="0" tIns="0" rIns="0" bIns="0" rtlCol="0" anchor="ctr"/>
          <a:lstStyle/>
          <a:p>
            <a:pPr indent="0" marL="0">
              <a:lnSpc>
                <a:spcPct val="106000"/>
              </a:lnSpc>
              <a:buNone/>
            </a:pPr>
            <a:r>
              <a:rPr lang="en-US" sz="1250" dirty="0">
                <a:solidFill>
                  <a:srgbClr val="B9B3E8"/>
                </a:solidFill>
                <a:latin typeface="Times New Roman" pitchFamily="34" charset="0"/>
                <a:ea typeface="Times New Roman" pitchFamily="34" charset="-122"/>
                <a:cs typeface="Times New Roman" pitchFamily="34" charset="-120"/>
              </a:rPr>
              <a:t>clinical events avoided, worth €17.96M</a:t>
            </a:r>
            <a:endParaRPr lang="en-US" sz="1250" dirty="0"/>
          </a:p>
        </p:txBody>
      </p:sp>
      <p:sp>
        <p:nvSpPr>
          <p:cNvPr id="20" name="Text 18"/>
          <p:cNvSpPr txBox="1"/>
          <p:nvPr/>
        </p:nvSpPr>
        <p:spPr>
          <a:xfrm>
            <a:off x="8176565" y="4882896"/>
            <a:ext cx="3448202" cy="420624"/>
          </a:xfrm>
          <a:prstGeom prst="rect">
            <a:avLst/>
          </a:prstGeom>
          <a:noFill/>
          <a:ln/>
        </p:spPr>
        <p:txBody>
          <a:bodyPr wrap="square" lIns="0" tIns="0" rIns="0" bIns="0" rtlCol="0" anchor="ctr"/>
          <a:lstStyle/>
          <a:p>
            <a:pPr indent="0" marL="0">
              <a:buNone/>
            </a:pPr>
            <a:r>
              <a:rPr lang="en-US" sz="2100" b="1" dirty="0">
                <a:solidFill>
                  <a:srgbClr val="FFFFFF"/>
                </a:solidFill>
                <a:latin typeface="Times New Roman" pitchFamily="34" charset="0"/>
                <a:ea typeface="Times New Roman" pitchFamily="34" charset="-122"/>
                <a:cs typeface="Times New Roman" pitchFamily="34" charset="-120"/>
              </a:rPr>
              <a:t>€148.3M – €444.9M</a:t>
            </a:r>
            <a:endParaRPr lang="en-US" sz="2100" dirty="0"/>
          </a:p>
        </p:txBody>
      </p:sp>
      <p:sp>
        <p:nvSpPr>
          <p:cNvPr id="21" name="Text 19"/>
          <p:cNvSpPr txBox="1"/>
          <p:nvPr/>
        </p:nvSpPr>
        <p:spPr>
          <a:xfrm>
            <a:off x="8176565" y="5340096"/>
            <a:ext cx="3311042" cy="566928"/>
          </a:xfrm>
          <a:prstGeom prst="rect">
            <a:avLst/>
          </a:prstGeom>
          <a:noFill/>
          <a:ln/>
        </p:spPr>
        <p:txBody>
          <a:bodyPr wrap="square" lIns="0" tIns="0" rIns="0" bIns="0" rtlCol="0" anchor="ctr"/>
          <a:lstStyle/>
          <a:p>
            <a:pPr indent="0" marL="0">
              <a:lnSpc>
                <a:spcPct val="106000"/>
              </a:lnSpc>
              <a:buNone/>
            </a:pPr>
            <a:r>
              <a:rPr lang="en-US" sz="1250" dirty="0">
                <a:solidFill>
                  <a:srgbClr val="B9B3E8"/>
                </a:solidFill>
                <a:latin typeface="Times New Roman" pitchFamily="34" charset="0"/>
                <a:ea typeface="Times New Roman" pitchFamily="34" charset="-122"/>
                <a:cs typeface="Times New Roman" pitchFamily="34" charset="-120"/>
              </a:rPr>
              <a:t>five-year impact at half and 1.5× uptake</a:t>
            </a:r>
            <a:endParaRPr lang="en-US" sz="1250" dirty="0"/>
          </a:p>
        </p:txBody>
      </p:sp>
      <p:sp>
        <p:nvSpPr>
          <p:cNvPr id="22" name="Text 20"/>
          <p:cNvSpPr txBox="1"/>
          <p:nvPr/>
        </p:nvSpPr>
        <p:spPr>
          <a:xfrm>
            <a:off x="566928" y="6016752"/>
            <a:ext cx="11057839" cy="274320"/>
          </a:xfrm>
          <a:prstGeom prst="rect">
            <a:avLst/>
          </a:prstGeom>
          <a:noFill/>
          <a:ln/>
        </p:spPr>
        <p:txBody>
          <a:bodyPr wrap="square" lIns="0" tIns="0" rIns="0" bIns="0" rtlCol="0" anchor="ctr"/>
          <a:lstStyle/>
          <a:p>
            <a:pPr indent="0" marL="0">
              <a:buNone/>
            </a:pPr>
            <a:r>
              <a:rPr lang="en-US" sz="1150" i="1" dirty="0">
                <a:solidFill>
                  <a:srgbClr val="8B85C6"/>
                </a:solidFill>
                <a:latin typeface="Times New Roman" pitchFamily="34" charset="0"/>
                <a:ea typeface="Times New Roman" pitchFamily="34" charset="-122"/>
                <a:cs typeface="Times New Roman" pitchFamily="34" charset="-120"/>
              </a:rPr>
              <a:t>Demonstration values. Plausible for a walkthrough but not drawn from a validated published source, and every PDF the tool exports says so.</a:t>
            </a:r>
            <a:endParaRPr lang="en-US" sz="1150" dirty="0"/>
          </a:p>
        </p:txBody>
      </p:sp>
      <p:sp>
        <p:nvSpPr>
          <p:cNvPr id="24" name="Text 21"/>
          <p:cNvSpPr txBox="1"/>
          <p:nvPr/>
        </p:nvSpPr>
        <p:spPr>
          <a:xfrm>
            <a:off x="566928" y="6336792"/>
            <a:ext cx="5486400" cy="256032"/>
          </a:xfrm>
          <a:prstGeom prst="rect">
            <a:avLst/>
          </a:prstGeom>
          <a:noFill/>
          <a:ln/>
        </p:spPr>
        <p:txBody>
          <a:bodyPr wrap="square" lIns="0" tIns="0" rIns="0" bIns="0" rtlCol="0" anchor="ctr"/>
          <a:lstStyle/>
          <a:p>
            <a:pPr indent="0" marL="0">
              <a:buNone/>
            </a:pPr>
            <a:r>
              <a:rPr lang="en-US" sz="1050" dirty="0">
                <a:solidFill>
                  <a:srgbClr val="2E3168"/>
                </a:solidFill>
                <a:latin typeface="Times New Roman" pitchFamily="34" charset="0"/>
                <a:ea typeface="Times New Roman" pitchFamily="34" charset="-122"/>
                <a:cs typeface="Times New Roman" pitchFamily="34" charset="-120"/>
              </a:rPr>
              <a:t>BIET  ·  Team Denovo  ·  IBAB</a:t>
            </a:r>
            <a:endParaRPr lang="en-US" sz="1050" dirty="0"/>
          </a:p>
        </p:txBody>
      </p:sp>
      <p:sp>
        <p:nvSpPr>
          <p:cNvPr id="25" name="Text 22"/>
          <p:cNvSpPr txBox="1"/>
          <p:nvPr/>
        </p:nvSpPr>
        <p:spPr>
          <a:xfrm>
            <a:off x="10710367" y="6336792"/>
            <a:ext cx="914400" cy="256032"/>
          </a:xfrm>
          <a:prstGeom prst="rect">
            <a:avLst/>
          </a:prstGeom>
          <a:noFill/>
          <a:ln/>
        </p:spPr>
        <p:txBody>
          <a:bodyPr wrap="square" lIns="0" tIns="0" rIns="0" bIns="0" rtlCol="0" anchor="ctr"/>
          <a:lstStyle/>
          <a:p>
            <a:pPr algn="r" indent="0" marL="0">
              <a:buNone/>
            </a:pPr>
            <a:r>
              <a:rPr lang="en-US" sz="1050" b="1" dirty="0">
                <a:solidFill>
                  <a:srgbClr val="2E3168"/>
                </a:solidFill>
                <a:latin typeface="Times New Roman" pitchFamily="34" charset="0"/>
                <a:ea typeface="Times New Roman" pitchFamily="34" charset="-122"/>
                <a:cs typeface="Times New Roman" pitchFamily="34" charset="-120"/>
              </a:rPr>
              <a:t>05</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65760"/>
            <a:ext cx="11057839" cy="237744"/>
          </a:xfrm>
          <a:prstGeom prst="rect">
            <a:avLst/>
          </a:prstGeom>
          <a:noFill/>
          <a:ln/>
        </p:spPr>
        <p:txBody>
          <a:bodyPr wrap="square" lIns="0" tIns="0" rIns="0" bIns="0" rtlCol="0" anchor="ctr"/>
          <a:lstStyle/>
          <a:p>
            <a:pPr indent="0" marL="0">
              <a:buNone/>
            </a:pPr>
            <a:r>
              <a:rPr lang="en-US" sz="1200" b="1" spc="240" kern="0" dirty="0">
                <a:solidFill>
                  <a:srgbClr val="5B3BD4"/>
                </a:solidFill>
                <a:latin typeface="Times New Roman" pitchFamily="34" charset="0"/>
                <a:ea typeface="Times New Roman" pitchFamily="34" charset="-122"/>
                <a:cs typeface="Times New Roman" pitchFamily="34" charset="-120"/>
              </a:rPr>
              <a:t>04 · TECH STACK</a:t>
            </a:r>
            <a:endParaRPr lang="en-US" sz="1200" dirty="0"/>
          </a:p>
        </p:txBody>
      </p:sp>
      <p:sp>
        <p:nvSpPr>
          <p:cNvPr id="3" name="Text 1"/>
          <p:cNvSpPr txBox="1"/>
          <p:nvPr/>
        </p:nvSpPr>
        <p:spPr>
          <a:xfrm>
            <a:off x="566928" y="676656"/>
            <a:ext cx="11057839" cy="658368"/>
          </a:xfrm>
          <a:prstGeom prst="rect">
            <a:avLst/>
          </a:prstGeom>
          <a:noFill/>
          <a:ln/>
        </p:spPr>
        <p:txBody>
          <a:bodyPr wrap="square" lIns="0" tIns="0" rIns="0" bIns="0" rtlCol="0" anchor="ctr"/>
          <a:lstStyle/>
          <a:p>
            <a:pPr indent="0" marL="0">
              <a:lnSpc>
                <a:spcPct val="92000"/>
              </a:lnSpc>
              <a:buNone/>
            </a:pPr>
            <a:r>
              <a:rPr lang="en-US" sz="3600" b="1" dirty="0">
                <a:solidFill>
                  <a:srgbClr val="16173A"/>
                </a:solidFill>
                <a:latin typeface="Times New Roman" pitchFamily="34" charset="0"/>
                <a:ea typeface="Times New Roman" pitchFamily="34" charset="-122"/>
                <a:cs typeface="Times New Roman" pitchFamily="34" charset="-120"/>
              </a:rPr>
              <a:t>The calculation runs in the browser</a:t>
            </a:r>
            <a:endParaRPr lang="en-US" sz="3600" dirty="0"/>
          </a:p>
        </p:txBody>
      </p:sp>
      <p:sp>
        <p:nvSpPr>
          <p:cNvPr id="4" name="Text 2"/>
          <p:cNvSpPr txBox="1"/>
          <p:nvPr/>
        </p:nvSpPr>
        <p:spPr>
          <a:xfrm>
            <a:off x="566928" y="1389888"/>
            <a:ext cx="9966960" cy="566928"/>
          </a:xfrm>
          <a:prstGeom prst="rect">
            <a:avLst/>
          </a:prstGeom>
          <a:noFill/>
          <a:ln/>
        </p:spPr>
        <p:txBody>
          <a:bodyPr wrap="square" lIns="0" tIns="0" rIns="0" bIns="0" rtlCol="0" anchor="ctr"/>
          <a:lstStyle/>
          <a:p>
            <a:pPr indent="0" marL="0">
              <a:lnSpc>
                <a:spcPct val="112000"/>
              </a:lnSpc>
              <a:buNone/>
            </a:pPr>
            <a:r>
              <a:rPr lang="en-US" sz="1500" dirty="0">
                <a:solidFill>
                  <a:srgbClr val="56597D"/>
                </a:solidFill>
                <a:latin typeface="Times New Roman" pitchFamily="34" charset="0"/>
                <a:ea typeface="Times New Roman" pitchFamily="34" charset="-122"/>
                <a:cs typeface="Times New Roman" pitchFamily="34" charset="-120"/>
              </a:rPr>
              <a:t>One React app holds the entire engine. A thin Express service does only what a browser cannot: reach evidence APIs that block cross-origin calls, hold an LLM key it must not leak, and persist a run.</a:t>
            </a:r>
            <a:endParaRPr lang="en-US" sz="1500" dirty="0"/>
          </a:p>
        </p:txBody>
      </p:sp>
      <p:sp>
        <p:nvSpPr>
          <p:cNvPr id="5" name="Shape 3"/>
          <p:cNvSpPr/>
          <p:nvPr/>
        </p:nvSpPr>
        <p:spPr>
          <a:xfrm>
            <a:off x="566928" y="2029968"/>
            <a:ext cx="11057839" cy="1481328"/>
          </a:xfrm>
          <a:prstGeom prst="roundRect">
            <a:avLst>
              <a:gd name="adj" fmla="val 3704"/>
            </a:avLst>
          </a:prstGeom>
          <a:solidFill>
            <a:srgbClr val="E6E1FB"/>
          </a:solidFill>
          <a:ln/>
          <a:effectLst>
            <a:outerShdw sx="100000" sy="100000" kx="0" ky="0" algn="bl" rotWithShape="0" blurRad="127000" dist="25400" dir="5400000">
              <a:srgbClr val="1B1B4A">
                <a:alpha val="10000"/>
              </a:srgbClr>
            </a:outerShdw>
          </a:effectLst>
        </p:spPr>
      </p:sp>
      <p:sp>
        <p:nvSpPr>
          <p:cNvPr id="6" name="Text 4"/>
          <p:cNvSpPr txBox="1"/>
          <p:nvPr/>
        </p:nvSpPr>
        <p:spPr>
          <a:xfrm>
            <a:off x="932688" y="2231136"/>
            <a:ext cx="10326319" cy="237744"/>
          </a:xfrm>
          <a:prstGeom prst="rect">
            <a:avLst/>
          </a:prstGeom>
          <a:noFill/>
          <a:ln/>
        </p:spPr>
        <p:txBody>
          <a:bodyPr wrap="square" lIns="0" tIns="0" rIns="0" bIns="0" rtlCol="0" anchor="ctr"/>
          <a:lstStyle/>
          <a:p>
            <a:pPr indent="0" marL="0">
              <a:buNone/>
            </a:pPr>
            <a:r>
              <a:rPr lang="en-US" sz="1100" b="1" spc="180" kern="0" dirty="0">
                <a:solidFill>
                  <a:srgbClr val="34365A"/>
                </a:solidFill>
                <a:latin typeface="Times New Roman" pitchFamily="34" charset="0"/>
                <a:ea typeface="Times New Roman" pitchFamily="34" charset="-122"/>
                <a:cs typeface="Times New Roman" pitchFamily="34" charset="-120"/>
              </a:rPr>
              <a:t>BROWSER  ·  REACT 18 + VITE  ·  NO NETWORK CALL IN THE CALCULATION PATH</a:t>
            </a:r>
            <a:endParaRPr lang="en-US" sz="1100" dirty="0"/>
          </a:p>
        </p:txBody>
      </p:sp>
      <p:sp>
        <p:nvSpPr>
          <p:cNvPr id="7" name="Shape 5"/>
          <p:cNvSpPr/>
          <p:nvPr/>
        </p:nvSpPr>
        <p:spPr>
          <a:xfrm>
            <a:off x="932688" y="2542032"/>
            <a:ext cx="2430704" cy="731520"/>
          </a:xfrm>
          <a:prstGeom prst="roundRect">
            <a:avLst>
              <a:gd name="adj" fmla="val 7500"/>
            </a:avLst>
          </a:prstGeom>
          <a:solidFill>
            <a:srgbClr val="FFFFFF"/>
          </a:solidFill>
          <a:ln/>
        </p:spPr>
      </p:sp>
      <p:sp>
        <p:nvSpPr>
          <p:cNvPr id="8" name="Text 6"/>
          <p:cNvSpPr txBox="1"/>
          <p:nvPr/>
        </p:nvSpPr>
        <p:spPr>
          <a:xfrm>
            <a:off x="1078992" y="2651760"/>
            <a:ext cx="2138096" cy="256032"/>
          </a:xfrm>
          <a:prstGeom prst="rect">
            <a:avLst/>
          </a:prstGeom>
          <a:noFill/>
          <a:ln/>
        </p:spPr>
        <p:txBody>
          <a:bodyPr wrap="square" lIns="0" tIns="0" rIns="0" bIns="0" rtlCol="0" anchor="ctr"/>
          <a:lstStyle/>
          <a:p>
            <a:pPr indent="0" marL="0">
              <a:buNone/>
            </a:pPr>
            <a:r>
              <a:rPr lang="en-US" sz="1350" b="1" dirty="0">
                <a:solidFill>
                  <a:srgbClr val="16173A"/>
                </a:solidFill>
                <a:latin typeface="Times New Roman" pitchFamily="34" charset="0"/>
                <a:ea typeface="Times New Roman" pitchFamily="34" charset="-122"/>
                <a:cs typeface="Times New Roman" pitchFamily="34" charset="-120"/>
              </a:rPr>
              <a:t>6 input tabs</a:t>
            </a:r>
            <a:endParaRPr lang="en-US" sz="1350" dirty="0"/>
          </a:p>
        </p:txBody>
      </p:sp>
      <p:sp>
        <p:nvSpPr>
          <p:cNvPr id="9" name="Text 7"/>
          <p:cNvSpPr txBox="1"/>
          <p:nvPr/>
        </p:nvSpPr>
        <p:spPr>
          <a:xfrm>
            <a:off x="1078992" y="2907792"/>
            <a:ext cx="2138096" cy="292608"/>
          </a:xfrm>
          <a:prstGeom prst="rect">
            <a:avLst/>
          </a:prstGeom>
          <a:noFill/>
          <a:ln/>
        </p:spPr>
        <p:txBody>
          <a:bodyPr wrap="square" lIns="0" tIns="0" rIns="0" bIns="0" rtlCol="0" anchor="t"/>
          <a:lstStyle/>
          <a:p>
            <a:pPr indent="0" marL="0">
              <a:lnSpc>
                <a:spcPct val="104000"/>
              </a:lnSpc>
              <a:buNone/>
            </a:pPr>
            <a:r>
              <a:rPr lang="en-US" sz="1150" dirty="0">
                <a:solidFill>
                  <a:srgbClr val="56597D"/>
                </a:solidFill>
                <a:latin typeface="Times New Roman" pitchFamily="34" charset="0"/>
                <a:ea typeface="Times New Roman" pitchFamily="34" charset="-122"/>
                <a:cs typeface="Times New Roman" pitchFamily="34" charset="-120"/>
              </a:rPr>
              <a:t>one model object in React state</a:t>
            </a:r>
            <a:endParaRPr lang="en-US" sz="1150" dirty="0"/>
          </a:p>
        </p:txBody>
      </p:sp>
      <p:sp>
        <p:nvSpPr>
          <p:cNvPr id="10" name="Shape 8"/>
          <p:cNvSpPr/>
          <p:nvPr/>
        </p:nvSpPr>
        <p:spPr>
          <a:xfrm>
            <a:off x="3564560" y="2542032"/>
            <a:ext cx="2430704" cy="731520"/>
          </a:xfrm>
          <a:prstGeom prst="roundRect">
            <a:avLst>
              <a:gd name="adj" fmla="val 7500"/>
            </a:avLst>
          </a:prstGeom>
          <a:solidFill>
            <a:srgbClr val="FFFFFF"/>
          </a:solidFill>
          <a:ln/>
        </p:spPr>
      </p:sp>
      <p:sp>
        <p:nvSpPr>
          <p:cNvPr id="11" name="Text 9"/>
          <p:cNvSpPr txBox="1"/>
          <p:nvPr/>
        </p:nvSpPr>
        <p:spPr>
          <a:xfrm>
            <a:off x="3710864" y="2651760"/>
            <a:ext cx="2138096" cy="256032"/>
          </a:xfrm>
          <a:prstGeom prst="rect">
            <a:avLst/>
          </a:prstGeom>
          <a:noFill/>
          <a:ln/>
        </p:spPr>
        <p:txBody>
          <a:bodyPr wrap="square" lIns="0" tIns="0" rIns="0" bIns="0" rtlCol="0" anchor="ctr"/>
          <a:lstStyle/>
          <a:p>
            <a:pPr indent="0" marL="0">
              <a:buNone/>
            </a:pPr>
            <a:r>
              <a:rPr lang="en-US" sz="1350" b="1" dirty="0">
                <a:solidFill>
                  <a:srgbClr val="16173A"/>
                </a:solidFill>
                <a:latin typeface="Times New Roman" pitchFamily="34" charset="0"/>
                <a:ea typeface="Times New Roman" pitchFamily="34" charset="-122"/>
                <a:cs typeface="Times New Roman" pitchFamily="34" charset="-120"/>
              </a:rPr>
              <a:t>biaEngine.js</a:t>
            </a:r>
            <a:endParaRPr lang="en-US" sz="1350" dirty="0"/>
          </a:p>
        </p:txBody>
      </p:sp>
      <p:sp>
        <p:nvSpPr>
          <p:cNvPr id="12" name="Text 10"/>
          <p:cNvSpPr txBox="1"/>
          <p:nvPr/>
        </p:nvSpPr>
        <p:spPr>
          <a:xfrm>
            <a:off x="3710864" y="2907792"/>
            <a:ext cx="2138096" cy="292608"/>
          </a:xfrm>
          <a:prstGeom prst="rect">
            <a:avLst/>
          </a:prstGeom>
          <a:noFill/>
          <a:ln/>
        </p:spPr>
        <p:txBody>
          <a:bodyPr wrap="square" lIns="0" tIns="0" rIns="0" bIns="0" rtlCol="0" anchor="t"/>
          <a:lstStyle/>
          <a:p>
            <a:pPr indent="0" marL="0">
              <a:lnSpc>
                <a:spcPct val="104000"/>
              </a:lnSpc>
              <a:buNone/>
            </a:pPr>
            <a:r>
              <a:rPr lang="en-US" sz="1150" dirty="0">
                <a:solidFill>
                  <a:srgbClr val="56597D"/>
                </a:solidFill>
                <a:latin typeface="Times New Roman" pitchFamily="34" charset="0"/>
                <a:ea typeface="Times New Roman" pitchFamily="34" charset="-122"/>
                <a:cs typeface="Times New Roman" pitchFamily="34" charset="-120"/>
              </a:rPr>
              <a:t>11 functions, all the arithmetic</a:t>
            </a:r>
            <a:endParaRPr lang="en-US" sz="1150" dirty="0"/>
          </a:p>
        </p:txBody>
      </p:sp>
      <p:sp>
        <p:nvSpPr>
          <p:cNvPr id="13" name="Shape 11"/>
          <p:cNvSpPr/>
          <p:nvPr/>
        </p:nvSpPr>
        <p:spPr>
          <a:xfrm>
            <a:off x="6196432" y="2542032"/>
            <a:ext cx="2430704" cy="731520"/>
          </a:xfrm>
          <a:prstGeom prst="roundRect">
            <a:avLst>
              <a:gd name="adj" fmla="val 7500"/>
            </a:avLst>
          </a:prstGeom>
          <a:solidFill>
            <a:srgbClr val="FFFFFF"/>
          </a:solidFill>
          <a:ln/>
        </p:spPr>
      </p:sp>
      <p:sp>
        <p:nvSpPr>
          <p:cNvPr id="14" name="Text 12"/>
          <p:cNvSpPr txBox="1"/>
          <p:nvPr/>
        </p:nvSpPr>
        <p:spPr>
          <a:xfrm>
            <a:off x="6342736" y="2651760"/>
            <a:ext cx="2138096" cy="256032"/>
          </a:xfrm>
          <a:prstGeom prst="rect">
            <a:avLst/>
          </a:prstGeom>
          <a:noFill/>
          <a:ln/>
        </p:spPr>
        <p:txBody>
          <a:bodyPr wrap="square" lIns="0" tIns="0" rIns="0" bIns="0" rtlCol="0" anchor="ctr"/>
          <a:lstStyle/>
          <a:p>
            <a:pPr indent="0" marL="0">
              <a:buNone/>
            </a:pPr>
            <a:r>
              <a:rPr lang="en-US" sz="1350" b="1" dirty="0">
                <a:solidFill>
                  <a:srgbClr val="16173A"/>
                </a:solidFill>
                <a:latin typeface="Times New Roman" pitchFamily="34" charset="0"/>
                <a:ea typeface="Times New Roman" pitchFamily="34" charset="-122"/>
                <a:cs typeface="Times New Roman" pitchFamily="34" charset="-120"/>
              </a:rPr>
              <a:t>7 result views</a:t>
            </a:r>
            <a:endParaRPr lang="en-US" sz="1350" dirty="0"/>
          </a:p>
        </p:txBody>
      </p:sp>
      <p:sp>
        <p:nvSpPr>
          <p:cNvPr id="15" name="Text 13"/>
          <p:cNvSpPr txBox="1"/>
          <p:nvPr/>
        </p:nvSpPr>
        <p:spPr>
          <a:xfrm>
            <a:off x="6342736" y="2907792"/>
            <a:ext cx="2138096" cy="292608"/>
          </a:xfrm>
          <a:prstGeom prst="rect">
            <a:avLst/>
          </a:prstGeom>
          <a:noFill/>
          <a:ln/>
        </p:spPr>
        <p:txBody>
          <a:bodyPr wrap="square" lIns="0" tIns="0" rIns="0" bIns="0" rtlCol="0" anchor="t"/>
          <a:lstStyle/>
          <a:p>
            <a:pPr indent="0" marL="0">
              <a:lnSpc>
                <a:spcPct val="104000"/>
              </a:lnSpc>
              <a:buNone/>
            </a:pPr>
            <a:r>
              <a:rPr lang="en-US" sz="1150" dirty="0">
                <a:solidFill>
                  <a:srgbClr val="56597D"/>
                </a:solidFill>
                <a:latin typeface="Times New Roman" pitchFamily="34" charset="0"/>
                <a:ea typeface="Times New Roman" pitchFamily="34" charset="-122"/>
                <a:cs typeface="Times New Roman" pitchFamily="34" charset="-120"/>
              </a:rPr>
              <a:t>rendered, never recalculated per tab</a:t>
            </a:r>
            <a:endParaRPr lang="en-US" sz="1150" dirty="0"/>
          </a:p>
        </p:txBody>
      </p:sp>
      <p:sp>
        <p:nvSpPr>
          <p:cNvPr id="16" name="Shape 14"/>
          <p:cNvSpPr/>
          <p:nvPr/>
        </p:nvSpPr>
        <p:spPr>
          <a:xfrm>
            <a:off x="8828303" y="2542032"/>
            <a:ext cx="2430704" cy="731520"/>
          </a:xfrm>
          <a:prstGeom prst="roundRect">
            <a:avLst>
              <a:gd name="adj" fmla="val 7500"/>
            </a:avLst>
          </a:prstGeom>
          <a:solidFill>
            <a:srgbClr val="FFFFFF"/>
          </a:solidFill>
          <a:ln/>
        </p:spPr>
      </p:sp>
      <p:sp>
        <p:nvSpPr>
          <p:cNvPr id="17" name="Text 15"/>
          <p:cNvSpPr txBox="1"/>
          <p:nvPr/>
        </p:nvSpPr>
        <p:spPr>
          <a:xfrm>
            <a:off x="8974607" y="2651760"/>
            <a:ext cx="2138096" cy="256032"/>
          </a:xfrm>
          <a:prstGeom prst="rect">
            <a:avLst/>
          </a:prstGeom>
          <a:noFill/>
          <a:ln/>
        </p:spPr>
        <p:txBody>
          <a:bodyPr wrap="square" lIns="0" tIns="0" rIns="0" bIns="0" rtlCol="0" anchor="ctr"/>
          <a:lstStyle/>
          <a:p>
            <a:pPr indent="0" marL="0">
              <a:buNone/>
            </a:pPr>
            <a:r>
              <a:rPr lang="en-US" sz="1350" b="1" dirty="0">
                <a:solidFill>
                  <a:srgbClr val="16173A"/>
                </a:solidFill>
                <a:latin typeface="Times New Roman" pitchFamily="34" charset="0"/>
                <a:ea typeface="Times New Roman" pitchFamily="34" charset="-122"/>
                <a:cs typeface="Times New Roman" pitchFamily="34" charset="-120"/>
              </a:rPr>
              <a:t>PDF + Excel</a:t>
            </a:r>
            <a:endParaRPr lang="en-US" sz="1350" dirty="0"/>
          </a:p>
        </p:txBody>
      </p:sp>
      <p:sp>
        <p:nvSpPr>
          <p:cNvPr id="18" name="Text 16"/>
          <p:cNvSpPr txBox="1"/>
          <p:nvPr/>
        </p:nvSpPr>
        <p:spPr>
          <a:xfrm>
            <a:off x="8974607" y="2907792"/>
            <a:ext cx="2138096" cy="292608"/>
          </a:xfrm>
          <a:prstGeom prst="rect">
            <a:avLst/>
          </a:prstGeom>
          <a:noFill/>
          <a:ln/>
        </p:spPr>
        <p:txBody>
          <a:bodyPr wrap="square" lIns="0" tIns="0" rIns="0" bIns="0" rtlCol="0" anchor="t"/>
          <a:lstStyle/>
          <a:p>
            <a:pPr indent="0" marL="0">
              <a:lnSpc>
                <a:spcPct val="104000"/>
              </a:lnSpc>
              <a:buNone/>
            </a:pPr>
            <a:r>
              <a:rPr lang="en-US" sz="1150" dirty="0">
                <a:solidFill>
                  <a:srgbClr val="56597D"/>
                </a:solidFill>
                <a:latin typeface="Times New Roman" pitchFamily="34" charset="0"/>
                <a:ea typeface="Times New Roman" pitchFamily="34" charset="-122"/>
                <a:cs typeface="Times New Roman" pitchFamily="34" charset="-120"/>
              </a:rPr>
              <a:t>generated client-side</a:t>
            </a:r>
            <a:endParaRPr lang="en-US" sz="1150" dirty="0"/>
          </a:p>
        </p:txBody>
      </p:sp>
      <p:sp>
        <p:nvSpPr>
          <p:cNvPr id="19" name="Text 17"/>
          <p:cNvSpPr txBox="1"/>
          <p:nvPr/>
        </p:nvSpPr>
        <p:spPr>
          <a:xfrm>
            <a:off x="932688" y="3584448"/>
            <a:ext cx="3657600" cy="237744"/>
          </a:xfrm>
          <a:prstGeom prst="rect">
            <a:avLst/>
          </a:prstGeom>
          <a:noFill/>
          <a:ln/>
        </p:spPr>
        <p:txBody>
          <a:bodyPr wrap="square" lIns="0" tIns="0" rIns="0" bIns="0" rtlCol="0" anchor="ctr"/>
          <a:lstStyle/>
          <a:p>
            <a:pPr indent="0" marL="0">
              <a:buNone/>
            </a:pPr>
            <a:r>
              <a:rPr lang="en-US" sz="1150" dirty="0">
                <a:solidFill>
                  <a:srgbClr val="56597D"/>
                </a:solidFill>
                <a:latin typeface="Times New Roman" pitchFamily="34" charset="0"/>
                <a:ea typeface="Times New Roman" pitchFamily="34" charset="-122"/>
                <a:cs typeface="Times New Roman" pitchFamily="34" charset="-120"/>
              </a:rPr>
              <a:t>↓   HTTPS, same origin</a:t>
            </a:r>
            <a:endParaRPr lang="en-US" sz="1150" dirty="0"/>
          </a:p>
        </p:txBody>
      </p:sp>
      <p:sp>
        <p:nvSpPr>
          <p:cNvPr id="20" name="Shape 18"/>
          <p:cNvSpPr/>
          <p:nvPr/>
        </p:nvSpPr>
        <p:spPr>
          <a:xfrm>
            <a:off x="566928" y="3785616"/>
            <a:ext cx="11057839" cy="1481328"/>
          </a:xfrm>
          <a:prstGeom prst="roundRect">
            <a:avLst>
              <a:gd name="adj" fmla="val 3704"/>
            </a:avLst>
          </a:prstGeom>
          <a:solidFill>
            <a:srgbClr val="F4F3FB"/>
          </a:solidFill>
          <a:ln/>
          <a:effectLst>
            <a:outerShdw sx="100000" sy="100000" kx="0" ky="0" algn="bl" rotWithShape="0" blurRad="127000" dist="25400" dir="5400000">
              <a:srgbClr val="1B1B4A">
                <a:alpha val="10000"/>
              </a:srgbClr>
            </a:outerShdw>
          </a:effectLst>
        </p:spPr>
      </p:sp>
      <p:sp>
        <p:nvSpPr>
          <p:cNvPr id="21" name="Text 19"/>
          <p:cNvSpPr txBox="1"/>
          <p:nvPr/>
        </p:nvSpPr>
        <p:spPr>
          <a:xfrm>
            <a:off x="932688" y="3986784"/>
            <a:ext cx="10326319" cy="237744"/>
          </a:xfrm>
          <a:prstGeom prst="rect">
            <a:avLst/>
          </a:prstGeom>
          <a:noFill/>
          <a:ln/>
        </p:spPr>
        <p:txBody>
          <a:bodyPr wrap="square" lIns="0" tIns="0" rIns="0" bIns="0" rtlCol="0" anchor="ctr"/>
          <a:lstStyle/>
          <a:p>
            <a:pPr indent="0" marL="0">
              <a:buNone/>
            </a:pPr>
            <a:r>
              <a:rPr lang="en-US" sz="1100" b="1" spc="180" kern="0" dirty="0">
                <a:solidFill>
                  <a:srgbClr val="34365A"/>
                </a:solidFill>
                <a:latin typeface="Times New Roman" pitchFamily="34" charset="0"/>
                <a:ea typeface="Times New Roman" pitchFamily="34" charset="-122"/>
                <a:cs typeface="Times New Roman" pitchFamily="34" charset="-120"/>
              </a:rPr>
              <a:t>RENDER WEB SERVICE  ·  EXPRESS 4  ·  ONE ORIGIN, NO CALCULATION</a:t>
            </a:r>
            <a:endParaRPr lang="en-US" sz="1100" dirty="0"/>
          </a:p>
        </p:txBody>
      </p:sp>
      <p:sp>
        <p:nvSpPr>
          <p:cNvPr id="22" name="Shape 20"/>
          <p:cNvSpPr/>
          <p:nvPr/>
        </p:nvSpPr>
        <p:spPr>
          <a:xfrm>
            <a:off x="932688" y="4297680"/>
            <a:ext cx="2430704" cy="731520"/>
          </a:xfrm>
          <a:prstGeom prst="roundRect">
            <a:avLst>
              <a:gd name="adj" fmla="val 7500"/>
            </a:avLst>
          </a:prstGeom>
          <a:solidFill>
            <a:srgbClr val="FFFFFF"/>
          </a:solidFill>
          <a:ln/>
        </p:spPr>
      </p:sp>
      <p:sp>
        <p:nvSpPr>
          <p:cNvPr id="23" name="Text 21"/>
          <p:cNvSpPr txBox="1"/>
          <p:nvPr/>
        </p:nvSpPr>
        <p:spPr>
          <a:xfrm>
            <a:off x="1078992" y="4407408"/>
            <a:ext cx="2138096" cy="256032"/>
          </a:xfrm>
          <a:prstGeom prst="rect">
            <a:avLst/>
          </a:prstGeom>
          <a:noFill/>
          <a:ln/>
        </p:spPr>
        <p:txBody>
          <a:bodyPr wrap="square" lIns="0" tIns="0" rIns="0" bIns="0" rtlCol="0" anchor="ctr"/>
          <a:lstStyle/>
          <a:p>
            <a:pPr indent="0" marL="0">
              <a:buNone/>
            </a:pPr>
            <a:r>
              <a:rPr lang="en-US" sz="1350" b="1" dirty="0">
                <a:solidFill>
                  <a:srgbClr val="16173A"/>
                </a:solidFill>
                <a:latin typeface="Times New Roman" pitchFamily="34" charset="0"/>
                <a:ea typeface="Times New Roman" pitchFamily="34" charset="-122"/>
                <a:cs typeface="Times New Roman" pitchFamily="34" charset="-120"/>
              </a:rPr>
              <a:t>Static host</a:t>
            </a:r>
            <a:endParaRPr lang="en-US" sz="1350" dirty="0"/>
          </a:p>
        </p:txBody>
      </p:sp>
      <p:sp>
        <p:nvSpPr>
          <p:cNvPr id="24" name="Text 22"/>
          <p:cNvSpPr txBox="1"/>
          <p:nvPr/>
        </p:nvSpPr>
        <p:spPr>
          <a:xfrm>
            <a:off x="1078992" y="4663440"/>
            <a:ext cx="2138096" cy="292608"/>
          </a:xfrm>
          <a:prstGeom prst="rect">
            <a:avLst/>
          </a:prstGeom>
          <a:noFill/>
          <a:ln/>
        </p:spPr>
        <p:txBody>
          <a:bodyPr wrap="square" lIns="0" tIns="0" rIns="0" bIns="0" rtlCol="0" anchor="t"/>
          <a:lstStyle/>
          <a:p>
            <a:pPr indent="0" marL="0">
              <a:lnSpc>
                <a:spcPct val="104000"/>
              </a:lnSpc>
              <a:buNone/>
            </a:pPr>
            <a:r>
              <a:rPr lang="en-US" sz="1150" dirty="0">
                <a:solidFill>
                  <a:srgbClr val="56597D"/>
                </a:solidFill>
                <a:latin typeface="Times New Roman" pitchFamily="34" charset="0"/>
                <a:ea typeface="Times New Roman" pitchFamily="34" charset="-122"/>
                <a:cs typeface="Times New Roman" pitchFamily="34" charset="-120"/>
              </a:rPr>
              <a:t>serves the built React bundle</a:t>
            </a:r>
            <a:endParaRPr lang="en-US" sz="1150" dirty="0"/>
          </a:p>
        </p:txBody>
      </p:sp>
      <p:sp>
        <p:nvSpPr>
          <p:cNvPr id="25" name="Shape 23"/>
          <p:cNvSpPr/>
          <p:nvPr/>
        </p:nvSpPr>
        <p:spPr>
          <a:xfrm>
            <a:off x="3564560" y="4297680"/>
            <a:ext cx="2430704" cy="731520"/>
          </a:xfrm>
          <a:prstGeom prst="roundRect">
            <a:avLst>
              <a:gd name="adj" fmla="val 7500"/>
            </a:avLst>
          </a:prstGeom>
          <a:solidFill>
            <a:srgbClr val="FFFFFF"/>
          </a:solidFill>
          <a:ln/>
        </p:spPr>
      </p:sp>
      <p:sp>
        <p:nvSpPr>
          <p:cNvPr id="26" name="Text 24"/>
          <p:cNvSpPr txBox="1"/>
          <p:nvPr/>
        </p:nvSpPr>
        <p:spPr>
          <a:xfrm>
            <a:off x="3710864" y="4407408"/>
            <a:ext cx="2138096" cy="256032"/>
          </a:xfrm>
          <a:prstGeom prst="rect">
            <a:avLst/>
          </a:prstGeom>
          <a:noFill/>
          <a:ln/>
        </p:spPr>
        <p:txBody>
          <a:bodyPr wrap="square" lIns="0" tIns="0" rIns="0" bIns="0" rtlCol="0" anchor="ctr"/>
          <a:lstStyle/>
          <a:p>
            <a:pPr indent="0" marL="0">
              <a:buNone/>
            </a:pPr>
            <a:r>
              <a:rPr lang="en-US" sz="1350" b="1" dirty="0">
                <a:solidFill>
                  <a:srgbClr val="16173A"/>
                </a:solidFill>
                <a:latin typeface="Times New Roman" pitchFamily="34" charset="0"/>
                <a:ea typeface="Times New Roman" pitchFamily="34" charset="-122"/>
                <a:cs typeface="Times New Roman" pitchFamily="34" charset="-120"/>
              </a:rPr>
              <a:t>Evidence API</a:t>
            </a:r>
            <a:endParaRPr lang="en-US" sz="1350" dirty="0"/>
          </a:p>
        </p:txBody>
      </p:sp>
      <p:sp>
        <p:nvSpPr>
          <p:cNvPr id="27" name="Text 25"/>
          <p:cNvSpPr txBox="1"/>
          <p:nvPr/>
        </p:nvSpPr>
        <p:spPr>
          <a:xfrm>
            <a:off x="3710864" y="4663440"/>
            <a:ext cx="2138096" cy="292608"/>
          </a:xfrm>
          <a:prstGeom prst="rect">
            <a:avLst/>
          </a:prstGeom>
          <a:noFill/>
          <a:ln/>
        </p:spPr>
        <p:txBody>
          <a:bodyPr wrap="square" lIns="0" tIns="0" rIns="0" bIns="0" rtlCol="0" anchor="t"/>
          <a:lstStyle/>
          <a:p>
            <a:pPr indent="0" marL="0">
              <a:lnSpc>
                <a:spcPct val="104000"/>
              </a:lnSpc>
              <a:buNone/>
            </a:pPr>
            <a:r>
              <a:rPr lang="en-US" sz="1150" dirty="0">
                <a:solidFill>
                  <a:srgbClr val="56597D"/>
                </a:solidFill>
                <a:latin typeface="Times New Roman" pitchFamily="34" charset="0"/>
                <a:ea typeface="Times New Roman" pitchFamily="34" charset="-122"/>
                <a:cs typeface="Times New Roman" pitchFamily="34" charset="-120"/>
              </a:rPr>
              <a:t>/api/v1/evitrack</a:t>
            </a:r>
            <a:endParaRPr lang="en-US" sz="1150" dirty="0"/>
          </a:p>
        </p:txBody>
      </p:sp>
      <p:sp>
        <p:nvSpPr>
          <p:cNvPr id="28" name="Shape 26"/>
          <p:cNvSpPr/>
          <p:nvPr/>
        </p:nvSpPr>
        <p:spPr>
          <a:xfrm>
            <a:off x="6196432" y="4297680"/>
            <a:ext cx="2430704" cy="731520"/>
          </a:xfrm>
          <a:prstGeom prst="roundRect">
            <a:avLst>
              <a:gd name="adj" fmla="val 7500"/>
            </a:avLst>
          </a:prstGeom>
          <a:solidFill>
            <a:srgbClr val="FFFFFF"/>
          </a:solidFill>
          <a:ln/>
        </p:spPr>
      </p:sp>
      <p:sp>
        <p:nvSpPr>
          <p:cNvPr id="29" name="Text 27"/>
          <p:cNvSpPr txBox="1"/>
          <p:nvPr/>
        </p:nvSpPr>
        <p:spPr>
          <a:xfrm>
            <a:off x="6342736" y="4407408"/>
            <a:ext cx="2138096" cy="256032"/>
          </a:xfrm>
          <a:prstGeom prst="rect">
            <a:avLst/>
          </a:prstGeom>
          <a:noFill/>
          <a:ln/>
        </p:spPr>
        <p:txBody>
          <a:bodyPr wrap="square" lIns="0" tIns="0" rIns="0" bIns="0" rtlCol="0" anchor="ctr"/>
          <a:lstStyle/>
          <a:p>
            <a:pPr indent="0" marL="0">
              <a:buNone/>
            </a:pPr>
            <a:r>
              <a:rPr lang="en-US" sz="1350" b="1" dirty="0">
                <a:solidFill>
                  <a:srgbClr val="16173A"/>
                </a:solidFill>
                <a:latin typeface="Times New Roman" pitchFamily="34" charset="0"/>
                <a:ea typeface="Times New Roman" pitchFamily="34" charset="-122"/>
                <a:cs typeface="Times New Roman" pitchFamily="34" charset="-120"/>
              </a:rPr>
              <a:t>LLM proxy</a:t>
            </a:r>
            <a:endParaRPr lang="en-US" sz="1350" dirty="0"/>
          </a:p>
        </p:txBody>
      </p:sp>
      <p:sp>
        <p:nvSpPr>
          <p:cNvPr id="30" name="Text 28"/>
          <p:cNvSpPr txBox="1"/>
          <p:nvPr/>
        </p:nvSpPr>
        <p:spPr>
          <a:xfrm>
            <a:off x="6342736" y="4663440"/>
            <a:ext cx="2138096" cy="292608"/>
          </a:xfrm>
          <a:prstGeom prst="rect">
            <a:avLst/>
          </a:prstGeom>
          <a:noFill/>
          <a:ln/>
        </p:spPr>
        <p:txBody>
          <a:bodyPr wrap="square" lIns="0" tIns="0" rIns="0" bIns="0" rtlCol="0" anchor="t"/>
          <a:lstStyle/>
          <a:p>
            <a:pPr indent="0" marL="0">
              <a:lnSpc>
                <a:spcPct val="104000"/>
              </a:lnSpc>
              <a:buNone/>
            </a:pPr>
            <a:r>
              <a:rPr lang="en-US" sz="1150" dirty="0">
                <a:solidFill>
                  <a:srgbClr val="56597D"/>
                </a:solidFill>
                <a:latin typeface="Times New Roman" pitchFamily="34" charset="0"/>
                <a:ea typeface="Times New Roman" pitchFamily="34" charset="-122"/>
                <a:cs typeface="Times New Roman" pitchFamily="34" charset="-120"/>
              </a:rPr>
              <a:t>/api/chat, key stays server-side</a:t>
            </a:r>
            <a:endParaRPr lang="en-US" sz="1150" dirty="0"/>
          </a:p>
        </p:txBody>
      </p:sp>
      <p:sp>
        <p:nvSpPr>
          <p:cNvPr id="31" name="Shape 29"/>
          <p:cNvSpPr/>
          <p:nvPr/>
        </p:nvSpPr>
        <p:spPr>
          <a:xfrm>
            <a:off x="8828303" y="4297680"/>
            <a:ext cx="2430704" cy="731520"/>
          </a:xfrm>
          <a:prstGeom prst="roundRect">
            <a:avLst>
              <a:gd name="adj" fmla="val 7500"/>
            </a:avLst>
          </a:prstGeom>
          <a:solidFill>
            <a:srgbClr val="FFFFFF"/>
          </a:solidFill>
          <a:ln/>
        </p:spPr>
      </p:sp>
      <p:sp>
        <p:nvSpPr>
          <p:cNvPr id="32" name="Text 30"/>
          <p:cNvSpPr txBox="1"/>
          <p:nvPr/>
        </p:nvSpPr>
        <p:spPr>
          <a:xfrm>
            <a:off x="8974607" y="4407408"/>
            <a:ext cx="2138096" cy="256032"/>
          </a:xfrm>
          <a:prstGeom prst="rect">
            <a:avLst/>
          </a:prstGeom>
          <a:noFill/>
          <a:ln/>
        </p:spPr>
        <p:txBody>
          <a:bodyPr wrap="square" lIns="0" tIns="0" rIns="0" bIns="0" rtlCol="0" anchor="ctr"/>
          <a:lstStyle/>
          <a:p>
            <a:pPr indent="0" marL="0">
              <a:buNone/>
            </a:pPr>
            <a:r>
              <a:rPr lang="en-US" sz="1350" b="1" dirty="0">
                <a:solidFill>
                  <a:srgbClr val="16173A"/>
                </a:solidFill>
                <a:latin typeface="Times New Roman" pitchFamily="34" charset="0"/>
                <a:ea typeface="Times New Roman" pitchFamily="34" charset="-122"/>
                <a:cs typeface="Times New Roman" pitchFamily="34" charset="-120"/>
              </a:rPr>
              <a:t>Run history</a:t>
            </a:r>
            <a:endParaRPr lang="en-US" sz="1350" dirty="0"/>
          </a:p>
        </p:txBody>
      </p:sp>
      <p:sp>
        <p:nvSpPr>
          <p:cNvPr id="33" name="Text 31"/>
          <p:cNvSpPr txBox="1"/>
          <p:nvPr/>
        </p:nvSpPr>
        <p:spPr>
          <a:xfrm>
            <a:off x="8974607" y="4663440"/>
            <a:ext cx="2138096" cy="292608"/>
          </a:xfrm>
          <a:prstGeom prst="rect">
            <a:avLst/>
          </a:prstGeom>
          <a:noFill/>
          <a:ln/>
        </p:spPr>
        <p:txBody>
          <a:bodyPr wrap="square" lIns="0" tIns="0" rIns="0" bIns="0" rtlCol="0" anchor="t"/>
          <a:lstStyle/>
          <a:p>
            <a:pPr indent="0" marL="0">
              <a:lnSpc>
                <a:spcPct val="104000"/>
              </a:lnSpc>
              <a:buNone/>
            </a:pPr>
            <a:r>
              <a:rPr lang="en-US" sz="1150" dirty="0">
                <a:solidFill>
                  <a:srgbClr val="56597D"/>
                </a:solidFill>
                <a:latin typeface="Times New Roman" pitchFamily="34" charset="0"/>
                <a:ea typeface="Times New Roman" pitchFamily="34" charset="-122"/>
                <a:cs typeface="Times New Roman" pitchFamily="34" charset="-120"/>
              </a:rPr>
              <a:t>/api/model/runs</a:t>
            </a:r>
            <a:endParaRPr lang="en-US" sz="1150" dirty="0"/>
          </a:p>
        </p:txBody>
      </p:sp>
      <p:sp>
        <p:nvSpPr>
          <p:cNvPr id="34" name="Text 32"/>
          <p:cNvSpPr txBox="1"/>
          <p:nvPr/>
        </p:nvSpPr>
        <p:spPr>
          <a:xfrm>
            <a:off x="585216" y="5413248"/>
            <a:ext cx="11057839" cy="274320"/>
          </a:xfrm>
          <a:prstGeom prst="rect">
            <a:avLst/>
          </a:prstGeom>
          <a:noFill/>
          <a:ln/>
        </p:spPr>
        <p:txBody>
          <a:bodyPr wrap="square" lIns="0" tIns="0" rIns="0" bIns="0" rtlCol="0" anchor="ctr"/>
          <a:lstStyle/>
          <a:p>
            <a:pPr indent="0" marL="0">
              <a:buNone/>
            </a:pPr>
            <a:r>
              <a:rPr lang="en-US" sz="1300" b="1" dirty="0">
                <a:solidFill>
                  <a:srgbClr val="16173A"/>
                </a:solidFill>
                <a:latin typeface="Times New Roman" pitchFamily="34" charset="0"/>
                <a:ea typeface="Times New Roman" pitchFamily="34" charset="-122"/>
                <a:cs typeface="Times New Roman" pitchFamily="34" charset="-120"/>
              </a:rPr>
              <a:t>Optional and external:  </a:t>
            </a:r>
            <a:pPr indent="0" marL="0">
              <a:buNone/>
            </a:pPr>
            <a:r>
              <a:rPr lang="en-US" sz="1300" dirty="0">
                <a:solidFill>
                  <a:srgbClr val="56597D"/>
                </a:solidFill>
                <a:latin typeface="Times New Roman" pitchFamily="34" charset="0"/>
                <a:ea typeface="Times New Roman" pitchFamily="34" charset="-122"/>
                <a:cs typeface="Times New Roman" pitchFamily="34" charset="-120"/>
              </a:rPr>
              <a:t>PostgreSQL 16, 14 tables  ·  PubMed, ClinicalTrials.gov, openFDA, WHO GHO, World Bank  ·  Groq, Gemini</a:t>
            </a:r>
            <a:endParaRPr lang="en-US" sz="1300" dirty="0"/>
          </a:p>
        </p:txBody>
      </p:sp>
      <p:sp>
        <p:nvSpPr>
          <p:cNvPr id="35" name="Shape 33"/>
          <p:cNvSpPr/>
          <p:nvPr/>
        </p:nvSpPr>
        <p:spPr>
          <a:xfrm>
            <a:off x="566928" y="5705856"/>
            <a:ext cx="11057839" cy="493776"/>
          </a:xfrm>
          <a:prstGeom prst="roundRect">
            <a:avLst>
              <a:gd name="adj" fmla="val 11111"/>
            </a:avLst>
          </a:prstGeom>
          <a:solidFill>
            <a:srgbClr val="16173A"/>
          </a:solidFill>
          <a:ln/>
          <a:effectLst>
            <a:outerShdw sx="100000" sy="100000" kx="0" ky="0" algn="bl" rotWithShape="0" blurRad="127000" dist="25400" dir="5400000">
              <a:srgbClr val="1B1B4A">
                <a:alpha val="10000"/>
              </a:srgbClr>
            </a:outerShdw>
          </a:effectLst>
        </p:spPr>
      </p:sp>
      <p:sp>
        <p:nvSpPr>
          <p:cNvPr id="36" name="Text 34"/>
          <p:cNvSpPr txBox="1"/>
          <p:nvPr/>
        </p:nvSpPr>
        <p:spPr>
          <a:xfrm>
            <a:off x="950976" y="5815584"/>
            <a:ext cx="10289743" cy="310896"/>
          </a:xfrm>
          <a:prstGeom prst="rect">
            <a:avLst/>
          </a:prstGeom>
          <a:noFill/>
          <a:ln/>
        </p:spPr>
        <p:txBody>
          <a:bodyPr wrap="square" lIns="0" tIns="0" rIns="0" bIns="0" rtlCol="0" anchor="ctr"/>
          <a:lstStyle/>
          <a:p>
            <a:pPr indent="0" marL="0">
              <a:buNone/>
            </a:pPr>
            <a:r>
              <a:rPr lang="en-US" sz="1350" b="1" dirty="0">
                <a:solidFill>
                  <a:srgbClr val="FFFFFF"/>
                </a:solidFill>
                <a:latin typeface="Times New Roman" pitchFamily="34" charset="0"/>
                <a:ea typeface="Times New Roman" pitchFamily="34" charset="-122"/>
                <a:cs typeface="Times New Roman" pitchFamily="34" charset="-120"/>
              </a:rPr>
              <a:t>38 unit tests passing  ·  62 source files  ·  one engine.  </a:t>
            </a:r>
            <a:pPr indent="0" marL="0">
              <a:buNone/>
            </a:pPr>
            <a:r>
              <a:rPr lang="en-US" sz="1350" dirty="0">
                <a:solidFill>
                  <a:srgbClr val="B9B3E8"/>
                </a:solidFill>
                <a:latin typeface="Times New Roman" pitchFamily="34" charset="0"/>
                <a:ea typeface="Times New Roman" pitchFamily="34" charset="-122"/>
                <a:cs typeface="Times New Roman" pitchFamily="34" charset="-120"/>
              </a:rPr>
              <a:t>A second copy on the server disagreed by 16% on identical inputs, so we deleted it.</a:t>
            </a:r>
            <a:endParaRPr lang="en-US" sz="1350" dirty="0"/>
          </a:p>
        </p:txBody>
      </p:sp>
      <p:sp>
        <p:nvSpPr>
          <p:cNvPr id="38" name="Text 35"/>
          <p:cNvSpPr txBox="1"/>
          <p:nvPr/>
        </p:nvSpPr>
        <p:spPr>
          <a:xfrm>
            <a:off x="566928" y="6336792"/>
            <a:ext cx="5486400" cy="256032"/>
          </a:xfrm>
          <a:prstGeom prst="rect">
            <a:avLst/>
          </a:prstGeom>
          <a:noFill/>
          <a:ln/>
        </p:spPr>
        <p:txBody>
          <a:bodyPr wrap="square" lIns="0" tIns="0" rIns="0" bIns="0" rtlCol="0" anchor="ctr"/>
          <a:lstStyle/>
          <a:p>
            <a:pPr indent="0" marL="0">
              <a:buNone/>
            </a:pPr>
            <a:r>
              <a:rPr lang="en-US" sz="1050" dirty="0">
                <a:solidFill>
                  <a:srgbClr val="DAD6F2"/>
                </a:solidFill>
                <a:latin typeface="Times New Roman" pitchFamily="34" charset="0"/>
                <a:ea typeface="Times New Roman" pitchFamily="34" charset="-122"/>
                <a:cs typeface="Times New Roman" pitchFamily="34" charset="-120"/>
              </a:rPr>
              <a:t>BIET  ·  Team Denovo  ·  IBAB</a:t>
            </a:r>
            <a:endParaRPr lang="en-US" sz="1050" dirty="0"/>
          </a:p>
        </p:txBody>
      </p:sp>
      <p:sp>
        <p:nvSpPr>
          <p:cNvPr id="39" name="Text 36"/>
          <p:cNvSpPr txBox="1"/>
          <p:nvPr/>
        </p:nvSpPr>
        <p:spPr>
          <a:xfrm>
            <a:off x="10710367" y="6336792"/>
            <a:ext cx="914400" cy="256032"/>
          </a:xfrm>
          <a:prstGeom prst="rect">
            <a:avLst/>
          </a:prstGeom>
          <a:noFill/>
          <a:ln/>
        </p:spPr>
        <p:txBody>
          <a:bodyPr wrap="square" lIns="0" tIns="0" rIns="0" bIns="0" rtlCol="0" anchor="ctr"/>
          <a:lstStyle/>
          <a:p>
            <a:pPr algn="r" indent="0" marL="0">
              <a:buNone/>
            </a:pPr>
            <a:r>
              <a:rPr lang="en-US" sz="1050" b="1" dirty="0">
                <a:solidFill>
                  <a:srgbClr val="DAD6F2"/>
                </a:solidFill>
                <a:latin typeface="Times New Roman" pitchFamily="34" charset="0"/>
                <a:ea typeface="Times New Roman" pitchFamily="34" charset="-122"/>
                <a:cs typeface="Times New Roman" pitchFamily="34" charset="-120"/>
              </a:rPr>
              <a:t>06</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65760"/>
            <a:ext cx="11057839" cy="237744"/>
          </a:xfrm>
          <a:prstGeom prst="rect">
            <a:avLst/>
          </a:prstGeom>
          <a:noFill/>
          <a:ln/>
        </p:spPr>
        <p:txBody>
          <a:bodyPr wrap="square" lIns="0" tIns="0" rIns="0" bIns="0" rtlCol="0" anchor="ctr"/>
          <a:lstStyle/>
          <a:p>
            <a:pPr indent="0" marL="0">
              <a:buNone/>
            </a:pPr>
            <a:r>
              <a:rPr lang="en-US" sz="1200" b="1" spc="240" kern="0" dirty="0">
                <a:solidFill>
                  <a:srgbClr val="5B3BD4"/>
                </a:solidFill>
                <a:latin typeface="Times New Roman" pitchFamily="34" charset="0"/>
                <a:ea typeface="Times New Roman" pitchFamily="34" charset="-122"/>
                <a:cs typeface="Times New Roman" pitchFamily="34" charset="-120"/>
              </a:rPr>
              <a:t>05 · WHERE IT GOES NEXT</a:t>
            </a:r>
            <a:endParaRPr lang="en-US" sz="1200" dirty="0"/>
          </a:p>
        </p:txBody>
      </p:sp>
      <p:sp>
        <p:nvSpPr>
          <p:cNvPr id="3" name="Text 1"/>
          <p:cNvSpPr txBox="1"/>
          <p:nvPr/>
        </p:nvSpPr>
        <p:spPr>
          <a:xfrm>
            <a:off x="566928" y="676656"/>
            <a:ext cx="11057839" cy="658368"/>
          </a:xfrm>
          <a:prstGeom prst="rect">
            <a:avLst/>
          </a:prstGeom>
          <a:noFill/>
          <a:ln/>
        </p:spPr>
        <p:txBody>
          <a:bodyPr wrap="square" lIns="0" tIns="0" rIns="0" bIns="0" rtlCol="0" anchor="ctr"/>
          <a:lstStyle/>
          <a:p>
            <a:pPr indent="0" marL="0">
              <a:lnSpc>
                <a:spcPct val="92000"/>
              </a:lnSpc>
              <a:buNone/>
            </a:pPr>
            <a:r>
              <a:rPr lang="en-US" sz="3600" b="1" dirty="0">
                <a:solidFill>
                  <a:srgbClr val="16173A"/>
                </a:solidFill>
                <a:latin typeface="Times New Roman" pitchFamily="34" charset="0"/>
                <a:ea typeface="Times New Roman" pitchFamily="34" charset="-122"/>
                <a:cs typeface="Times New Roman" pitchFamily="34" charset="-120"/>
              </a:rPr>
              <a:t>What we would build next, and why</a:t>
            </a:r>
            <a:endParaRPr lang="en-US" sz="3600" dirty="0"/>
          </a:p>
        </p:txBody>
      </p:sp>
      <p:sp>
        <p:nvSpPr>
          <p:cNvPr id="4" name="Text 2"/>
          <p:cNvSpPr txBox="1"/>
          <p:nvPr/>
        </p:nvSpPr>
        <p:spPr>
          <a:xfrm>
            <a:off x="566928" y="1389888"/>
            <a:ext cx="9966960" cy="566928"/>
          </a:xfrm>
          <a:prstGeom prst="rect">
            <a:avLst/>
          </a:prstGeom>
          <a:noFill/>
          <a:ln/>
        </p:spPr>
        <p:txBody>
          <a:bodyPr wrap="square" lIns="0" tIns="0" rIns="0" bIns="0" rtlCol="0" anchor="ctr"/>
          <a:lstStyle/>
          <a:p>
            <a:pPr indent="0" marL="0">
              <a:lnSpc>
                <a:spcPct val="112000"/>
              </a:lnSpc>
              <a:buNone/>
            </a:pPr>
            <a:r>
              <a:rPr lang="en-US" sz="1500" dirty="0">
                <a:solidFill>
                  <a:srgbClr val="56597D"/>
                </a:solidFill>
                <a:latin typeface="Times New Roman" pitchFamily="34" charset="0"/>
                <a:ea typeface="Times New Roman" pitchFamily="34" charset="-122"/>
                <a:cs typeface="Times New Roman" pitchFamily="34" charset="-120"/>
              </a:rPr>
              <a:t>Framed by what the tool does not do today. These are the four limitations we would remove first, in that order.</a:t>
            </a:r>
            <a:endParaRPr lang="en-US" sz="1500" dirty="0"/>
          </a:p>
        </p:txBody>
      </p:sp>
      <p:sp>
        <p:nvSpPr>
          <p:cNvPr id="5" name="Shape 3"/>
          <p:cNvSpPr/>
          <p:nvPr/>
        </p:nvSpPr>
        <p:spPr>
          <a:xfrm>
            <a:off x="566928" y="2157984"/>
            <a:ext cx="5346040" cy="1828800"/>
          </a:xfrm>
          <a:prstGeom prst="roundRect">
            <a:avLst>
              <a:gd name="adj" fmla="val 3000"/>
            </a:avLst>
          </a:prstGeom>
          <a:solidFill>
            <a:srgbClr val="F4F3FB"/>
          </a:solidFill>
          <a:ln/>
          <a:effectLst>
            <a:outerShdw sx="100000" sy="100000" kx="0" ky="0" algn="bl" rotWithShape="0" blurRad="127000" dist="25400" dir="5400000">
              <a:srgbClr val="1B1B4A">
                <a:alpha val="10000"/>
              </a:srgbClr>
            </a:outerShdw>
          </a:effectLst>
        </p:spPr>
      </p:sp>
      <p:sp>
        <p:nvSpPr>
          <p:cNvPr id="6" name="Shape 4"/>
          <p:cNvSpPr/>
          <p:nvPr/>
        </p:nvSpPr>
        <p:spPr>
          <a:xfrm>
            <a:off x="896112" y="2450592"/>
            <a:ext cx="329184" cy="329184"/>
          </a:xfrm>
          <a:prstGeom prst="roundRect">
            <a:avLst>
              <a:gd name="adj" fmla="val 83333"/>
            </a:avLst>
          </a:prstGeom>
          <a:solidFill>
            <a:srgbClr val="5B3BD4"/>
          </a:solidFill>
          <a:ln/>
        </p:spPr>
      </p:sp>
      <p:sp>
        <p:nvSpPr>
          <p:cNvPr id="7" name="Text 5"/>
          <p:cNvSpPr txBox="1"/>
          <p:nvPr/>
        </p:nvSpPr>
        <p:spPr>
          <a:xfrm>
            <a:off x="896112" y="2450592"/>
            <a:ext cx="329184"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Times New Roman" pitchFamily="34" charset="0"/>
                <a:ea typeface="Times New Roman" pitchFamily="34" charset="-122"/>
                <a:cs typeface="Times New Roman" pitchFamily="34" charset="-120"/>
              </a:rPr>
              <a:t>1</a:t>
            </a:r>
            <a:endParaRPr lang="en-US" sz="1250" dirty="0"/>
          </a:p>
        </p:txBody>
      </p:sp>
      <p:sp>
        <p:nvSpPr>
          <p:cNvPr id="8" name="Text 6"/>
          <p:cNvSpPr txBox="1"/>
          <p:nvPr/>
        </p:nvSpPr>
        <p:spPr>
          <a:xfrm>
            <a:off x="1353312" y="2432304"/>
            <a:ext cx="4248760" cy="310896"/>
          </a:xfrm>
          <a:prstGeom prst="rect">
            <a:avLst/>
          </a:prstGeom>
          <a:noFill/>
          <a:ln/>
        </p:spPr>
        <p:txBody>
          <a:bodyPr wrap="square" lIns="0" tIns="0" rIns="0" bIns="0" rtlCol="0" anchor="ctr"/>
          <a:lstStyle/>
          <a:p>
            <a:pPr indent="0" marL="0">
              <a:buNone/>
            </a:pPr>
            <a:r>
              <a:rPr lang="en-US" sz="1600" b="1" dirty="0">
                <a:solidFill>
                  <a:srgbClr val="16173A"/>
                </a:solidFill>
                <a:latin typeface="Times New Roman" pitchFamily="34" charset="0"/>
                <a:ea typeface="Times New Roman" pitchFamily="34" charset="-122"/>
                <a:cs typeface="Times New Roman" pitchFamily="34" charset="-120"/>
              </a:rPr>
              <a:t>Probabilistic sensitivity</a:t>
            </a:r>
            <a:endParaRPr lang="en-US" sz="1600" dirty="0"/>
          </a:p>
        </p:txBody>
      </p:sp>
      <p:sp>
        <p:nvSpPr>
          <p:cNvPr id="9" name="Text 7"/>
          <p:cNvSpPr txBox="1"/>
          <p:nvPr/>
        </p:nvSpPr>
        <p:spPr>
          <a:xfrm>
            <a:off x="1353312" y="2834640"/>
            <a:ext cx="4212184" cy="420624"/>
          </a:xfrm>
          <a:prstGeom prst="rect">
            <a:avLst/>
          </a:prstGeom>
          <a:noFill/>
          <a:ln/>
        </p:spPr>
        <p:txBody>
          <a:bodyPr wrap="square" lIns="0" tIns="0" rIns="0" bIns="0" rtlCol="0" anchor="t"/>
          <a:lstStyle/>
          <a:p>
            <a:pPr indent="0" marL="0">
              <a:lnSpc>
                <a:spcPct val="106000"/>
              </a:lnSpc>
              <a:buNone/>
            </a:pPr>
            <a:r>
              <a:rPr lang="en-US" sz="1250" dirty="0">
                <a:solidFill>
                  <a:srgbClr val="56597D"/>
                </a:solidFill>
                <a:latin typeface="Times New Roman" pitchFamily="34" charset="0"/>
                <a:ea typeface="Times New Roman" pitchFamily="34" charset="-122"/>
                <a:cs typeface="Times New Roman" pitchFamily="34" charset="-120"/>
              </a:rPr>
              <a:t>Today: a one-way tornado, ten parameters moved ±20% one at a time.</a:t>
            </a:r>
            <a:endParaRPr lang="en-US" sz="1250" dirty="0"/>
          </a:p>
        </p:txBody>
      </p:sp>
      <p:sp>
        <p:nvSpPr>
          <p:cNvPr id="10" name="Text 8"/>
          <p:cNvSpPr txBox="1"/>
          <p:nvPr/>
        </p:nvSpPr>
        <p:spPr>
          <a:xfrm>
            <a:off x="1353312" y="3273552"/>
            <a:ext cx="4212184" cy="566928"/>
          </a:xfrm>
          <a:prstGeom prst="rect">
            <a:avLst/>
          </a:prstGeom>
          <a:noFill/>
          <a:ln/>
        </p:spPr>
        <p:txBody>
          <a:bodyPr wrap="square" lIns="0" tIns="0" rIns="0" bIns="0" rtlCol="0" anchor="t"/>
          <a:lstStyle/>
          <a:p>
            <a:pPr indent="0" marL="0">
              <a:lnSpc>
                <a:spcPct val="106000"/>
              </a:lnSpc>
              <a:buNone/>
            </a:pPr>
            <a:r>
              <a:rPr lang="en-US" sz="1250" dirty="0">
                <a:solidFill>
                  <a:srgbClr val="5B3BD4"/>
                </a:solidFill>
                <a:latin typeface="Times New Roman" pitchFamily="34" charset="0"/>
                <a:ea typeface="Times New Roman" pitchFamily="34" charset="-122"/>
                <a:cs typeface="Times New Roman" pitchFamily="34" charset="-120"/>
              </a:rPr>
              <a:t>Next: Monte Carlo over correlated parameters, so the headline carries a confidence interval instead of a point.</a:t>
            </a:r>
            <a:endParaRPr lang="en-US" sz="1250" dirty="0"/>
          </a:p>
        </p:txBody>
      </p:sp>
      <p:sp>
        <p:nvSpPr>
          <p:cNvPr id="11" name="Shape 9"/>
          <p:cNvSpPr/>
          <p:nvPr/>
        </p:nvSpPr>
        <p:spPr>
          <a:xfrm>
            <a:off x="6278728" y="2157984"/>
            <a:ext cx="5346040" cy="1828800"/>
          </a:xfrm>
          <a:prstGeom prst="roundRect">
            <a:avLst>
              <a:gd name="adj" fmla="val 3000"/>
            </a:avLst>
          </a:prstGeom>
          <a:solidFill>
            <a:srgbClr val="F4F3FB"/>
          </a:solidFill>
          <a:ln/>
          <a:effectLst>
            <a:outerShdw sx="100000" sy="100000" kx="0" ky="0" algn="bl" rotWithShape="0" blurRad="127000" dist="25400" dir="5400000">
              <a:srgbClr val="1B1B4A">
                <a:alpha val="10000"/>
              </a:srgbClr>
            </a:outerShdw>
          </a:effectLst>
        </p:spPr>
      </p:sp>
      <p:sp>
        <p:nvSpPr>
          <p:cNvPr id="12" name="Shape 10"/>
          <p:cNvSpPr/>
          <p:nvPr/>
        </p:nvSpPr>
        <p:spPr>
          <a:xfrm>
            <a:off x="6607912" y="2450592"/>
            <a:ext cx="329184" cy="329184"/>
          </a:xfrm>
          <a:prstGeom prst="roundRect">
            <a:avLst>
              <a:gd name="adj" fmla="val 83333"/>
            </a:avLst>
          </a:prstGeom>
          <a:solidFill>
            <a:srgbClr val="5B3BD4"/>
          </a:solidFill>
          <a:ln/>
        </p:spPr>
      </p:sp>
      <p:sp>
        <p:nvSpPr>
          <p:cNvPr id="13" name="Text 11"/>
          <p:cNvSpPr txBox="1"/>
          <p:nvPr/>
        </p:nvSpPr>
        <p:spPr>
          <a:xfrm>
            <a:off x="6607912" y="2450592"/>
            <a:ext cx="329184"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Times New Roman" pitchFamily="34" charset="0"/>
                <a:ea typeface="Times New Roman" pitchFamily="34" charset="-122"/>
                <a:cs typeface="Times New Roman" pitchFamily="34" charset="-120"/>
              </a:rPr>
              <a:t>2</a:t>
            </a:r>
            <a:endParaRPr lang="en-US" sz="1250" dirty="0"/>
          </a:p>
        </p:txBody>
      </p:sp>
      <p:sp>
        <p:nvSpPr>
          <p:cNvPr id="14" name="Text 12"/>
          <p:cNvSpPr txBox="1"/>
          <p:nvPr/>
        </p:nvSpPr>
        <p:spPr>
          <a:xfrm>
            <a:off x="7065112" y="2432304"/>
            <a:ext cx="4248760" cy="310896"/>
          </a:xfrm>
          <a:prstGeom prst="rect">
            <a:avLst/>
          </a:prstGeom>
          <a:noFill/>
          <a:ln/>
        </p:spPr>
        <p:txBody>
          <a:bodyPr wrap="square" lIns="0" tIns="0" rIns="0" bIns="0" rtlCol="0" anchor="ctr"/>
          <a:lstStyle/>
          <a:p>
            <a:pPr indent="0" marL="0">
              <a:buNone/>
            </a:pPr>
            <a:r>
              <a:rPr lang="en-US" sz="1600" b="1" dirty="0">
                <a:solidFill>
                  <a:srgbClr val="16173A"/>
                </a:solidFill>
                <a:latin typeface="Times New Roman" pitchFamily="34" charset="0"/>
                <a:ea typeface="Times New Roman" pitchFamily="34" charset="-122"/>
                <a:cs typeface="Times New Roman" pitchFamily="34" charset="-120"/>
              </a:rPr>
              <a:t>Multi-country roll-up</a:t>
            </a:r>
            <a:endParaRPr lang="en-US" sz="1600" dirty="0"/>
          </a:p>
        </p:txBody>
      </p:sp>
      <p:sp>
        <p:nvSpPr>
          <p:cNvPr id="15" name="Text 13"/>
          <p:cNvSpPr txBox="1"/>
          <p:nvPr/>
        </p:nvSpPr>
        <p:spPr>
          <a:xfrm>
            <a:off x="7065112" y="2834640"/>
            <a:ext cx="4212184" cy="420624"/>
          </a:xfrm>
          <a:prstGeom prst="rect">
            <a:avLst/>
          </a:prstGeom>
          <a:noFill/>
          <a:ln/>
        </p:spPr>
        <p:txBody>
          <a:bodyPr wrap="square" lIns="0" tIns="0" rIns="0" bIns="0" rtlCol="0" anchor="t"/>
          <a:lstStyle/>
          <a:p>
            <a:pPr indent="0" marL="0">
              <a:lnSpc>
                <a:spcPct val="106000"/>
              </a:lnSpc>
              <a:buNone/>
            </a:pPr>
            <a:r>
              <a:rPr lang="en-US" sz="1250" dirty="0">
                <a:solidFill>
                  <a:srgbClr val="56597D"/>
                </a:solidFill>
                <a:latin typeface="Times New Roman" pitchFamily="34" charset="0"/>
                <a:ea typeface="Times New Roman" pitchFamily="34" charset="-122"/>
                <a:cs typeface="Times New Roman" pitchFamily="34" charset="-120"/>
              </a:rPr>
              <a:t>Today: one country per run, one currency, one set of prices.</a:t>
            </a:r>
            <a:endParaRPr lang="en-US" sz="1250" dirty="0"/>
          </a:p>
        </p:txBody>
      </p:sp>
      <p:sp>
        <p:nvSpPr>
          <p:cNvPr id="16" name="Text 14"/>
          <p:cNvSpPr txBox="1"/>
          <p:nvPr/>
        </p:nvSpPr>
        <p:spPr>
          <a:xfrm>
            <a:off x="7065112" y="3273552"/>
            <a:ext cx="4212184" cy="566928"/>
          </a:xfrm>
          <a:prstGeom prst="rect">
            <a:avLst/>
          </a:prstGeom>
          <a:noFill/>
          <a:ln/>
        </p:spPr>
        <p:txBody>
          <a:bodyPr wrap="square" lIns="0" tIns="0" rIns="0" bIns="0" rtlCol="0" anchor="t"/>
          <a:lstStyle/>
          <a:p>
            <a:pPr indent="0" marL="0">
              <a:lnSpc>
                <a:spcPct val="106000"/>
              </a:lnSpc>
              <a:buNone/>
            </a:pPr>
            <a:r>
              <a:rPr lang="en-US" sz="1250" dirty="0">
                <a:solidFill>
                  <a:srgbClr val="5B3BD4"/>
                </a:solidFill>
                <a:latin typeface="Times New Roman" pitchFamily="34" charset="0"/>
                <a:ea typeface="Times New Roman" pitchFamily="34" charset="-122"/>
                <a:cs typeface="Times New Roman" pitchFamily="34" charset="-120"/>
              </a:rPr>
              <a:t>Next: several markets aggregated into a regional total, which is how global teams actually plan.</a:t>
            </a:r>
            <a:endParaRPr lang="en-US" sz="1250" dirty="0"/>
          </a:p>
        </p:txBody>
      </p:sp>
      <p:sp>
        <p:nvSpPr>
          <p:cNvPr id="17" name="Shape 15"/>
          <p:cNvSpPr/>
          <p:nvPr/>
        </p:nvSpPr>
        <p:spPr>
          <a:xfrm>
            <a:off x="566928" y="4187952"/>
            <a:ext cx="5346040" cy="1828800"/>
          </a:xfrm>
          <a:prstGeom prst="roundRect">
            <a:avLst>
              <a:gd name="adj" fmla="val 3000"/>
            </a:avLst>
          </a:prstGeom>
          <a:solidFill>
            <a:srgbClr val="F4F3FB"/>
          </a:solidFill>
          <a:ln/>
          <a:effectLst>
            <a:outerShdw sx="100000" sy="100000" kx="0" ky="0" algn="bl" rotWithShape="0" blurRad="127000" dist="25400" dir="5400000">
              <a:srgbClr val="1B1B4A">
                <a:alpha val="10000"/>
              </a:srgbClr>
            </a:outerShdw>
          </a:effectLst>
        </p:spPr>
      </p:sp>
      <p:sp>
        <p:nvSpPr>
          <p:cNvPr id="18" name="Shape 16"/>
          <p:cNvSpPr/>
          <p:nvPr/>
        </p:nvSpPr>
        <p:spPr>
          <a:xfrm>
            <a:off x="896112" y="4480560"/>
            <a:ext cx="329184" cy="329184"/>
          </a:xfrm>
          <a:prstGeom prst="roundRect">
            <a:avLst>
              <a:gd name="adj" fmla="val 83333"/>
            </a:avLst>
          </a:prstGeom>
          <a:solidFill>
            <a:srgbClr val="5B3BD4"/>
          </a:solidFill>
          <a:ln/>
        </p:spPr>
      </p:sp>
      <p:sp>
        <p:nvSpPr>
          <p:cNvPr id="19" name="Text 17"/>
          <p:cNvSpPr txBox="1"/>
          <p:nvPr/>
        </p:nvSpPr>
        <p:spPr>
          <a:xfrm>
            <a:off x="896112" y="4480560"/>
            <a:ext cx="329184"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Times New Roman" pitchFamily="34" charset="0"/>
                <a:ea typeface="Times New Roman" pitchFamily="34" charset="-122"/>
                <a:cs typeface="Times New Roman" pitchFamily="34" charset="-120"/>
              </a:rPr>
              <a:t>3</a:t>
            </a:r>
            <a:endParaRPr lang="en-US" sz="1250" dirty="0"/>
          </a:p>
        </p:txBody>
      </p:sp>
      <p:sp>
        <p:nvSpPr>
          <p:cNvPr id="20" name="Text 18"/>
          <p:cNvSpPr txBox="1"/>
          <p:nvPr/>
        </p:nvSpPr>
        <p:spPr>
          <a:xfrm>
            <a:off x="1353312" y="4462272"/>
            <a:ext cx="4248760" cy="310896"/>
          </a:xfrm>
          <a:prstGeom prst="rect">
            <a:avLst/>
          </a:prstGeom>
          <a:noFill/>
          <a:ln/>
        </p:spPr>
        <p:txBody>
          <a:bodyPr wrap="square" lIns="0" tIns="0" rIns="0" bIns="0" rtlCol="0" anchor="ctr"/>
          <a:lstStyle/>
          <a:p>
            <a:pPr indent="0" marL="0">
              <a:buNone/>
            </a:pPr>
            <a:r>
              <a:rPr lang="en-US" sz="1600" b="1" dirty="0">
                <a:solidFill>
                  <a:srgbClr val="16173A"/>
                </a:solidFill>
                <a:latin typeface="Times New Roman" pitchFamily="34" charset="0"/>
                <a:ea typeface="Times New Roman" pitchFamily="34" charset="-122"/>
                <a:cs typeface="Times New Roman" pitchFamily="34" charset="-120"/>
              </a:rPr>
              <a:t>Subgroups with their own parameters</a:t>
            </a:r>
            <a:endParaRPr lang="en-US" sz="1600" dirty="0"/>
          </a:p>
        </p:txBody>
      </p:sp>
      <p:sp>
        <p:nvSpPr>
          <p:cNvPr id="21" name="Text 19"/>
          <p:cNvSpPr txBox="1"/>
          <p:nvPr/>
        </p:nvSpPr>
        <p:spPr>
          <a:xfrm>
            <a:off x="1353312" y="4864608"/>
            <a:ext cx="4212184" cy="420624"/>
          </a:xfrm>
          <a:prstGeom prst="rect">
            <a:avLst/>
          </a:prstGeom>
          <a:noFill/>
          <a:ln/>
        </p:spPr>
        <p:txBody>
          <a:bodyPr wrap="square" lIns="0" tIns="0" rIns="0" bIns="0" rtlCol="0" anchor="t"/>
          <a:lstStyle/>
          <a:p>
            <a:pPr indent="0" marL="0">
              <a:lnSpc>
                <a:spcPct val="106000"/>
              </a:lnSpc>
              <a:buNone/>
            </a:pPr>
            <a:r>
              <a:rPr lang="en-US" sz="1250" dirty="0">
                <a:solidFill>
                  <a:srgbClr val="56597D"/>
                </a:solidFill>
                <a:latin typeface="Times New Roman" pitchFamily="34" charset="0"/>
                <a:ea typeface="Times New Roman" pitchFamily="34" charset="-122"/>
                <a:cs typeface="Times New Roman" pitchFamily="34" charset="-120"/>
              </a:rPr>
              <a:t>Today: a subgroup narrows the population but inherits the parent's costs and outcomes.</a:t>
            </a:r>
            <a:endParaRPr lang="en-US" sz="1250" dirty="0"/>
          </a:p>
        </p:txBody>
      </p:sp>
      <p:sp>
        <p:nvSpPr>
          <p:cNvPr id="22" name="Text 20"/>
          <p:cNvSpPr txBox="1"/>
          <p:nvPr/>
        </p:nvSpPr>
        <p:spPr>
          <a:xfrm>
            <a:off x="1353312" y="5303520"/>
            <a:ext cx="4212184" cy="566928"/>
          </a:xfrm>
          <a:prstGeom prst="rect">
            <a:avLst/>
          </a:prstGeom>
          <a:noFill/>
          <a:ln/>
        </p:spPr>
        <p:txBody>
          <a:bodyPr wrap="square" lIns="0" tIns="0" rIns="0" bIns="0" rtlCol="0" anchor="t"/>
          <a:lstStyle/>
          <a:p>
            <a:pPr indent="0" marL="0">
              <a:lnSpc>
                <a:spcPct val="106000"/>
              </a:lnSpc>
              <a:buNone/>
            </a:pPr>
            <a:r>
              <a:rPr lang="en-US" sz="1250" dirty="0">
                <a:solidFill>
                  <a:srgbClr val="5B3BD4"/>
                </a:solidFill>
                <a:latin typeface="Times New Roman" pitchFamily="34" charset="0"/>
                <a:ea typeface="Times New Roman" pitchFamily="34" charset="-122"/>
                <a:cs typeface="Times New Roman" pitchFamily="34" charset="-120"/>
              </a:rPr>
              <a:t>Next: independent cost and outcome parameters, so subgroup economics stop being an approximation.</a:t>
            </a:r>
            <a:endParaRPr lang="en-US" sz="1250" dirty="0"/>
          </a:p>
        </p:txBody>
      </p:sp>
      <p:sp>
        <p:nvSpPr>
          <p:cNvPr id="23" name="Shape 21"/>
          <p:cNvSpPr/>
          <p:nvPr/>
        </p:nvSpPr>
        <p:spPr>
          <a:xfrm>
            <a:off x="6278728" y="4187952"/>
            <a:ext cx="5346040" cy="1828800"/>
          </a:xfrm>
          <a:prstGeom prst="roundRect">
            <a:avLst>
              <a:gd name="adj" fmla="val 3000"/>
            </a:avLst>
          </a:prstGeom>
          <a:solidFill>
            <a:srgbClr val="F4F3FB"/>
          </a:solidFill>
          <a:ln/>
          <a:effectLst>
            <a:outerShdw sx="100000" sy="100000" kx="0" ky="0" algn="bl" rotWithShape="0" blurRad="127000" dist="25400" dir="5400000">
              <a:srgbClr val="1B1B4A">
                <a:alpha val="10000"/>
              </a:srgbClr>
            </a:outerShdw>
          </a:effectLst>
        </p:spPr>
      </p:sp>
      <p:sp>
        <p:nvSpPr>
          <p:cNvPr id="24" name="Shape 22"/>
          <p:cNvSpPr/>
          <p:nvPr/>
        </p:nvSpPr>
        <p:spPr>
          <a:xfrm>
            <a:off x="6607912" y="4480560"/>
            <a:ext cx="329184" cy="329184"/>
          </a:xfrm>
          <a:prstGeom prst="roundRect">
            <a:avLst>
              <a:gd name="adj" fmla="val 83333"/>
            </a:avLst>
          </a:prstGeom>
          <a:solidFill>
            <a:srgbClr val="5B3BD4"/>
          </a:solidFill>
          <a:ln/>
        </p:spPr>
      </p:sp>
      <p:sp>
        <p:nvSpPr>
          <p:cNvPr id="25" name="Text 23"/>
          <p:cNvSpPr txBox="1"/>
          <p:nvPr/>
        </p:nvSpPr>
        <p:spPr>
          <a:xfrm>
            <a:off x="6607912" y="4480560"/>
            <a:ext cx="329184"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Times New Roman" pitchFamily="34" charset="0"/>
                <a:ea typeface="Times New Roman" pitchFamily="34" charset="-122"/>
                <a:cs typeface="Times New Roman" pitchFamily="34" charset="-120"/>
              </a:rPr>
              <a:t>4</a:t>
            </a:r>
            <a:endParaRPr lang="en-US" sz="1250" dirty="0"/>
          </a:p>
        </p:txBody>
      </p:sp>
      <p:sp>
        <p:nvSpPr>
          <p:cNvPr id="26" name="Text 24"/>
          <p:cNvSpPr txBox="1"/>
          <p:nvPr/>
        </p:nvSpPr>
        <p:spPr>
          <a:xfrm>
            <a:off x="7065112" y="4462272"/>
            <a:ext cx="4248760" cy="310896"/>
          </a:xfrm>
          <a:prstGeom prst="rect">
            <a:avLst/>
          </a:prstGeom>
          <a:noFill/>
          <a:ln/>
        </p:spPr>
        <p:txBody>
          <a:bodyPr wrap="square" lIns="0" tIns="0" rIns="0" bIns="0" rtlCol="0" anchor="ctr"/>
          <a:lstStyle/>
          <a:p>
            <a:pPr indent="0" marL="0">
              <a:buNone/>
            </a:pPr>
            <a:r>
              <a:rPr lang="en-US" sz="1600" b="1" dirty="0">
                <a:solidFill>
                  <a:srgbClr val="16173A"/>
                </a:solidFill>
                <a:latin typeface="Times New Roman" pitchFamily="34" charset="0"/>
                <a:ea typeface="Times New Roman" pitchFamily="34" charset="-122"/>
                <a:cs typeface="Times New Roman" pitchFamily="34" charset="-120"/>
              </a:rPr>
              <a:t>Learned uptake curves</a:t>
            </a:r>
            <a:endParaRPr lang="en-US" sz="1600" dirty="0"/>
          </a:p>
        </p:txBody>
      </p:sp>
      <p:sp>
        <p:nvSpPr>
          <p:cNvPr id="27" name="Text 25"/>
          <p:cNvSpPr txBox="1"/>
          <p:nvPr/>
        </p:nvSpPr>
        <p:spPr>
          <a:xfrm>
            <a:off x="7065112" y="4864608"/>
            <a:ext cx="4212184" cy="420624"/>
          </a:xfrm>
          <a:prstGeom prst="rect">
            <a:avLst/>
          </a:prstGeom>
          <a:noFill/>
          <a:ln/>
        </p:spPr>
        <p:txBody>
          <a:bodyPr wrap="square" lIns="0" tIns="0" rIns="0" bIns="0" rtlCol="0" anchor="t"/>
          <a:lstStyle/>
          <a:p>
            <a:pPr indent="0" marL="0">
              <a:lnSpc>
                <a:spcPct val="106000"/>
              </a:lnSpc>
              <a:buNone/>
            </a:pPr>
            <a:r>
              <a:rPr lang="en-US" sz="1250" dirty="0">
                <a:solidFill>
                  <a:srgbClr val="56597D"/>
                </a:solidFill>
                <a:latin typeface="Times New Roman" pitchFamily="34" charset="0"/>
                <a:ea typeface="Times New Roman" pitchFamily="34" charset="-122"/>
                <a:cs typeface="Times New Roman" pitchFamily="34" charset="-120"/>
              </a:rPr>
              <a:t>Today: the uptake curve is typed in year by year.</a:t>
            </a:r>
            <a:endParaRPr lang="en-US" sz="1250" dirty="0"/>
          </a:p>
        </p:txBody>
      </p:sp>
      <p:sp>
        <p:nvSpPr>
          <p:cNvPr id="28" name="Text 26"/>
          <p:cNvSpPr txBox="1"/>
          <p:nvPr/>
        </p:nvSpPr>
        <p:spPr>
          <a:xfrm>
            <a:off x="7065112" y="5303520"/>
            <a:ext cx="4212184" cy="566928"/>
          </a:xfrm>
          <a:prstGeom prst="rect">
            <a:avLst/>
          </a:prstGeom>
          <a:noFill/>
          <a:ln/>
        </p:spPr>
        <p:txBody>
          <a:bodyPr wrap="square" lIns="0" tIns="0" rIns="0" bIns="0" rtlCol="0" anchor="t"/>
          <a:lstStyle/>
          <a:p>
            <a:pPr indent="0" marL="0">
              <a:lnSpc>
                <a:spcPct val="106000"/>
              </a:lnSpc>
              <a:buNone/>
            </a:pPr>
            <a:r>
              <a:rPr lang="en-US" sz="1250" dirty="0">
                <a:solidFill>
                  <a:srgbClr val="5B3BD4"/>
                </a:solidFill>
                <a:latin typeface="Times New Roman" pitchFamily="34" charset="0"/>
                <a:ea typeface="Times New Roman" pitchFamily="34" charset="-122"/>
                <a:cs typeface="Times New Roman" pitchFamily="34" charset="-120"/>
              </a:rPr>
              <a:t>Next: curves fitted from comparable launches, because uptake moves the answer more than price does.</a:t>
            </a:r>
            <a:endParaRPr lang="en-US" sz="1250" dirty="0"/>
          </a:p>
        </p:txBody>
      </p:sp>
      <p:sp>
        <p:nvSpPr>
          <p:cNvPr id="30" name="Text 27"/>
          <p:cNvSpPr txBox="1"/>
          <p:nvPr/>
        </p:nvSpPr>
        <p:spPr>
          <a:xfrm>
            <a:off x="566928" y="6336792"/>
            <a:ext cx="5486400" cy="256032"/>
          </a:xfrm>
          <a:prstGeom prst="rect">
            <a:avLst/>
          </a:prstGeom>
          <a:noFill/>
          <a:ln/>
        </p:spPr>
        <p:txBody>
          <a:bodyPr wrap="square" lIns="0" tIns="0" rIns="0" bIns="0" rtlCol="0" anchor="ctr"/>
          <a:lstStyle/>
          <a:p>
            <a:pPr indent="0" marL="0">
              <a:buNone/>
            </a:pPr>
            <a:r>
              <a:rPr lang="en-US" sz="1050" dirty="0">
                <a:solidFill>
                  <a:srgbClr val="DAD6F2"/>
                </a:solidFill>
                <a:latin typeface="Times New Roman" pitchFamily="34" charset="0"/>
                <a:ea typeface="Times New Roman" pitchFamily="34" charset="-122"/>
                <a:cs typeface="Times New Roman" pitchFamily="34" charset="-120"/>
              </a:rPr>
              <a:t>BIET  ·  Team Denovo  ·  IBAB</a:t>
            </a:r>
            <a:endParaRPr lang="en-US" sz="1050" dirty="0"/>
          </a:p>
        </p:txBody>
      </p:sp>
      <p:sp>
        <p:nvSpPr>
          <p:cNvPr id="31" name="Text 28"/>
          <p:cNvSpPr txBox="1"/>
          <p:nvPr/>
        </p:nvSpPr>
        <p:spPr>
          <a:xfrm>
            <a:off x="10710367" y="6336792"/>
            <a:ext cx="914400" cy="256032"/>
          </a:xfrm>
          <a:prstGeom prst="rect">
            <a:avLst/>
          </a:prstGeom>
          <a:noFill/>
          <a:ln/>
        </p:spPr>
        <p:txBody>
          <a:bodyPr wrap="square" lIns="0" tIns="0" rIns="0" bIns="0" rtlCol="0" anchor="ctr"/>
          <a:lstStyle/>
          <a:p>
            <a:pPr algn="r" indent="0" marL="0">
              <a:buNone/>
            </a:pPr>
            <a:r>
              <a:rPr lang="en-US" sz="1050" b="1" dirty="0">
                <a:solidFill>
                  <a:srgbClr val="DAD6F2"/>
                </a:solidFill>
                <a:latin typeface="Times New Roman" pitchFamily="34" charset="0"/>
                <a:ea typeface="Times New Roman" pitchFamily="34" charset="-122"/>
                <a:cs typeface="Times New Roman" pitchFamily="34" charset="-120"/>
              </a:rPr>
              <a:t>07</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65760"/>
            <a:ext cx="11057839" cy="237744"/>
          </a:xfrm>
          <a:prstGeom prst="rect">
            <a:avLst/>
          </a:prstGeom>
          <a:noFill/>
          <a:ln/>
        </p:spPr>
        <p:txBody>
          <a:bodyPr wrap="square" lIns="0" tIns="0" rIns="0" bIns="0" rtlCol="0" anchor="ctr"/>
          <a:lstStyle/>
          <a:p>
            <a:pPr indent="0" marL="0">
              <a:buNone/>
            </a:pPr>
            <a:r>
              <a:rPr lang="en-US" sz="1200" b="1" spc="240" kern="0" dirty="0">
                <a:solidFill>
                  <a:srgbClr val="5B3BD4"/>
                </a:solidFill>
                <a:latin typeface="Times New Roman" pitchFamily="34" charset="0"/>
                <a:ea typeface="Times New Roman" pitchFamily="34" charset="-122"/>
                <a:cs typeface="Times New Roman" pitchFamily="34" charset="-120"/>
              </a:rPr>
              <a:t>06 · THE TEAM</a:t>
            </a:r>
            <a:endParaRPr lang="en-US" sz="1200" dirty="0"/>
          </a:p>
        </p:txBody>
      </p:sp>
      <p:sp>
        <p:nvSpPr>
          <p:cNvPr id="3" name="Text 1"/>
          <p:cNvSpPr txBox="1"/>
          <p:nvPr/>
        </p:nvSpPr>
        <p:spPr>
          <a:xfrm>
            <a:off x="566928" y="676656"/>
            <a:ext cx="11057839" cy="658368"/>
          </a:xfrm>
          <a:prstGeom prst="rect">
            <a:avLst/>
          </a:prstGeom>
          <a:noFill/>
          <a:ln/>
        </p:spPr>
        <p:txBody>
          <a:bodyPr wrap="square" lIns="0" tIns="0" rIns="0" bIns="0" rtlCol="0" anchor="ctr"/>
          <a:lstStyle/>
          <a:p>
            <a:pPr indent="0" marL="0">
              <a:lnSpc>
                <a:spcPct val="92000"/>
              </a:lnSpc>
              <a:buNone/>
            </a:pPr>
            <a:r>
              <a:rPr lang="en-US" sz="3600" b="1" dirty="0">
                <a:solidFill>
                  <a:srgbClr val="16173A"/>
                </a:solidFill>
                <a:latin typeface="Times New Roman" pitchFamily="34" charset="0"/>
                <a:ea typeface="Times New Roman" pitchFamily="34" charset="-122"/>
                <a:cs typeface="Times New Roman" pitchFamily="34" charset="-120"/>
              </a:rPr>
              <a:t>Team Denovo</a:t>
            </a:r>
            <a:endParaRPr lang="en-US" sz="3600" dirty="0"/>
          </a:p>
        </p:txBody>
      </p:sp>
      <p:sp>
        <p:nvSpPr>
          <p:cNvPr id="4" name="Text 2"/>
          <p:cNvSpPr txBox="1"/>
          <p:nvPr/>
        </p:nvSpPr>
        <p:spPr>
          <a:xfrm>
            <a:off x="566928" y="1389888"/>
            <a:ext cx="9966960" cy="566928"/>
          </a:xfrm>
          <a:prstGeom prst="rect">
            <a:avLst/>
          </a:prstGeom>
          <a:noFill/>
          <a:ln/>
        </p:spPr>
        <p:txBody>
          <a:bodyPr wrap="square" lIns="0" tIns="0" rIns="0" bIns="0" rtlCol="0" anchor="ctr"/>
          <a:lstStyle/>
          <a:p>
            <a:pPr indent="0" marL="0">
              <a:lnSpc>
                <a:spcPct val="112000"/>
              </a:lnSpc>
              <a:buNone/>
            </a:pPr>
            <a:r>
              <a:rPr lang="en-US" sz="1500" dirty="0">
                <a:solidFill>
                  <a:srgbClr val="56597D"/>
                </a:solidFill>
                <a:latin typeface="Times New Roman" pitchFamily="34" charset="0"/>
                <a:ea typeface="Times New Roman" pitchFamily="34" charset="-122"/>
                <a:cs typeface="Times New Roman" pitchFamily="34" charset="-120"/>
              </a:rPr>
              <a:t>Institute of Bioinformatics and Applied Biotechnology.</a:t>
            </a:r>
            <a:endParaRPr lang="en-US" sz="1500" dirty="0"/>
          </a:p>
        </p:txBody>
      </p:sp>
      <p:sp>
        <p:nvSpPr>
          <p:cNvPr id="5" name="Shape 3"/>
          <p:cNvSpPr/>
          <p:nvPr/>
        </p:nvSpPr>
        <p:spPr>
          <a:xfrm>
            <a:off x="566928" y="2231136"/>
            <a:ext cx="1992112" cy="3639312"/>
          </a:xfrm>
          <a:prstGeom prst="roundRect">
            <a:avLst>
              <a:gd name="adj" fmla="val 2754"/>
            </a:avLst>
          </a:prstGeom>
          <a:solidFill>
            <a:srgbClr val="F4F3FB"/>
          </a:solidFill>
          <a:ln/>
          <a:effectLst>
            <a:outerShdw sx="100000" sy="100000" kx="0" ky="0" algn="bl" rotWithShape="0" blurRad="127000" dist="25400" dir="5400000">
              <a:srgbClr val="1B1B4A">
                <a:alpha val="10000"/>
              </a:srgbClr>
            </a:outerShdw>
          </a:effectLst>
        </p:spPr>
      </p:sp>
      <p:sp>
        <p:nvSpPr>
          <p:cNvPr id="6" name="Shape 4"/>
          <p:cNvSpPr/>
          <p:nvPr/>
        </p:nvSpPr>
        <p:spPr>
          <a:xfrm>
            <a:off x="968624" y="2560320"/>
            <a:ext cx="1188720" cy="1188720"/>
          </a:xfrm>
          <a:prstGeom prst="roundRect">
            <a:avLst>
              <a:gd name="adj" fmla="val 50000"/>
            </a:avLst>
          </a:prstGeom>
          <a:solidFill>
            <a:srgbClr val="5B3BD4"/>
          </a:solidFill>
          <a:ln/>
        </p:spPr>
      </p:sp>
      <p:sp>
        <p:nvSpPr>
          <p:cNvPr id="7" name="Text 5"/>
          <p:cNvSpPr txBox="1"/>
          <p:nvPr/>
        </p:nvSpPr>
        <p:spPr>
          <a:xfrm>
            <a:off x="968624" y="2560320"/>
            <a:ext cx="1188720" cy="1188720"/>
          </a:xfrm>
          <a:prstGeom prst="rect">
            <a:avLst/>
          </a:prstGeom>
          <a:noFill/>
          <a:ln/>
        </p:spPr>
        <p:txBody>
          <a:bodyPr wrap="square" lIns="0" tIns="0" rIns="0" bIns="0" rtlCol="0" anchor="ctr"/>
          <a:lstStyle/>
          <a:p>
            <a:pPr algn="ctr" indent="0" marL="0">
              <a:buNone/>
            </a:pPr>
            <a:r>
              <a:rPr lang="en-US" sz="3000" b="1" dirty="0">
                <a:solidFill>
                  <a:srgbClr val="FFFFFF"/>
                </a:solidFill>
                <a:latin typeface="Times New Roman" pitchFamily="34" charset="0"/>
                <a:ea typeface="Times New Roman" pitchFamily="34" charset="-122"/>
                <a:cs typeface="Times New Roman" pitchFamily="34" charset="-120"/>
              </a:rPr>
              <a:t>AK</a:t>
            </a:r>
            <a:endParaRPr lang="en-US" sz="3000" dirty="0"/>
          </a:p>
        </p:txBody>
      </p:sp>
      <p:sp>
        <p:nvSpPr>
          <p:cNvPr id="8" name="Text 6"/>
          <p:cNvSpPr txBox="1"/>
          <p:nvPr/>
        </p:nvSpPr>
        <p:spPr>
          <a:xfrm>
            <a:off x="713232" y="3950208"/>
            <a:ext cx="1699504" cy="310896"/>
          </a:xfrm>
          <a:prstGeom prst="rect">
            <a:avLst/>
          </a:prstGeom>
          <a:noFill/>
          <a:ln/>
        </p:spPr>
        <p:txBody>
          <a:bodyPr wrap="square" lIns="0" tIns="0" rIns="0" bIns="0" rtlCol="0" anchor="ctr"/>
          <a:lstStyle/>
          <a:p>
            <a:pPr algn="ctr" indent="0" marL="0">
              <a:buNone/>
            </a:pPr>
            <a:r>
              <a:rPr lang="en-US" sz="1500" b="1" dirty="0">
                <a:solidFill>
                  <a:srgbClr val="16173A"/>
                </a:solidFill>
                <a:latin typeface="Times New Roman" pitchFamily="34" charset="0"/>
                <a:ea typeface="Times New Roman" pitchFamily="34" charset="-122"/>
                <a:cs typeface="Times New Roman" pitchFamily="34" charset="-120"/>
              </a:rPr>
              <a:t>Atharva Kadam</a:t>
            </a:r>
            <a:endParaRPr lang="en-US" sz="1500" dirty="0"/>
          </a:p>
        </p:txBody>
      </p:sp>
      <p:sp>
        <p:nvSpPr>
          <p:cNvPr id="9" name="Text 7"/>
          <p:cNvSpPr txBox="1"/>
          <p:nvPr/>
        </p:nvSpPr>
        <p:spPr>
          <a:xfrm>
            <a:off x="694944" y="4315968"/>
            <a:ext cx="1736080" cy="457200"/>
          </a:xfrm>
          <a:prstGeom prst="rect">
            <a:avLst/>
          </a:prstGeom>
          <a:noFill/>
          <a:ln/>
        </p:spPr>
        <p:txBody>
          <a:bodyPr wrap="square" lIns="0" tIns="0" rIns="0" bIns="0" rtlCol="0" anchor="t"/>
          <a:lstStyle/>
          <a:p>
            <a:pPr algn="ctr" indent="0" marL="0">
              <a:lnSpc>
                <a:spcPct val="102000"/>
              </a:lnSpc>
              <a:buNone/>
            </a:pPr>
            <a:r>
              <a:rPr lang="en-US" sz="1250" b="1" dirty="0">
                <a:solidFill>
                  <a:srgbClr val="5B3BD4"/>
                </a:solidFill>
                <a:latin typeface="Times New Roman" pitchFamily="34" charset="0"/>
                <a:ea typeface="Times New Roman" pitchFamily="34" charset="-122"/>
                <a:cs typeface="Times New Roman" pitchFamily="34" charset="-120"/>
              </a:rPr>
              <a:t>Model &amp; calculation engine</a:t>
            </a:r>
            <a:endParaRPr lang="en-US" sz="1250" dirty="0"/>
          </a:p>
        </p:txBody>
      </p:sp>
      <p:sp>
        <p:nvSpPr>
          <p:cNvPr id="10" name="Text 8"/>
          <p:cNvSpPr txBox="1"/>
          <p:nvPr/>
        </p:nvSpPr>
        <p:spPr>
          <a:xfrm>
            <a:off x="713232" y="4864608"/>
            <a:ext cx="1699504" cy="841248"/>
          </a:xfrm>
          <a:prstGeom prst="rect">
            <a:avLst/>
          </a:prstGeom>
          <a:noFill/>
          <a:ln/>
        </p:spPr>
        <p:txBody>
          <a:bodyPr wrap="square" lIns="0" tIns="0" rIns="0" bIns="0" rtlCol="0" anchor="t"/>
          <a:lstStyle/>
          <a:p>
            <a:pPr algn="ctr" indent="0" marL="0">
              <a:lnSpc>
                <a:spcPct val="108000"/>
              </a:lnSpc>
              <a:buNone/>
            </a:pPr>
            <a:r>
              <a:rPr lang="en-US" sz="1150" dirty="0">
                <a:solidFill>
                  <a:srgbClr val="56597D"/>
                </a:solidFill>
                <a:latin typeface="Times New Roman" pitchFamily="34" charset="0"/>
                <a:ea typeface="Times New Roman" pitchFamily="34" charset="-122"/>
                <a:cs typeface="Times New Roman" pitchFamily="34" charset="-120"/>
              </a:rPr>
              <a:t>The funnel, cost build-up, projection and break-even search.</a:t>
            </a:r>
            <a:endParaRPr lang="en-US" sz="1150" dirty="0"/>
          </a:p>
        </p:txBody>
      </p:sp>
      <p:sp>
        <p:nvSpPr>
          <p:cNvPr id="11" name="Shape 9"/>
          <p:cNvSpPr/>
          <p:nvPr/>
        </p:nvSpPr>
        <p:spPr>
          <a:xfrm>
            <a:off x="2833360" y="2231136"/>
            <a:ext cx="1992112" cy="3639312"/>
          </a:xfrm>
          <a:prstGeom prst="roundRect">
            <a:avLst>
              <a:gd name="adj" fmla="val 2754"/>
            </a:avLst>
          </a:prstGeom>
          <a:solidFill>
            <a:srgbClr val="F4F3FB"/>
          </a:solidFill>
          <a:ln/>
          <a:effectLst>
            <a:outerShdw sx="100000" sy="100000" kx="0" ky="0" algn="bl" rotWithShape="0" blurRad="127000" dist="25400" dir="5400000">
              <a:srgbClr val="1B1B4A">
                <a:alpha val="10000"/>
              </a:srgbClr>
            </a:outerShdw>
          </a:effectLst>
        </p:spPr>
      </p:sp>
      <p:sp>
        <p:nvSpPr>
          <p:cNvPr id="12" name="Shape 10"/>
          <p:cNvSpPr/>
          <p:nvPr/>
        </p:nvSpPr>
        <p:spPr>
          <a:xfrm>
            <a:off x="3235056" y="2560320"/>
            <a:ext cx="1188720" cy="1188720"/>
          </a:xfrm>
          <a:prstGeom prst="roundRect">
            <a:avLst>
              <a:gd name="adj" fmla="val 50000"/>
            </a:avLst>
          </a:prstGeom>
          <a:solidFill>
            <a:srgbClr val="16173A"/>
          </a:solidFill>
          <a:ln/>
        </p:spPr>
      </p:sp>
      <p:sp>
        <p:nvSpPr>
          <p:cNvPr id="13" name="Text 11"/>
          <p:cNvSpPr txBox="1"/>
          <p:nvPr/>
        </p:nvSpPr>
        <p:spPr>
          <a:xfrm>
            <a:off x="3235056" y="2560320"/>
            <a:ext cx="1188720" cy="1188720"/>
          </a:xfrm>
          <a:prstGeom prst="rect">
            <a:avLst/>
          </a:prstGeom>
          <a:noFill/>
          <a:ln/>
        </p:spPr>
        <p:txBody>
          <a:bodyPr wrap="square" lIns="0" tIns="0" rIns="0" bIns="0" rtlCol="0" anchor="ctr"/>
          <a:lstStyle/>
          <a:p>
            <a:pPr algn="ctr" indent="0" marL="0">
              <a:buNone/>
            </a:pPr>
            <a:r>
              <a:rPr lang="en-US" sz="3000" b="1" dirty="0">
                <a:solidFill>
                  <a:srgbClr val="FFFFFF"/>
                </a:solidFill>
                <a:latin typeface="Times New Roman" pitchFamily="34" charset="0"/>
                <a:ea typeface="Times New Roman" pitchFamily="34" charset="-122"/>
                <a:cs typeface="Times New Roman" pitchFamily="34" charset="-120"/>
              </a:rPr>
              <a:t>NA</a:t>
            </a:r>
            <a:endParaRPr lang="en-US" sz="3000" dirty="0"/>
          </a:p>
        </p:txBody>
      </p:sp>
      <p:sp>
        <p:nvSpPr>
          <p:cNvPr id="14" name="Text 12"/>
          <p:cNvSpPr txBox="1"/>
          <p:nvPr/>
        </p:nvSpPr>
        <p:spPr>
          <a:xfrm>
            <a:off x="2979664" y="3950208"/>
            <a:ext cx="1699504" cy="310896"/>
          </a:xfrm>
          <a:prstGeom prst="rect">
            <a:avLst/>
          </a:prstGeom>
          <a:noFill/>
          <a:ln/>
        </p:spPr>
        <p:txBody>
          <a:bodyPr wrap="square" lIns="0" tIns="0" rIns="0" bIns="0" rtlCol="0" anchor="ctr"/>
          <a:lstStyle/>
          <a:p>
            <a:pPr algn="ctr" indent="0" marL="0">
              <a:buNone/>
            </a:pPr>
            <a:r>
              <a:rPr lang="en-US" sz="1500" b="1" dirty="0">
                <a:solidFill>
                  <a:srgbClr val="16173A"/>
                </a:solidFill>
                <a:latin typeface="Times New Roman" pitchFamily="34" charset="0"/>
                <a:ea typeface="Times New Roman" pitchFamily="34" charset="-122"/>
                <a:cs typeface="Times New Roman" pitchFamily="34" charset="-120"/>
              </a:rPr>
              <a:t>Nakulan Anandhan</a:t>
            </a:r>
            <a:endParaRPr lang="en-US" sz="1500" dirty="0"/>
          </a:p>
        </p:txBody>
      </p:sp>
      <p:sp>
        <p:nvSpPr>
          <p:cNvPr id="15" name="Text 13"/>
          <p:cNvSpPr txBox="1"/>
          <p:nvPr/>
        </p:nvSpPr>
        <p:spPr>
          <a:xfrm>
            <a:off x="2961376" y="4315968"/>
            <a:ext cx="1736080" cy="457200"/>
          </a:xfrm>
          <a:prstGeom prst="rect">
            <a:avLst/>
          </a:prstGeom>
          <a:noFill/>
          <a:ln/>
        </p:spPr>
        <p:txBody>
          <a:bodyPr wrap="square" lIns="0" tIns="0" rIns="0" bIns="0" rtlCol="0" anchor="t"/>
          <a:lstStyle/>
          <a:p>
            <a:pPr algn="ctr" indent="0" marL="0">
              <a:lnSpc>
                <a:spcPct val="102000"/>
              </a:lnSpc>
              <a:buNone/>
            </a:pPr>
            <a:r>
              <a:rPr lang="en-US" sz="1250" b="1" dirty="0">
                <a:solidFill>
                  <a:srgbClr val="5B3BD4"/>
                </a:solidFill>
                <a:latin typeface="Times New Roman" pitchFamily="34" charset="0"/>
                <a:ea typeface="Times New Roman" pitchFamily="34" charset="-122"/>
                <a:cs typeface="Times New Roman" pitchFamily="34" charset="-120"/>
              </a:rPr>
              <a:t>Interface &amp; experience</a:t>
            </a:r>
            <a:endParaRPr lang="en-US" sz="1250" dirty="0"/>
          </a:p>
        </p:txBody>
      </p:sp>
      <p:sp>
        <p:nvSpPr>
          <p:cNvPr id="16" name="Text 14"/>
          <p:cNvSpPr txBox="1"/>
          <p:nvPr/>
        </p:nvSpPr>
        <p:spPr>
          <a:xfrm>
            <a:off x="2979664" y="4864608"/>
            <a:ext cx="1699504" cy="841248"/>
          </a:xfrm>
          <a:prstGeom prst="rect">
            <a:avLst/>
          </a:prstGeom>
          <a:noFill/>
          <a:ln/>
        </p:spPr>
        <p:txBody>
          <a:bodyPr wrap="square" lIns="0" tIns="0" rIns="0" bIns="0" rtlCol="0" anchor="t"/>
          <a:lstStyle/>
          <a:p>
            <a:pPr algn="ctr" indent="0" marL="0">
              <a:lnSpc>
                <a:spcPct val="108000"/>
              </a:lnSpc>
              <a:buNone/>
            </a:pPr>
            <a:r>
              <a:rPr lang="en-US" sz="1150" dirty="0">
                <a:solidFill>
                  <a:srgbClr val="56597D"/>
                </a:solidFill>
                <a:latin typeface="Times New Roman" pitchFamily="34" charset="0"/>
                <a:ea typeface="Times New Roman" pitchFamily="34" charset="-122"/>
                <a:cs typeface="Times New Roman" pitchFamily="34" charset="-120"/>
              </a:rPr>
              <a:t>The six guided input tabs and the seven result views over them.</a:t>
            </a:r>
            <a:endParaRPr lang="en-US" sz="1150" dirty="0"/>
          </a:p>
        </p:txBody>
      </p:sp>
      <p:sp>
        <p:nvSpPr>
          <p:cNvPr id="17" name="Shape 15"/>
          <p:cNvSpPr/>
          <p:nvPr/>
        </p:nvSpPr>
        <p:spPr>
          <a:xfrm>
            <a:off x="5099792" y="2231136"/>
            <a:ext cx="1992112" cy="3639312"/>
          </a:xfrm>
          <a:prstGeom prst="roundRect">
            <a:avLst>
              <a:gd name="adj" fmla="val 2754"/>
            </a:avLst>
          </a:prstGeom>
          <a:solidFill>
            <a:srgbClr val="F4F3FB"/>
          </a:solidFill>
          <a:ln/>
          <a:effectLst>
            <a:outerShdw sx="100000" sy="100000" kx="0" ky="0" algn="bl" rotWithShape="0" blurRad="127000" dist="25400" dir="5400000">
              <a:srgbClr val="1B1B4A">
                <a:alpha val="10000"/>
              </a:srgbClr>
            </a:outerShdw>
          </a:effectLst>
        </p:spPr>
      </p:sp>
      <p:sp>
        <p:nvSpPr>
          <p:cNvPr id="18" name="Shape 16"/>
          <p:cNvSpPr/>
          <p:nvPr/>
        </p:nvSpPr>
        <p:spPr>
          <a:xfrm>
            <a:off x="5501488" y="2560320"/>
            <a:ext cx="1188720" cy="1188720"/>
          </a:xfrm>
          <a:prstGeom prst="roundRect">
            <a:avLst>
              <a:gd name="adj" fmla="val 50000"/>
            </a:avLst>
          </a:prstGeom>
          <a:solidFill>
            <a:srgbClr val="5B3BD4"/>
          </a:solidFill>
          <a:ln/>
        </p:spPr>
      </p:sp>
      <p:sp>
        <p:nvSpPr>
          <p:cNvPr id="19" name="Text 17"/>
          <p:cNvSpPr txBox="1"/>
          <p:nvPr/>
        </p:nvSpPr>
        <p:spPr>
          <a:xfrm>
            <a:off x="5501488" y="2560320"/>
            <a:ext cx="1188720" cy="1188720"/>
          </a:xfrm>
          <a:prstGeom prst="rect">
            <a:avLst/>
          </a:prstGeom>
          <a:noFill/>
          <a:ln/>
        </p:spPr>
        <p:txBody>
          <a:bodyPr wrap="square" lIns="0" tIns="0" rIns="0" bIns="0" rtlCol="0" anchor="ctr"/>
          <a:lstStyle/>
          <a:p>
            <a:pPr algn="ctr" indent="0" marL="0">
              <a:buNone/>
            </a:pPr>
            <a:r>
              <a:rPr lang="en-US" sz="3000" b="1" dirty="0">
                <a:solidFill>
                  <a:srgbClr val="FFFFFF"/>
                </a:solidFill>
                <a:latin typeface="Times New Roman" pitchFamily="34" charset="0"/>
                <a:ea typeface="Times New Roman" pitchFamily="34" charset="-122"/>
                <a:cs typeface="Times New Roman" pitchFamily="34" charset="-120"/>
              </a:rPr>
              <a:t>NK</a:t>
            </a:r>
            <a:endParaRPr lang="en-US" sz="3000" dirty="0"/>
          </a:p>
        </p:txBody>
      </p:sp>
      <p:sp>
        <p:nvSpPr>
          <p:cNvPr id="20" name="Text 18"/>
          <p:cNvSpPr txBox="1"/>
          <p:nvPr/>
        </p:nvSpPr>
        <p:spPr>
          <a:xfrm>
            <a:off x="5246096" y="3950208"/>
            <a:ext cx="1699504" cy="310896"/>
          </a:xfrm>
          <a:prstGeom prst="rect">
            <a:avLst/>
          </a:prstGeom>
          <a:noFill/>
          <a:ln/>
        </p:spPr>
        <p:txBody>
          <a:bodyPr wrap="square" lIns="0" tIns="0" rIns="0" bIns="0" rtlCol="0" anchor="ctr"/>
          <a:lstStyle/>
          <a:p>
            <a:pPr algn="ctr" indent="0" marL="0">
              <a:buNone/>
            </a:pPr>
            <a:r>
              <a:rPr lang="en-US" sz="1500" b="1" dirty="0">
                <a:solidFill>
                  <a:srgbClr val="16173A"/>
                </a:solidFill>
                <a:latin typeface="Times New Roman" pitchFamily="34" charset="0"/>
                <a:ea typeface="Times New Roman" pitchFamily="34" charset="-122"/>
                <a:cs typeface="Times New Roman" pitchFamily="34" charset="-120"/>
              </a:rPr>
              <a:t>Nilesh Kamble</a:t>
            </a:r>
            <a:endParaRPr lang="en-US" sz="1500" dirty="0"/>
          </a:p>
        </p:txBody>
      </p:sp>
      <p:sp>
        <p:nvSpPr>
          <p:cNvPr id="21" name="Text 19"/>
          <p:cNvSpPr txBox="1"/>
          <p:nvPr/>
        </p:nvSpPr>
        <p:spPr>
          <a:xfrm>
            <a:off x="5227808" y="4315968"/>
            <a:ext cx="1736080" cy="457200"/>
          </a:xfrm>
          <a:prstGeom prst="rect">
            <a:avLst/>
          </a:prstGeom>
          <a:noFill/>
          <a:ln/>
        </p:spPr>
        <p:txBody>
          <a:bodyPr wrap="square" lIns="0" tIns="0" rIns="0" bIns="0" rtlCol="0" anchor="t"/>
          <a:lstStyle/>
          <a:p>
            <a:pPr algn="ctr" indent="0" marL="0">
              <a:lnSpc>
                <a:spcPct val="102000"/>
              </a:lnSpc>
              <a:buNone/>
            </a:pPr>
            <a:r>
              <a:rPr lang="en-US" sz="1250" b="1" dirty="0">
                <a:solidFill>
                  <a:srgbClr val="5B3BD4"/>
                </a:solidFill>
                <a:latin typeface="Times New Roman" pitchFamily="34" charset="0"/>
                <a:ea typeface="Times New Roman" pitchFamily="34" charset="-122"/>
                <a:cs typeface="Times New Roman" pitchFamily="34" charset="-120"/>
              </a:rPr>
              <a:t>Evidence module</a:t>
            </a:r>
            <a:endParaRPr lang="en-US" sz="1250" dirty="0"/>
          </a:p>
        </p:txBody>
      </p:sp>
      <p:sp>
        <p:nvSpPr>
          <p:cNvPr id="22" name="Text 20"/>
          <p:cNvSpPr txBox="1"/>
          <p:nvPr/>
        </p:nvSpPr>
        <p:spPr>
          <a:xfrm>
            <a:off x="5246096" y="4864608"/>
            <a:ext cx="1699504" cy="841248"/>
          </a:xfrm>
          <a:prstGeom prst="rect">
            <a:avLst/>
          </a:prstGeom>
          <a:noFill/>
          <a:ln/>
        </p:spPr>
        <p:txBody>
          <a:bodyPr wrap="square" lIns="0" tIns="0" rIns="0" bIns="0" rtlCol="0" anchor="t"/>
          <a:lstStyle/>
          <a:p>
            <a:pPr algn="ctr" indent="0" marL="0">
              <a:lnSpc>
                <a:spcPct val="108000"/>
              </a:lnSpc>
              <a:buNone/>
            </a:pPr>
            <a:r>
              <a:rPr lang="en-US" sz="1150" dirty="0">
                <a:solidFill>
                  <a:srgbClr val="56597D"/>
                </a:solidFill>
                <a:latin typeface="Times New Roman" pitchFamily="34" charset="0"/>
                <a:ea typeface="Times New Roman" pitchFamily="34" charset="-122"/>
                <a:cs typeface="Times New Roman" pitchFamily="34" charset="-120"/>
              </a:rPr>
              <a:t>EviTrack: five external sources behind one search and one workspace.</a:t>
            </a:r>
            <a:endParaRPr lang="en-US" sz="1150" dirty="0"/>
          </a:p>
        </p:txBody>
      </p:sp>
      <p:sp>
        <p:nvSpPr>
          <p:cNvPr id="23" name="Shape 21"/>
          <p:cNvSpPr/>
          <p:nvPr/>
        </p:nvSpPr>
        <p:spPr>
          <a:xfrm>
            <a:off x="7366224" y="2231136"/>
            <a:ext cx="1992112" cy="3639312"/>
          </a:xfrm>
          <a:prstGeom prst="roundRect">
            <a:avLst>
              <a:gd name="adj" fmla="val 2754"/>
            </a:avLst>
          </a:prstGeom>
          <a:solidFill>
            <a:srgbClr val="F4F3FB"/>
          </a:solidFill>
          <a:ln/>
          <a:effectLst>
            <a:outerShdw sx="100000" sy="100000" kx="0" ky="0" algn="bl" rotWithShape="0" blurRad="127000" dist="25400" dir="5400000">
              <a:srgbClr val="1B1B4A">
                <a:alpha val="10000"/>
              </a:srgbClr>
            </a:outerShdw>
          </a:effectLst>
        </p:spPr>
      </p:sp>
      <p:sp>
        <p:nvSpPr>
          <p:cNvPr id="24" name="Shape 22"/>
          <p:cNvSpPr/>
          <p:nvPr/>
        </p:nvSpPr>
        <p:spPr>
          <a:xfrm>
            <a:off x="7767919" y="2560320"/>
            <a:ext cx="1188720" cy="1188720"/>
          </a:xfrm>
          <a:prstGeom prst="roundRect">
            <a:avLst>
              <a:gd name="adj" fmla="val 50000"/>
            </a:avLst>
          </a:prstGeom>
          <a:solidFill>
            <a:srgbClr val="16173A"/>
          </a:solidFill>
          <a:ln/>
        </p:spPr>
      </p:sp>
      <p:sp>
        <p:nvSpPr>
          <p:cNvPr id="25" name="Text 23"/>
          <p:cNvSpPr txBox="1"/>
          <p:nvPr/>
        </p:nvSpPr>
        <p:spPr>
          <a:xfrm>
            <a:off x="7767919" y="2560320"/>
            <a:ext cx="1188720" cy="1188720"/>
          </a:xfrm>
          <a:prstGeom prst="rect">
            <a:avLst/>
          </a:prstGeom>
          <a:noFill/>
          <a:ln/>
        </p:spPr>
        <p:txBody>
          <a:bodyPr wrap="square" lIns="0" tIns="0" rIns="0" bIns="0" rtlCol="0" anchor="ctr"/>
          <a:lstStyle/>
          <a:p>
            <a:pPr algn="ctr" indent="0" marL="0">
              <a:buNone/>
            </a:pPr>
            <a:r>
              <a:rPr lang="en-US" sz="3000" b="1" dirty="0">
                <a:solidFill>
                  <a:srgbClr val="FFFFFF"/>
                </a:solidFill>
                <a:latin typeface="Times New Roman" pitchFamily="34" charset="0"/>
                <a:ea typeface="Times New Roman" pitchFamily="34" charset="-122"/>
                <a:cs typeface="Times New Roman" pitchFamily="34" charset="-120"/>
              </a:rPr>
              <a:t>SR</a:t>
            </a:r>
            <a:endParaRPr lang="en-US" sz="3000" dirty="0"/>
          </a:p>
        </p:txBody>
      </p:sp>
      <p:sp>
        <p:nvSpPr>
          <p:cNvPr id="26" name="Text 24"/>
          <p:cNvSpPr txBox="1"/>
          <p:nvPr/>
        </p:nvSpPr>
        <p:spPr>
          <a:xfrm>
            <a:off x="7512528" y="3950208"/>
            <a:ext cx="1699504" cy="310896"/>
          </a:xfrm>
          <a:prstGeom prst="rect">
            <a:avLst/>
          </a:prstGeom>
          <a:noFill/>
          <a:ln/>
        </p:spPr>
        <p:txBody>
          <a:bodyPr wrap="square" lIns="0" tIns="0" rIns="0" bIns="0" rtlCol="0" anchor="ctr"/>
          <a:lstStyle/>
          <a:p>
            <a:pPr algn="ctr" indent="0" marL="0">
              <a:buNone/>
            </a:pPr>
            <a:r>
              <a:rPr lang="en-US" sz="1500" b="1" dirty="0">
                <a:solidFill>
                  <a:srgbClr val="16173A"/>
                </a:solidFill>
                <a:latin typeface="Times New Roman" pitchFamily="34" charset="0"/>
                <a:ea typeface="Times New Roman" pitchFamily="34" charset="-122"/>
                <a:cs typeface="Times New Roman" pitchFamily="34" charset="-120"/>
              </a:rPr>
              <a:t>Sumithra Raju</a:t>
            </a:r>
            <a:endParaRPr lang="en-US" sz="1500" dirty="0"/>
          </a:p>
        </p:txBody>
      </p:sp>
      <p:sp>
        <p:nvSpPr>
          <p:cNvPr id="27" name="Text 25"/>
          <p:cNvSpPr txBox="1"/>
          <p:nvPr/>
        </p:nvSpPr>
        <p:spPr>
          <a:xfrm>
            <a:off x="7494240" y="4315968"/>
            <a:ext cx="1736080" cy="457200"/>
          </a:xfrm>
          <a:prstGeom prst="rect">
            <a:avLst/>
          </a:prstGeom>
          <a:noFill/>
          <a:ln/>
        </p:spPr>
        <p:txBody>
          <a:bodyPr wrap="square" lIns="0" tIns="0" rIns="0" bIns="0" rtlCol="0" anchor="t"/>
          <a:lstStyle/>
          <a:p>
            <a:pPr algn="ctr" indent="0" marL="0">
              <a:lnSpc>
                <a:spcPct val="102000"/>
              </a:lnSpc>
              <a:buNone/>
            </a:pPr>
            <a:r>
              <a:rPr lang="en-US" sz="1250" b="1" dirty="0">
                <a:solidFill>
                  <a:srgbClr val="5B3BD4"/>
                </a:solidFill>
                <a:latin typeface="Times New Roman" pitchFamily="34" charset="0"/>
                <a:ea typeface="Times New Roman" pitchFamily="34" charset="-122"/>
                <a:cs typeface="Times New Roman" pitchFamily="34" charset="-120"/>
              </a:rPr>
              <a:t>Backend &amp; data</a:t>
            </a:r>
            <a:endParaRPr lang="en-US" sz="1250" dirty="0"/>
          </a:p>
        </p:txBody>
      </p:sp>
      <p:sp>
        <p:nvSpPr>
          <p:cNvPr id="28" name="Text 26"/>
          <p:cNvSpPr txBox="1"/>
          <p:nvPr/>
        </p:nvSpPr>
        <p:spPr>
          <a:xfrm>
            <a:off x="7512528" y="4864608"/>
            <a:ext cx="1699504" cy="841248"/>
          </a:xfrm>
          <a:prstGeom prst="rect">
            <a:avLst/>
          </a:prstGeom>
          <a:noFill/>
          <a:ln/>
        </p:spPr>
        <p:txBody>
          <a:bodyPr wrap="square" lIns="0" tIns="0" rIns="0" bIns="0" rtlCol="0" anchor="t"/>
          <a:lstStyle/>
          <a:p>
            <a:pPr algn="ctr" indent="0" marL="0">
              <a:lnSpc>
                <a:spcPct val="108000"/>
              </a:lnSpc>
              <a:buNone/>
            </a:pPr>
            <a:r>
              <a:rPr lang="en-US" sz="1150" dirty="0">
                <a:solidFill>
                  <a:srgbClr val="56597D"/>
                </a:solidFill>
                <a:latin typeface="Times New Roman" pitchFamily="34" charset="0"/>
                <a:ea typeface="Times New Roman" pitchFamily="34" charset="-122"/>
                <a:cs typeface="Times New Roman" pitchFamily="34" charset="-120"/>
              </a:rPr>
              <a:t>Express API, the 14-table PostgreSQL schema and Excel import.</a:t>
            </a:r>
            <a:endParaRPr lang="en-US" sz="1150" dirty="0"/>
          </a:p>
        </p:txBody>
      </p:sp>
      <p:sp>
        <p:nvSpPr>
          <p:cNvPr id="29" name="Shape 27"/>
          <p:cNvSpPr/>
          <p:nvPr/>
        </p:nvSpPr>
        <p:spPr>
          <a:xfrm>
            <a:off x="9632655" y="2231136"/>
            <a:ext cx="1992112" cy="3639312"/>
          </a:xfrm>
          <a:prstGeom prst="roundRect">
            <a:avLst>
              <a:gd name="adj" fmla="val 2754"/>
            </a:avLst>
          </a:prstGeom>
          <a:solidFill>
            <a:srgbClr val="F4F3FB"/>
          </a:solidFill>
          <a:ln/>
          <a:effectLst>
            <a:outerShdw sx="100000" sy="100000" kx="0" ky="0" algn="bl" rotWithShape="0" blurRad="127000" dist="25400" dir="5400000">
              <a:srgbClr val="1B1B4A">
                <a:alpha val="10000"/>
              </a:srgbClr>
            </a:outerShdw>
          </a:effectLst>
        </p:spPr>
      </p:sp>
      <p:sp>
        <p:nvSpPr>
          <p:cNvPr id="30" name="Shape 28"/>
          <p:cNvSpPr/>
          <p:nvPr/>
        </p:nvSpPr>
        <p:spPr>
          <a:xfrm>
            <a:off x="10034351" y="2560320"/>
            <a:ext cx="1188720" cy="1188720"/>
          </a:xfrm>
          <a:prstGeom prst="roundRect">
            <a:avLst>
              <a:gd name="adj" fmla="val 50000"/>
            </a:avLst>
          </a:prstGeom>
          <a:solidFill>
            <a:srgbClr val="5B3BD4"/>
          </a:solidFill>
          <a:ln/>
        </p:spPr>
      </p:sp>
      <p:sp>
        <p:nvSpPr>
          <p:cNvPr id="31" name="Text 29"/>
          <p:cNvSpPr txBox="1"/>
          <p:nvPr/>
        </p:nvSpPr>
        <p:spPr>
          <a:xfrm>
            <a:off x="10034351" y="2560320"/>
            <a:ext cx="1188720" cy="1188720"/>
          </a:xfrm>
          <a:prstGeom prst="rect">
            <a:avLst/>
          </a:prstGeom>
          <a:noFill/>
          <a:ln/>
        </p:spPr>
        <p:txBody>
          <a:bodyPr wrap="square" lIns="0" tIns="0" rIns="0" bIns="0" rtlCol="0" anchor="ctr"/>
          <a:lstStyle/>
          <a:p>
            <a:pPr algn="ctr" indent="0" marL="0">
              <a:buNone/>
            </a:pPr>
            <a:r>
              <a:rPr lang="en-US" sz="3000" b="1" dirty="0">
                <a:solidFill>
                  <a:srgbClr val="FFFFFF"/>
                </a:solidFill>
                <a:latin typeface="Times New Roman" pitchFamily="34" charset="0"/>
                <a:ea typeface="Times New Roman" pitchFamily="34" charset="-122"/>
                <a:cs typeface="Times New Roman" pitchFamily="34" charset="-120"/>
              </a:rPr>
              <a:t>VD</a:t>
            </a:r>
            <a:endParaRPr lang="en-US" sz="3000" dirty="0"/>
          </a:p>
        </p:txBody>
      </p:sp>
      <p:sp>
        <p:nvSpPr>
          <p:cNvPr id="32" name="Text 30"/>
          <p:cNvSpPr txBox="1"/>
          <p:nvPr/>
        </p:nvSpPr>
        <p:spPr>
          <a:xfrm>
            <a:off x="9778959" y="3950208"/>
            <a:ext cx="1699504" cy="310896"/>
          </a:xfrm>
          <a:prstGeom prst="rect">
            <a:avLst/>
          </a:prstGeom>
          <a:noFill/>
          <a:ln/>
        </p:spPr>
        <p:txBody>
          <a:bodyPr wrap="square" lIns="0" tIns="0" rIns="0" bIns="0" rtlCol="0" anchor="ctr"/>
          <a:lstStyle/>
          <a:p>
            <a:pPr algn="ctr" indent="0" marL="0">
              <a:buNone/>
            </a:pPr>
            <a:r>
              <a:rPr lang="en-US" sz="1500" b="1" dirty="0">
                <a:solidFill>
                  <a:srgbClr val="16173A"/>
                </a:solidFill>
                <a:latin typeface="Times New Roman" pitchFamily="34" charset="0"/>
                <a:ea typeface="Times New Roman" pitchFamily="34" charset="-122"/>
                <a:cs typeface="Times New Roman" pitchFamily="34" charset="-120"/>
              </a:rPr>
              <a:t>Vineeth Devadiga</a:t>
            </a:r>
            <a:endParaRPr lang="en-US" sz="1500" dirty="0"/>
          </a:p>
        </p:txBody>
      </p:sp>
      <p:sp>
        <p:nvSpPr>
          <p:cNvPr id="33" name="Text 31"/>
          <p:cNvSpPr txBox="1"/>
          <p:nvPr/>
        </p:nvSpPr>
        <p:spPr>
          <a:xfrm>
            <a:off x="9760671" y="4315968"/>
            <a:ext cx="1736080" cy="457200"/>
          </a:xfrm>
          <a:prstGeom prst="rect">
            <a:avLst/>
          </a:prstGeom>
          <a:noFill/>
          <a:ln/>
        </p:spPr>
        <p:txBody>
          <a:bodyPr wrap="square" lIns="0" tIns="0" rIns="0" bIns="0" rtlCol="0" anchor="t"/>
          <a:lstStyle/>
          <a:p>
            <a:pPr algn="ctr" indent="0" marL="0">
              <a:lnSpc>
                <a:spcPct val="102000"/>
              </a:lnSpc>
              <a:buNone/>
            </a:pPr>
            <a:r>
              <a:rPr lang="en-US" sz="1250" b="1" dirty="0">
                <a:solidFill>
                  <a:srgbClr val="5B3BD4"/>
                </a:solidFill>
                <a:latin typeface="Times New Roman" pitchFamily="34" charset="0"/>
                <a:ea typeface="Times New Roman" pitchFamily="34" charset="-122"/>
                <a:cs typeface="Times New Roman" pitchFamily="34" charset="-120"/>
              </a:rPr>
              <a:t>Validation &amp; deployment</a:t>
            </a:r>
            <a:endParaRPr lang="en-US" sz="1250" dirty="0"/>
          </a:p>
        </p:txBody>
      </p:sp>
      <p:sp>
        <p:nvSpPr>
          <p:cNvPr id="34" name="Text 32"/>
          <p:cNvSpPr txBox="1"/>
          <p:nvPr/>
        </p:nvSpPr>
        <p:spPr>
          <a:xfrm>
            <a:off x="9778959" y="4864608"/>
            <a:ext cx="1699504" cy="841248"/>
          </a:xfrm>
          <a:prstGeom prst="rect">
            <a:avLst/>
          </a:prstGeom>
          <a:noFill/>
          <a:ln/>
        </p:spPr>
        <p:txBody>
          <a:bodyPr wrap="square" lIns="0" tIns="0" rIns="0" bIns="0" rtlCol="0" anchor="t"/>
          <a:lstStyle/>
          <a:p>
            <a:pPr algn="ctr" indent="0" marL="0">
              <a:lnSpc>
                <a:spcPct val="108000"/>
              </a:lnSpc>
              <a:buNone/>
            </a:pPr>
            <a:r>
              <a:rPr lang="en-US" sz="1150" dirty="0">
                <a:solidFill>
                  <a:srgbClr val="56597D"/>
                </a:solidFill>
                <a:latin typeface="Times New Roman" pitchFamily="34" charset="0"/>
                <a:ea typeface="Times New Roman" pitchFamily="34" charset="-122"/>
                <a:cs typeface="Times New Roman" pitchFamily="34" charset="-120"/>
              </a:rPr>
              <a:t>The test suite, the Render deployment and the PDF and Excel exports.</a:t>
            </a:r>
            <a:endParaRPr lang="en-US" sz="1150" dirty="0"/>
          </a:p>
        </p:txBody>
      </p:sp>
      <p:sp>
        <p:nvSpPr>
          <p:cNvPr id="36" name="Text 33"/>
          <p:cNvSpPr txBox="1"/>
          <p:nvPr/>
        </p:nvSpPr>
        <p:spPr>
          <a:xfrm>
            <a:off x="566928" y="6336792"/>
            <a:ext cx="5486400" cy="256032"/>
          </a:xfrm>
          <a:prstGeom prst="rect">
            <a:avLst/>
          </a:prstGeom>
          <a:noFill/>
          <a:ln/>
        </p:spPr>
        <p:txBody>
          <a:bodyPr wrap="square" lIns="0" tIns="0" rIns="0" bIns="0" rtlCol="0" anchor="ctr"/>
          <a:lstStyle/>
          <a:p>
            <a:pPr indent="0" marL="0">
              <a:buNone/>
            </a:pPr>
            <a:r>
              <a:rPr lang="en-US" sz="1050" dirty="0">
                <a:solidFill>
                  <a:srgbClr val="DAD6F2"/>
                </a:solidFill>
                <a:latin typeface="Times New Roman" pitchFamily="34" charset="0"/>
                <a:ea typeface="Times New Roman" pitchFamily="34" charset="-122"/>
                <a:cs typeface="Times New Roman" pitchFamily="34" charset="-120"/>
              </a:rPr>
              <a:t>BIET  ·  Team Denovo  ·  IBAB</a:t>
            </a:r>
            <a:endParaRPr lang="en-US" sz="1050" dirty="0"/>
          </a:p>
        </p:txBody>
      </p:sp>
      <p:sp>
        <p:nvSpPr>
          <p:cNvPr id="37" name="Text 34"/>
          <p:cNvSpPr txBox="1"/>
          <p:nvPr/>
        </p:nvSpPr>
        <p:spPr>
          <a:xfrm>
            <a:off x="10710367" y="6336792"/>
            <a:ext cx="914400" cy="256032"/>
          </a:xfrm>
          <a:prstGeom prst="rect">
            <a:avLst/>
          </a:prstGeom>
          <a:noFill/>
          <a:ln/>
        </p:spPr>
        <p:txBody>
          <a:bodyPr wrap="square" lIns="0" tIns="0" rIns="0" bIns="0" rtlCol="0" anchor="ctr"/>
          <a:lstStyle/>
          <a:p>
            <a:pPr algn="r" indent="0" marL="0">
              <a:buNone/>
            </a:pPr>
            <a:r>
              <a:rPr lang="en-US" sz="1050" b="1" dirty="0">
                <a:solidFill>
                  <a:srgbClr val="DAD6F2"/>
                </a:solidFill>
                <a:latin typeface="Times New Roman" pitchFamily="34" charset="0"/>
                <a:ea typeface="Times New Roman" pitchFamily="34" charset="-122"/>
                <a:cs typeface="Times New Roman" pitchFamily="34" charset="-120"/>
              </a:rPr>
              <a:t>08</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6173A"/>
        </a:solidFill>
      </p:bgPr>
    </p:bg>
    <p:spTree>
      <p:nvGrpSpPr>
        <p:cNvPr id="1" name=""/>
        <p:cNvGrpSpPr/>
        <p:nvPr/>
      </p:nvGrpSpPr>
      <p:grpSpPr>
        <a:xfrm>
          <a:off x="0" y="0"/>
          <a:ext cx="0" cy="0"/>
          <a:chOff x="0" y="0"/>
          <a:chExt cx="0" cy="0"/>
        </a:xfrm>
      </p:grpSpPr>
      <p:sp>
        <p:nvSpPr>
          <p:cNvPr id="2" name="Text 0"/>
          <p:cNvSpPr txBox="1"/>
          <p:nvPr/>
        </p:nvSpPr>
        <p:spPr>
          <a:xfrm>
            <a:off x="566928" y="2139696"/>
            <a:ext cx="7315200" cy="1097280"/>
          </a:xfrm>
          <a:prstGeom prst="rect">
            <a:avLst/>
          </a:prstGeom>
          <a:noFill/>
          <a:ln/>
        </p:spPr>
        <p:txBody>
          <a:bodyPr wrap="square" lIns="0" tIns="0" rIns="0" bIns="0" rtlCol="0" anchor="ctr"/>
          <a:lstStyle/>
          <a:p>
            <a:pPr indent="0" marL="0">
              <a:buNone/>
            </a:pPr>
            <a:r>
              <a:rPr lang="en-US" sz="6600" b="1" dirty="0">
                <a:solidFill>
                  <a:srgbClr val="FFFFFF"/>
                </a:solidFill>
                <a:latin typeface="Times New Roman" pitchFamily="34" charset="0"/>
                <a:ea typeface="Times New Roman" pitchFamily="34" charset="-122"/>
                <a:cs typeface="Times New Roman" pitchFamily="34" charset="-120"/>
              </a:rPr>
              <a:t>Questions</a:t>
            </a:r>
            <a:endParaRPr lang="en-US" sz="6600" dirty="0"/>
          </a:p>
        </p:txBody>
      </p:sp>
      <p:sp>
        <p:nvSpPr>
          <p:cNvPr id="3" name="Text 1"/>
          <p:cNvSpPr txBox="1"/>
          <p:nvPr/>
        </p:nvSpPr>
        <p:spPr>
          <a:xfrm>
            <a:off x="566928" y="3310128"/>
            <a:ext cx="7315200" cy="457200"/>
          </a:xfrm>
          <a:prstGeom prst="rect">
            <a:avLst/>
          </a:prstGeom>
          <a:noFill/>
          <a:ln/>
        </p:spPr>
        <p:txBody>
          <a:bodyPr wrap="square" lIns="0" tIns="0" rIns="0" bIns="0" rtlCol="0" anchor="ctr"/>
          <a:lstStyle/>
          <a:p>
            <a:pPr indent="0" marL="0">
              <a:buNone/>
            </a:pPr>
            <a:r>
              <a:rPr lang="en-US" sz="2000" dirty="0">
                <a:solidFill>
                  <a:srgbClr val="B9B3E8"/>
                </a:solidFill>
                <a:latin typeface="Times New Roman" pitchFamily="34" charset="0"/>
                <a:ea typeface="Times New Roman" pitchFamily="34" charset="-122"/>
                <a:cs typeface="Times New Roman" pitchFamily="34" charset="-120"/>
              </a:rPr>
              <a:t>Thank you.</a:t>
            </a:r>
            <a:endParaRPr lang="en-US" sz="2000" dirty="0"/>
          </a:p>
        </p:txBody>
      </p:sp>
      <p:sp>
        <p:nvSpPr>
          <p:cNvPr id="4" name="Shape 2"/>
          <p:cNvSpPr/>
          <p:nvPr/>
        </p:nvSpPr>
        <p:spPr>
          <a:xfrm>
            <a:off x="7223760" y="2048256"/>
            <a:ext cx="4401007" cy="2212848"/>
          </a:xfrm>
          <a:prstGeom prst="roundRect">
            <a:avLst>
              <a:gd name="adj" fmla="val 2479"/>
            </a:avLst>
          </a:prstGeom>
          <a:solidFill>
            <a:srgbClr val="24265A"/>
          </a:solidFill>
          <a:ln/>
          <a:effectLst>
            <a:outerShdw sx="100000" sy="100000" kx="0" ky="0" algn="bl" rotWithShape="0" blurRad="101600" dist="25400" dir="5400000">
              <a:srgbClr val="000000">
                <a:alpha val="18000"/>
              </a:srgbClr>
            </a:outerShdw>
          </a:effectLst>
        </p:spPr>
      </p:sp>
      <p:sp>
        <p:nvSpPr>
          <p:cNvPr id="5" name="Text 3"/>
          <p:cNvSpPr txBox="1"/>
          <p:nvPr/>
        </p:nvSpPr>
        <p:spPr>
          <a:xfrm>
            <a:off x="7607808" y="2359152"/>
            <a:ext cx="3657600" cy="237744"/>
          </a:xfrm>
          <a:prstGeom prst="rect">
            <a:avLst/>
          </a:prstGeom>
          <a:noFill/>
          <a:ln/>
        </p:spPr>
        <p:txBody>
          <a:bodyPr wrap="square" lIns="0" tIns="0" rIns="0" bIns="0" rtlCol="0" anchor="ctr"/>
          <a:lstStyle/>
          <a:p>
            <a:pPr indent="0" marL="0">
              <a:buNone/>
            </a:pPr>
            <a:r>
              <a:rPr lang="en-US" sz="1100" b="1" spc="180" kern="0" dirty="0">
                <a:solidFill>
                  <a:srgbClr val="B9B3E8"/>
                </a:solidFill>
                <a:latin typeface="Times New Roman" pitchFamily="34" charset="0"/>
                <a:ea typeface="Times New Roman" pitchFamily="34" charset="-122"/>
                <a:cs typeface="Times New Roman" pitchFamily="34" charset="-120"/>
              </a:rPr>
              <a:t>TEAM DENOVO  ·  IBAB</a:t>
            </a:r>
            <a:endParaRPr lang="en-US" sz="1100" dirty="0"/>
          </a:p>
        </p:txBody>
      </p:sp>
      <p:sp>
        <p:nvSpPr>
          <p:cNvPr id="6" name="Text 4"/>
          <p:cNvSpPr txBox="1"/>
          <p:nvPr/>
        </p:nvSpPr>
        <p:spPr>
          <a:xfrm>
            <a:off x="7607808" y="2779776"/>
            <a:ext cx="3657600" cy="219456"/>
          </a:xfrm>
          <a:prstGeom prst="rect">
            <a:avLst/>
          </a:prstGeom>
          <a:noFill/>
          <a:ln/>
        </p:spPr>
        <p:txBody>
          <a:bodyPr wrap="square" lIns="0" tIns="0" rIns="0" bIns="0" rtlCol="0" anchor="ctr"/>
          <a:lstStyle/>
          <a:p>
            <a:pPr indent="0" marL="0">
              <a:buNone/>
            </a:pPr>
            <a:r>
              <a:rPr lang="en-US" sz="1150" dirty="0">
                <a:solidFill>
                  <a:srgbClr val="8B85C6"/>
                </a:solidFill>
                <a:latin typeface="Times New Roman" pitchFamily="34" charset="0"/>
                <a:ea typeface="Times New Roman" pitchFamily="34" charset="-122"/>
                <a:cs typeface="Times New Roman" pitchFamily="34" charset="-120"/>
              </a:rPr>
              <a:t>Live</a:t>
            </a:r>
            <a:endParaRPr lang="en-US" sz="1150" dirty="0"/>
          </a:p>
        </p:txBody>
      </p:sp>
      <p:sp>
        <p:nvSpPr>
          <p:cNvPr id="7" name="Text 5"/>
          <p:cNvSpPr txBox="1"/>
          <p:nvPr/>
        </p:nvSpPr>
        <p:spPr>
          <a:xfrm>
            <a:off x="7607808" y="2980944"/>
            <a:ext cx="3977640" cy="402336"/>
          </a:xfrm>
          <a:prstGeom prst="rect">
            <a:avLst/>
          </a:prstGeom>
          <a:noFill/>
          <a:ln/>
        </p:spPr>
        <p:txBody>
          <a:bodyPr wrap="square" lIns="0" tIns="0" rIns="0" bIns="0" rtlCol="0" anchor="ctr"/>
          <a:lstStyle/>
          <a:p>
            <a:pPr indent="0" marL="0">
              <a:lnSpc>
                <a:spcPct val="102000"/>
              </a:lnSpc>
              <a:buNone/>
            </a:pPr>
            <a:r>
              <a:rPr lang="en-US" sz="1300" dirty="0">
                <a:solidFill>
                  <a:srgbClr val="FFFFFF"/>
                </a:solidFill>
                <a:latin typeface="Times New Roman" pitchFamily="34" charset="0"/>
                <a:ea typeface="Times New Roman" pitchFamily="34" charset="-122"/>
                <a:cs typeface="Times New Roman" pitchFamily="34" charset="-120"/>
              </a:rPr>
              <a:t>early-stage-bia.onrender.com</a:t>
            </a:r>
            <a:endParaRPr lang="en-US" sz="1300" dirty="0"/>
          </a:p>
        </p:txBody>
      </p:sp>
      <p:sp>
        <p:nvSpPr>
          <p:cNvPr id="8" name="Text 6"/>
          <p:cNvSpPr txBox="1"/>
          <p:nvPr/>
        </p:nvSpPr>
        <p:spPr>
          <a:xfrm>
            <a:off x="7607808" y="3474720"/>
            <a:ext cx="3657600" cy="219456"/>
          </a:xfrm>
          <a:prstGeom prst="rect">
            <a:avLst/>
          </a:prstGeom>
          <a:noFill/>
          <a:ln/>
        </p:spPr>
        <p:txBody>
          <a:bodyPr wrap="square" lIns="0" tIns="0" rIns="0" bIns="0" rtlCol="0" anchor="ctr"/>
          <a:lstStyle/>
          <a:p>
            <a:pPr indent="0" marL="0">
              <a:buNone/>
            </a:pPr>
            <a:r>
              <a:rPr lang="en-US" sz="1150" dirty="0">
                <a:solidFill>
                  <a:srgbClr val="8B85C6"/>
                </a:solidFill>
                <a:latin typeface="Times New Roman" pitchFamily="34" charset="0"/>
                <a:ea typeface="Times New Roman" pitchFamily="34" charset="-122"/>
                <a:cs typeface="Times New Roman" pitchFamily="34" charset="-120"/>
              </a:rPr>
              <a:t>Code</a:t>
            </a:r>
            <a:endParaRPr lang="en-US" sz="1150" dirty="0"/>
          </a:p>
        </p:txBody>
      </p:sp>
      <p:sp>
        <p:nvSpPr>
          <p:cNvPr id="9" name="Text 7"/>
          <p:cNvSpPr txBox="1"/>
          <p:nvPr/>
        </p:nvSpPr>
        <p:spPr>
          <a:xfrm>
            <a:off x="7607808" y="3675888"/>
            <a:ext cx="3977640" cy="402336"/>
          </a:xfrm>
          <a:prstGeom prst="rect">
            <a:avLst/>
          </a:prstGeom>
          <a:noFill/>
          <a:ln/>
        </p:spPr>
        <p:txBody>
          <a:bodyPr wrap="square" lIns="0" tIns="0" rIns="0" bIns="0" rtlCol="0" anchor="ctr"/>
          <a:lstStyle/>
          <a:p>
            <a:pPr indent="0" marL="0">
              <a:lnSpc>
                <a:spcPct val="102000"/>
              </a:lnSpc>
              <a:buNone/>
            </a:pPr>
            <a:r>
              <a:rPr lang="en-US" sz="1300" dirty="0">
                <a:solidFill>
                  <a:srgbClr val="FFFFFF"/>
                </a:solidFill>
                <a:latin typeface="Times New Roman" pitchFamily="34" charset="0"/>
                <a:ea typeface="Times New Roman" pitchFamily="34" charset="-122"/>
                <a:cs typeface="Times New Roman" pitchFamily="34" charset="-120"/>
              </a:rPr>
              <a:t>github.com/Sumithraju/early_stage_bia_react_node_postgres</a:t>
            </a:r>
            <a:endParaRPr lang="en-US" sz="1300" dirty="0"/>
          </a:p>
        </p:txBody>
      </p:sp>
      <p:sp>
        <p:nvSpPr>
          <p:cNvPr id="10" name="Text 8"/>
          <p:cNvSpPr txBox="1"/>
          <p:nvPr/>
        </p:nvSpPr>
        <p:spPr>
          <a:xfrm>
            <a:off x="566928" y="5138928"/>
            <a:ext cx="6309360" cy="640080"/>
          </a:xfrm>
          <a:prstGeom prst="rect">
            <a:avLst/>
          </a:prstGeom>
          <a:noFill/>
          <a:ln/>
        </p:spPr>
        <p:txBody>
          <a:bodyPr wrap="square" lIns="0" tIns="0" rIns="0" bIns="0" rtlCol="0" anchor="ctr"/>
          <a:lstStyle/>
          <a:p>
            <a:pPr indent="0" marL="0">
              <a:lnSpc>
                <a:spcPct val="110000"/>
              </a:lnSpc>
              <a:buNone/>
            </a:pPr>
            <a:r>
              <a:rPr lang="en-US" sz="1250" i="1" dirty="0">
                <a:solidFill>
                  <a:srgbClr val="8B85C6"/>
                </a:solidFill>
                <a:latin typeface="Times New Roman" pitchFamily="34" charset="0"/>
                <a:ea typeface="Times New Roman" pitchFamily="34" charset="-122"/>
                <a:cs typeface="Times New Roman" pitchFamily="34" charset="-120"/>
              </a:rPr>
              <a:t>Backup slides follow: the result as rendered, the sensitivity tornado, the audit trail, how it is tested, and what it does not do.</a:t>
            </a:r>
            <a:endParaRPr lang="en-US" sz="1250" dirty="0"/>
          </a:p>
        </p:txBody>
      </p:sp>
      <p:sp>
        <p:nvSpPr>
          <p:cNvPr id="12" name="Text 9"/>
          <p:cNvSpPr txBox="1"/>
          <p:nvPr/>
        </p:nvSpPr>
        <p:spPr>
          <a:xfrm>
            <a:off x="566928" y="6336792"/>
            <a:ext cx="5486400" cy="256032"/>
          </a:xfrm>
          <a:prstGeom prst="rect">
            <a:avLst/>
          </a:prstGeom>
          <a:noFill/>
          <a:ln/>
        </p:spPr>
        <p:txBody>
          <a:bodyPr wrap="square" lIns="0" tIns="0" rIns="0" bIns="0" rtlCol="0" anchor="ctr"/>
          <a:lstStyle/>
          <a:p>
            <a:pPr indent="0" marL="0">
              <a:buNone/>
            </a:pPr>
            <a:r>
              <a:rPr lang="en-US" sz="1050" dirty="0">
                <a:solidFill>
                  <a:srgbClr val="2E3168"/>
                </a:solidFill>
                <a:latin typeface="Times New Roman" pitchFamily="34" charset="0"/>
                <a:ea typeface="Times New Roman" pitchFamily="34" charset="-122"/>
                <a:cs typeface="Times New Roman" pitchFamily="34" charset="-120"/>
              </a:rPr>
              <a:t>BIET  ·  Team Denovo  ·  IBAB</a:t>
            </a:r>
            <a:endParaRPr lang="en-US" sz="1050" dirty="0"/>
          </a:p>
        </p:txBody>
      </p:sp>
      <p:sp>
        <p:nvSpPr>
          <p:cNvPr id="13" name="Text 10"/>
          <p:cNvSpPr txBox="1"/>
          <p:nvPr/>
        </p:nvSpPr>
        <p:spPr>
          <a:xfrm>
            <a:off x="10710367" y="6336792"/>
            <a:ext cx="914400" cy="256032"/>
          </a:xfrm>
          <a:prstGeom prst="rect">
            <a:avLst/>
          </a:prstGeom>
          <a:noFill/>
          <a:ln/>
        </p:spPr>
        <p:txBody>
          <a:bodyPr wrap="square" lIns="0" tIns="0" rIns="0" bIns="0" rtlCol="0" anchor="ctr"/>
          <a:lstStyle/>
          <a:p>
            <a:pPr algn="r" indent="0" marL="0">
              <a:buNone/>
            </a:pPr>
            <a:r>
              <a:rPr lang="en-US" sz="1050" b="1" dirty="0">
                <a:solidFill>
                  <a:srgbClr val="2E3168"/>
                </a:solidFill>
                <a:latin typeface="Times New Roman" pitchFamily="34" charset="0"/>
                <a:ea typeface="Times New Roman" pitchFamily="34" charset="-122"/>
                <a:cs typeface="Times New Roman" pitchFamily="34" charset="-120"/>
              </a:rPr>
              <a:t>09</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65760"/>
            <a:ext cx="11057839" cy="237744"/>
          </a:xfrm>
          <a:prstGeom prst="rect">
            <a:avLst/>
          </a:prstGeom>
          <a:noFill/>
          <a:ln/>
        </p:spPr>
        <p:txBody>
          <a:bodyPr wrap="square" lIns="0" tIns="0" rIns="0" bIns="0" rtlCol="0" anchor="ctr"/>
          <a:lstStyle/>
          <a:p>
            <a:pPr indent="0" marL="0">
              <a:buNone/>
            </a:pPr>
            <a:r>
              <a:rPr lang="en-US" sz="1200" b="1" spc="240" kern="0" dirty="0">
                <a:solidFill>
                  <a:srgbClr val="5B3BD4"/>
                </a:solidFill>
                <a:latin typeface="Times New Roman" pitchFamily="34" charset="0"/>
                <a:ea typeface="Times New Roman" pitchFamily="34" charset="-122"/>
                <a:cs typeface="Times New Roman" pitchFamily="34" charset="-120"/>
              </a:rPr>
              <a:t>BACKUP · THE RESULT</a:t>
            </a:r>
            <a:endParaRPr lang="en-US" sz="1200" dirty="0"/>
          </a:p>
        </p:txBody>
      </p:sp>
      <p:sp>
        <p:nvSpPr>
          <p:cNvPr id="3" name="Text 1"/>
          <p:cNvSpPr txBox="1"/>
          <p:nvPr/>
        </p:nvSpPr>
        <p:spPr>
          <a:xfrm>
            <a:off x="566928" y="676656"/>
            <a:ext cx="11057839" cy="658368"/>
          </a:xfrm>
          <a:prstGeom prst="rect">
            <a:avLst/>
          </a:prstGeom>
          <a:noFill/>
          <a:ln/>
        </p:spPr>
        <p:txBody>
          <a:bodyPr wrap="square" lIns="0" tIns="0" rIns="0" bIns="0" rtlCol="0" anchor="ctr"/>
          <a:lstStyle/>
          <a:p>
            <a:pPr indent="0" marL="0">
              <a:lnSpc>
                <a:spcPct val="92000"/>
              </a:lnSpc>
              <a:buNone/>
            </a:pPr>
            <a:r>
              <a:rPr lang="en-US" sz="3200" b="1" dirty="0">
                <a:solidFill>
                  <a:srgbClr val="16173A"/>
                </a:solidFill>
                <a:latin typeface="Times New Roman" pitchFamily="34" charset="0"/>
                <a:ea typeface="Times New Roman" pitchFamily="34" charset="-122"/>
                <a:cs typeface="Times New Roman" pitchFamily="34" charset="-120"/>
              </a:rPr>
              <a:t>Results, as the tool renders them</a:t>
            </a:r>
            <a:endParaRPr lang="en-US" sz="3200" dirty="0"/>
          </a:p>
        </p:txBody>
      </p:sp>
      <p:pic>
        <p:nvPicPr>
          <p:cNvPr id="4" name="Image 0" descr="/tmp/claude-0/-home-user-early-stage-bia-react-node-postgres/5291cbd1-ae36-596a-a23b-61f675f36b85/scratchpad/build/img/results.png">    </p:cNvPr>
          <p:cNvPicPr>
            <a:picLocks noChangeAspect="1"/>
          </p:cNvPicPr>
          <p:nvPr/>
        </p:nvPicPr>
        <p:blipFill>
          <a:blip r:embed="rId1"/>
          <a:stretch>
            <a:fillRect/>
          </a:stretch>
        </p:blipFill>
        <p:spPr>
          <a:xfrm>
            <a:off x="566928" y="1481328"/>
            <a:ext cx="5829799" cy="4572000"/>
          </a:xfrm>
          <a:prstGeom prst="rect">
            <a:avLst/>
          </a:prstGeom>
        </p:spPr>
      </p:pic>
      <p:sp>
        <p:nvSpPr>
          <p:cNvPr id="5" name="Text 2"/>
          <p:cNvSpPr txBox="1"/>
          <p:nvPr/>
        </p:nvSpPr>
        <p:spPr>
          <a:xfrm>
            <a:off x="6922008" y="1572768"/>
            <a:ext cx="4343400" cy="274320"/>
          </a:xfrm>
          <a:prstGeom prst="rect">
            <a:avLst/>
          </a:prstGeom>
          <a:noFill/>
          <a:ln/>
        </p:spPr>
        <p:txBody>
          <a:bodyPr wrap="square" lIns="0" tIns="0" rIns="0" bIns="0" rtlCol="0" anchor="ctr"/>
          <a:lstStyle/>
          <a:p>
            <a:pPr indent="0" marL="0">
              <a:buNone/>
            </a:pPr>
            <a:r>
              <a:rPr lang="en-US" sz="1450" b="1" dirty="0">
                <a:solidFill>
                  <a:srgbClr val="16173A"/>
                </a:solidFill>
                <a:latin typeface="Times New Roman" pitchFamily="34" charset="0"/>
                <a:ea typeface="Times New Roman" pitchFamily="34" charset="-122"/>
                <a:cs typeface="Times New Roman" pitchFamily="34" charset="-120"/>
              </a:rPr>
              <a:t>The headline</a:t>
            </a:r>
            <a:endParaRPr lang="en-US" sz="1450" dirty="0"/>
          </a:p>
        </p:txBody>
      </p:sp>
      <p:sp>
        <p:nvSpPr>
          <p:cNvPr id="6" name="Text 3"/>
          <p:cNvSpPr txBox="1"/>
          <p:nvPr/>
        </p:nvSpPr>
        <p:spPr>
          <a:xfrm>
            <a:off x="6922008" y="1865376"/>
            <a:ext cx="4343400" cy="786384"/>
          </a:xfrm>
          <a:prstGeom prst="rect">
            <a:avLst/>
          </a:prstGeom>
          <a:noFill/>
          <a:ln/>
        </p:spPr>
        <p:txBody>
          <a:bodyPr wrap="square" lIns="0" tIns="0" rIns="0" bIns="0" rtlCol="0" anchor="t"/>
          <a:lstStyle/>
          <a:p>
            <a:pPr indent="0" marL="0">
              <a:lnSpc>
                <a:spcPct val="108000"/>
              </a:lnSpc>
              <a:buNone/>
            </a:pPr>
            <a:r>
              <a:rPr lang="en-US" sz="1250" dirty="0">
                <a:solidFill>
                  <a:srgbClr val="56597D"/>
                </a:solidFill>
                <a:latin typeface="Times New Roman" pitchFamily="34" charset="0"/>
                <a:ea typeface="Times New Roman" pitchFamily="34" charset="-122"/>
                <a:cs typeface="Times New Roman" pitchFamily="34" charset="-120"/>
              </a:rPr>
              <a:t>€296.6M over five years, with €0.13 PMPM stated beside it.</a:t>
            </a:r>
            <a:endParaRPr lang="en-US" sz="1250" dirty="0"/>
          </a:p>
        </p:txBody>
      </p:sp>
      <p:sp>
        <p:nvSpPr>
          <p:cNvPr id="7" name="Text 4"/>
          <p:cNvSpPr txBox="1"/>
          <p:nvPr/>
        </p:nvSpPr>
        <p:spPr>
          <a:xfrm>
            <a:off x="6922008" y="2706624"/>
            <a:ext cx="4343400" cy="274320"/>
          </a:xfrm>
          <a:prstGeom prst="rect">
            <a:avLst/>
          </a:prstGeom>
          <a:noFill/>
          <a:ln/>
        </p:spPr>
        <p:txBody>
          <a:bodyPr wrap="square" lIns="0" tIns="0" rIns="0" bIns="0" rtlCol="0" anchor="ctr"/>
          <a:lstStyle/>
          <a:p>
            <a:pPr indent="0" marL="0">
              <a:buNone/>
            </a:pPr>
            <a:r>
              <a:rPr lang="en-US" sz="1450" b="1" dirty="0">
                <a:solidFill>
                  <a:srgbClr val="16173A"/>
                </a:solidFill>
                <a:latin typeface="Times New Roman" pitchFamily="34" charset="0"/>
                <a:ea typeface="Times New Roman" pitchFamily="34" charset="-122"/>
                <a:cs typeface="Times New Roman" pitchFamily="34" charset="-120"/>
              </a:rPr>
              <a:t>A decision summary</a:t>
            </a:r>
            <a:endParaRPr lang="en-US" sz="1450" dirty="0"/>
          </a:p>
        </p:txBody>
      </p:sp>
      <p:sp>
        <p:nvSpPr>
          <p:cNvPr id="8" name="Text 5"/>
          <p:cNvSpPr txBox="1"/>
          <p:nvPr/>
        </p:nvSpPr>
        <p:spPr>
          <a:xfrm>
            <a:off x="6922008" y="2999232"/>
            <a:ext cx="4343400" cy="786384"/>
          </a:xfrm>
          <a:prstGeom prst="rect">
            <a:avLst/>
          </a:prstGeom>
          <a:noFill/>
          <a:ln/>
        </p:spPr>
        <p:txBody>
          <a:bodyPr wrap="square" lIns="0" tIns="0" rIns="0" bIns="0" rtlCol="0" anchor="t"/>
          <a:lstStyle/>
          <a:p>
            <a:pPr indent="0" marL="0">
              <a:lnSpc>
                <a:spcPct val="108000"/>
              </a:lnSpc>
              <a:buNone/>
            </a:pPr>
            <a:r>
              <a:rPr lang="en-US" sz="1250" dirty="0">
                <a:solidFill>
                  <a:srgbClr val="56597D"/>
                </a:solidFill>
                <a:latin typeface="Times New Roman" pitchFamily="34" charset="0"/>
                <a:ea typeface="Times New Roman" pitchFamily="34" charset="-122"/>
                <a:cs typeface="Times New Roman" pitchFamily="34" charset="-120"/>
              </a:rPr>
              <a:t>Largest cost driver, largest offset and the most sensitive assumption, above every tab.</a:t>
            </a:r>
            <a:endParaRPr lang="en-US" sz="1250" dirty="0"/>
          </a:p>
        </p:txBody>
      </p:sp>
      <p:sp>
        <p:nvSpPr>
          <p:cNvPr id="9" name="Text 6"/>
          <p:cNvSpPr txBox="1"/>
          <p:nvPr/>
        </p:nvSpPr>
        <p:spPr>
          <a:xfrm>
            <a:off x="6922008" y="3840480"/>
            <a:ext cx="4343400" cy="274320"/>
          </a:xfrm>
          <a:prstGeom prst="rect">
            <a:avLst/>
          </a:prstGeom>
          <a:noFill/>
          <a:ln/>
        </p:spPr>
        <p:txBody>
          <a:bodyPr wrap="square" lIns="0" tIns="0" rIns="0" bIns="0" rtlCol="0" anchor="ctr"/>
          <a:lstStyle/>
          <a:p>
            <a:pPr indent="0" marL="0">
              <a:buNone/>
            </a:pPr>
            <a:r>
              <a:rPr lang="en-US" sz="1450" b="1" dirty="0">
                <a:solidFill>
                  <a:srgbClr val="16173A"/>
                </a:solidFill>
                <a:latin typeface="Times New Roman" pitchFamily="34" charset="0"/>
                <a:ea typeface="Times New Roman" pitchFamily="34" charset="-122"/>
                <a:cs typeface="Times New Roman" pitchFamily="34" charset="-120"/>
              </a:rPr>
              <a:t>Affordability, two ways</a:t>
            </a:r>
            <a:endParaRPr lang="en-US" sz="1450" dirty="0"/>
          </a:p>
        </p:txBody>
      </p:sp>
      <p:sp>
        <p:nvSpPr>
          <p:cNvPr id="10" name="Text 7"/>
          <p:cNvSpPr txBox="1"/>
          <p:nvPr/>
        </p:nvSpPr>
        <p:spPr>
          <a:xfrm>
            <a:off x="6922008" y="4133088"/>
            <a:ext cx="4343400" cy="786384"/>
          </a:xfrm>
          <a:prstGeom prst="rect">
            <a:avLst/>
          </a:prstGeom>
          <a:noFill/>
          <a:ln/>
        </p:spPr>
        <p:txBody>
          <a:bodyPr wrap="square" lIns="0" tIns="0" rIns="0" bIns="0" rtlCol="0" anchor="t"/>
          <a:lstStyle/>
          <a:p>
            <a:pPr indent="0" marL="0">
              <a:lnSpc>
                <a:spcPct val="108000"/>
              </a:lnSpc>
              <a:buNone/>
            </a:pPr>
            <a:r>
              <a:rPr lang="en-US" sz="1250" dirty="0">
                <a:solidFill>
                  <a:srgbClr val="56597D"/>
                </a:solidFill>
                <a:latin typeface="Times New Roman" pitchFamily="34" charset="0"/>
                <a:ea typeface="Times New Roman" pitchFamily="34" charset="-122"/>
                <a:cs typeface="Times New Roman" pitchFamily="34" charset="-120"/>
              </a:rPr>
              <a:t>€0.13 per covered member per month; €141 per treated patient per month.</a:t>
            </a:r>
            <a:endParaRPr lang="en-US" sz="1250" dirty="0"/>
          </a:p>
        </p:txBody>
      </p:sp>
      <p:sp>
        <p:nvSpPr>
          <p:cNvPr id="11" name="Text 8"/>
          <p:cNvSpPr txBox="1"/>
          <p:nvPr/>
        </p:nvSpPr>
        <p:spPr>
          <a:xfrm>
            <a:off x="6922008" y="4974336"/>
            <a:ext cx="4343400" cy="274320"/>
          </a:xfrm>
          <a:prstGeom prst="rect">
            <a:avLst/>
          </a:prstGeom>
          <a:noFill/>
          <a:ln/>
        </p:spPr>
        <p:txBody>
          <a:bodyPr wrap="square" lIns="0" tIns="0" rIns="0" bIns="0" rtlCol="0" anchor="ctr"/>
          <a:lstStyle/>
          <a:p>
            <a:pPr indent="0" marL="0">
              <a:buNone/>
            </a:pPr>
            <a:r>
              <a:rPr lang="en-US" sz="1450" b="1" dirty="0">
                <a:solidFill>
                  <a:srgbClr val="16173A"/>
                </a:solidFill>
                <a:latin typeface="Times New Roman" pitchFamily="34" charset="0"/>
                <a:ea typeface="Times New Roman" pitchFamily="34" charset="-122"/>
                <a:cs typeface="Times New Roman" pitchFamily="34" charset="-120"/>
              </a:rPr>
              <a:t>The negotiating figure</a:t>
            </a:r>
            <a:endParaRPr lang="en-US" sz="1450" dirty="0"/>
          </a:p>
        </p:txBody>
      </p:sp>
      <p:sp>
        <p:nvSpPr>
          <p:cNvPr id="12" name="Text 9"/>
          <p:cNvSpPr txBox="1"/>
          <p:nvPr/>
        </p:nvSpPr>
        <p:spPr>
          <a:xfrm>
            <a:off x="6922008" y="5266944"/>
            <a:ext cx="4343400" cy="786384"/>
          </a:xfrm>
          <a:prstGeom prst="rect">
            <a:avLst/>
          </a:prstGeom>
          <a:noFill/>
          <a:ln/>
        </p:spPr>
        <p:txBody>
          <a:bodyPr wrap="square" lIns="0" tIns="0" rIns="0" bIns="0" rtlCol="0" anchor="t"/>
          <a:lstStyle/>
          <a:p>
            <a:pPr indent="0" marL="0">
              <a:lnSpc>
                <a:spcPct val="108000"/>
              </a:lnSpc>
              <a:buNone/>
            </a:pPr>
            <a:r>
              <a:rPr lang="en-US" sz="1250" dirty="0">
                <a:solidFill>
                  <a:srgbClr val="56597D"/>
                </a:solidFill>
                <a:latin typeface="Times New Roman" pitchFamily="34" charset="0"/>
                <a:ea typeface="Times New Roman" pitchFamily="34" charset="-122"/>
                <a:cs typeface="Times New Roman" pitchFamily="34" charset="-120"/>
              </a:rPr>
              <a:t>€613 is the annual price at which net impact reaches zero.</a:t>
            </a:r>
            <a:endParaRPr lang="en-US" sz="1250" dirty="0"/>
          </a:p>
        </p:txBody>
      </p:sp>
      <p:sp>
        <p:nvSpPr>
          <p:cNvPr id="14" name="Text 10"/>
          <p:cNvSpPr txBox="1"/>
          <p:nvPr/>
        </p:nvSpPr>
        <p:spPr>
          <a:xfrm>
            <a:off x="566928" y="6336792"/>
            <a:ext cx="5486400" cy="256032"/>
          </a:xfrm>
          <a:prstGeom prst="rect">
            <a:avLst/>
          </a:prstGeom>
          <a:noFill/>
          <a:ln/>
        </p:spPr>
        <p:txBody>
          <a:bodyPr wrap="square" lIns="0" tIns="0" rIns="0" bIns="0" rtlCol="0" anchor="ctr"/>
          <a:lstStyle/>
          <a:p>
            <a:pPr indent="0" marL="0">
              <a:buNone/>
            </a:pPr>
            <a:r>
              <a:rPr lang="en-US" sz="1050" dirty="0">
                <a:solidFill>
                  <a:srgbClr val="DAD6F2"/>
                </a:solidFill>
                <a:latin typeface="Times New Roman" pitchFamily="34" charset="0"/>
                <a:ea typeface="Times New Roman" pitchFamily="34" charset="-122"/>
                <a:cs typeface="Times New Roman" pitchFamily="34" charset="-120"/>
              </a:rPr>
              <a:t>BIET  ·  Team Denovo  ·  IBAB</a:t>
            </a:r>
            <a:endParaRPr lang="en-US" sz="1050" dirty="0"/>
          </a:p>
        </p:txBody>
      </p:sp>
      <p:sp>
        <p:nvSpPr>
          <p:cNvPr id="15" name="Text 11"/>
          <p:cNvSpPr txBox="1"/>
          <p:nvPr/>
        </p:nvSpPr>
        <p:spPr>
          <a:xfrm>
            <a:off x="10710367" y="6336792"/>
            <a:ext cx="914400" cy="256032"/>
          </a:xfrm>
          <a:prstGeom prst="rect">
            <a:avLst/>
          </a:prstGeom>
          <a:noFill/>
          <a:ln/>
        </p:spPr>
        <p:txBody>
          <a:bodyPr wrap="square" lIns="0" tIns="0" rIns="0" bIns="0" rtlCol="0" anchor="ctr"/>
          <a:lstStyle/>
          <a:p>
            <a:pPr algn="r" indent="0" marL="0">
              <a:buNone/>
            </a:pPr>
            <a:r>
              <a:rPr lang="en-US" sz="1050" b="1" dirty="0">
                <a:solidFill>
                  <a:srgbClr val="DAD6F2"/>
                </a:solidFill>
                <a:latin typeface="Times New Roman" pitchFamily="34" charset="0"/>
                <a:ea typeface="Times New Roman" pitchFamily="34" charset="-122"/>
                <a:cs typeface="Times New Roman" pitchFamily="34" charset="-120"/>
              </a:rPr>
              <a:t>10</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65760"/>
            <a:ext cx="11057839" cy="237744"/>
          </a:xfrm>
          <a:prstGeom prst="rect">
            <a:avLst/>
          </a:prstGeom>
          <a:noFill/>
          <a:ln/>
        </p:spPr>
        <p:txBody>
          <a:bodyPr wrap="square" lIns="0" tIns="0" rIns="0" bIns="0" rtlCol="0" anchor="ctr"/>
          <a:lstStyle/>
          <a:p>
            <a:pPr indent="0" marL="0">
              <a:buNone/>
            </a:pPr>
            <a:r>
              <a:rPr lang="en-US" sz="1200" b="1" spc="240" kern="0" dirty="0">
                <a:solidFill>
                  <a:srgbClr val="5B3BD4"/>
                </a:solidFill>
                <a:latin typeface="Times New Roman" pitchFamily="34" charset="0"/>
                <a:ea typeface="Times New Roman" pitchFamily="34" charset="-122"/>
                <a:cs typeface="Times New Roman" pitchFamily="34" charset="-120"/>
              </a:rPr>
              <a:t>BACKUP · SENSITIVITY</a:t>
            </a:r>
            <a:endParaRPr lang="en-US" sz="1200" dirty="0"/>
          </a:p>
        </p:txBody>
      </p:sp>
      <p:sp>
        <p:nvSpPr>
          <p:cNvPr id="3" name="Text 1"/>
          <p:cNvSpPr txBox="1"/>
          <p:nvPr/>
        </p:nvSpPr>
        <p:spPr>
          <a:xfrm>
            <a:off x="566928" y="676656"/>
            <a:ext cx="11057839" cy="658368"/>
          </a:xfrm>
          <a:prstGeom prst="rect">
            <a:avLst/>
          </a:prstGeom>
          <a:noFill/>
          <a:ln/>
        </p:spPr>
        <p:txBody>
          <a:bodyPr wrap="square" lIns="0" tIns="0" rIns="0" bIns="0" rtlCol="0" anchor="ctr"/>
          <a:lstStyle/>
          <a:p>
            <a:pPr indent="0" marL="0">
              <a:lnSpc>
                <a:spcPct val="92000"/>
              </a:lnSpc>
              <a:buNone/>
            </a:pPr>
            <a:r>
              <a:rPr lang="en-US" sz="3200" b="1" dirty="0">
                <a:solidFill>
                  <a:srgbClr val="16173A"/>
                </a:solidFill>
                <a:latin typeface="Times New Roman" pitchFamily="34" charset="0"/>
                <a:ea typeface="Times New Roman" pitchFamily="34" charset="-122"/>
                <a:cs typeface="Times New Roman" pitchFamily="34" charset="-120"/>
              </a:rPr>
              <a:t>What would change the answer</a:t>
            </a:r>
            <a:endParaRPr lang="en-US" sz="3200" dirty="0"/>
          </a:p>
        </p:txBody>
      </p:sp>
      <p:sp>
        <p:nvSpPr>
          <p:cNvPr id="4" name="Text 2"/>
          <p:cNvSpPr txBox="1"/>
          <p:nvPr/>
        </p:nvSpPr>
        <p:spPr>
          <a:xfrm>
            <a:off x="566928" y="1335024"/>
            <a:ext cx="9966960" cy="365760"/>
          </a:xfrm>
          <a:prstGeom prst="rect">
            <a:avLst/>
          </a:prstGeom>
          <a:noFill/>
          <a:ln/>
        </p:spPr>
        <p:txBody>
          <a:bodyPr wrap="square" lIns="0" tIns="0" rIns="0" bIns="0" rtlCol="0" anchor="ctr"/>
          <a:lstStyle/>
          <a:p>
            <a:pPr indent="0" marL="0">
              <a:lnSpc>
                <a:spcPct val="112000"/>
              </a:lnSpc>
              <a:buNone/>
            </a:pPr>
            <a:r>
              <a:rPr lang="en-US" sz="1500" dirty="0">
                <a:solidFill>
                  <a:srgbClr val="56597D"/>
                </a:solidFill>
                <a:latin typeface="Times New Roman" pitchFamily="34" charset="0"/>
                <a:ea typeface="Times New Roman" pitchFamily="34" charset="-122"/>
                <a:cs typeface="Times New Roman" pitchFamily="34" charset="-120"/>
              </a:rPr>
              <a:t>Each assumption moved ±20% on its own, sorted by how far the five-year answer swings. The dashed line is the base case.</a:t>
            </a:r>
            <a:endParaRPr lang="en-US" sz="1500" dirty="0"/>
          </a:p>
        </p:txBody>
      </p:sp>
      <p:pic>
        <p:nvPicPr>
          <p:cNvPr id="5" name="Image 0" descr="/tmp/claude-0/-home-user-early-stage-bia-react-node-postgres/5291cbd1-ae36-596a-a23b-61f675f36b85/scratchpad/build/img/tornado.png">    </p:cNvPr>
          <p:cNvPicPr>
            <a:picLocks noChangeAspect="1"/>
          </p:cNvPicPr>
          <p:nvPr/>
        </p:nvPicPr>
        <p:blipFill>
          <a:blip r:embed="rId1"/>
          <a:stretch>
            <a:fillRect/>
          </a:stretch>
        </p:blipFill>
        <p:spPr>
          <a:xfrm>
            <a:off x="566928" y="1847088"/>
            <a:ext cx="7863840" cy="3447889"/>
          </a:xfrm>
          <a:prstGeom prst="rect">
            <a:avLst/>
          </a:prstGeom>
        </p:spPr>
      </p:pic>
      <p:sp>
        <p:nvSpPr>
          <p:cNvPr id="6" name="Shape 3"/>
          <p:cNvSpPr/>
          <p:nvPr/>
        </p:nvSpPr>
        <p:spPr>
          <a:xfrm>
            <a:off x="8750808" y="1847088"/>
            <a:ext cx="2873959" cy="3602736"/>
          </a:xfrm>
          <a:prstGeom prst="roundRect">
            <a:avLst>
              <a:gd name="adj" fmla="val 1909"/>
            </a:avLst>
          </a:prstGeom>
          <a:solidFill>
            <a:srgbClr val="F4F3FB"/>
          </a:solidFill>
          <a:ln/>
          <a:effectLst>
            <a:outerShdw sx="100000" sy="100000" kx="0" ky="0" algn="bl" rotWithShape="0" blurRad="127000" dist="25400" dir="5400000">
              <a:srgbClr val="1B1B4A">
                <a:alpha val="10000"/>
              </a:srgbClr>
            </a:outerShdw>
          </a:effectLst>
        </p:spPr>
      </p:sp>
      <p:sp>
        <p:nvSpPr>
          <p:cNvPr id="7" name="Text 4"/>
          <p:cNvSpPr txBox="1"/>
          <p:nvPr/>
        </p:nvSpPr>
        <p:spPr>
          <a:xfrm>
            <a:off x="9043416" y="2121408"/>
            <a:ext cx="2468880" cy="274320"/>
          </a:xfrm>
          <a:prstGeom prst="rect">
            <a:avLst/>
          </a:prstGeom>
          <a:noFill/>
          <a:ln/>
        </p:spPr>
        <p:txBody>
          <a:bodyPr wrap="square" lIns="0" tIns="0" rIns="0" bIns="0" rtlCol="0" anchor="ctr"/>
          <a:lstStyle/>
          <a:p>
            <a:pPr indent="0" marL="0">
              <a:buNone/>
            </a:pPr>
            <a:r>
              <a:rPr lang="en-US" sz="1500" b="1" dirty="0">
                <a:solidFill>
                  <a:srgbClr val="16173A"/>
                </a:solidFill>
                <a:latin typeface="Times New Roman" pitchFamily="34" charset="0"/>
                <a:ea typeface="Times New Roman" pitchFamily="34" charset="-122"/>
                <a:cs typeface="Times New Roman" pitchFamily="34" charset="-120"/>
              </a:rPr>
              <a:t>How to read it</a:t>
            </a:r>
            <a:endParaRPr lang="en-US" sz="1500" dirty="0"/>
          </a:p>
        </p:txBody>
      </p:sp>
      <p:sp>
        <p:nvSpPr>
          <p:cNvPr id="8" name="Text 5"/>
          <p:cNvSpPr txBox="1"/>
          <p:nvPr/>
        </p:nvSpPr>
        <p:spPr>
          <a:xfrm>
            <a:off x="9043416" y="2523744"/>
            <a:ext cx="2468880" cy="658368"/>
          </a:xfrm>
          <a:prstGeom prst="rect">
            <a:avLst/>
          </a:prstGeom>
          <a:noFill/>
          <a:ln/>
        </p:spPr>
        <p:txBody>
          <a:bodyPr wrap="square" lIns="0" tIns="0" rIns="0" bIns="0" rtlCol="0" anchor="ctr"/>
          <a:lstStyle/>
          <a:p>
            <a:pPr indent="0" marL="0">
              <a:lnSpc>
                <a:spcPct val="108000"/>
              </a:lnSpc>
              <a:buNone/>
            </a:pPr>
            <a:r>
              <a:rPr lang="en-US" sz="1250" dirty="0">
                <a:solidFill>
                  <a:srgbClr val="56597D"/>
                </a:solidFill>
                <a:latin typeface="Times New Roman" pitchFamily="34" charset="0"/>
                <a:ea typeface="Times New Roman" pitchFamily="34" charset="-122"/>
                <a:cs typeface="Times New Roman" pitchFamily="34" charset="-120"/>
              </a:rPr>
              <a:t>Ten parameters, one at a time, re-running the whole engine for each.</a:t>
            </a:r>
            <a:endParaRPr lang="en-US" sz="1250" dirty="0"/>
          </a:p>
        </p:txBody>
      </p:sp>
      <p:sp>
        <p:nvSpPr>
          <p:cNvPr id="9" name="Text 6"/>
          <p:cNvSpPr txBox="1"/>
          <p:nvPr/>
        </p:nvSpPr>
        <p:spPr>
          <a:xfrm>
            <a:off x="9043416" y="3236976"/>
            <a:ext cx="2468880" cy="658368"/>
          </a:xfrm>
          <a:prstGeom prst="rect">
            <a:avLst/>
          </a:prstGeom>
          <a:noFill/>
          <a:ln/>
        </p:spPr>
        <p:txBody>
          <a:bodyPr wrap="square" lIns="0" tIns="0" rIns="0" bIns="0" rtlCol="0" anchor="ctr"/>
          <a:lstStyle/>
          <a:p>
            <a:pPr indent="0" marL="0">
              <a:lnSpc>
                <a:spcPct val="108000"/>
              </a:lnSpc>
              <a:buNone/>
            </a:pPr>
            <a:r>
              <a:rPr lang="en-US" sz="1250" dirty="0">
                <a:solidFill>
                  <a:srgbClr val="56597D"/>
                </a:solidFill>
                <a:latin typeface="Times New Roman" pitchFamily="34" charset="0"/>
                <a:ea typeface="Times New Roman" pitchFamily="34" charset="-122"/>
                <a:cs typeface="Times New Roman" pitchFamily="34" charset="-120"/>
              </a:rPr>
              <a:t>New drug annual price ranks first, so that is where the evidence budget goes.</a:t>
            </a:r>
            <a:endParaRPr lang="en-US" sz="1250" dirty="0"/>
          </a:p>
        </p:txBody>
      </p:sp>
      <p:sp>
        <p:nvSpPr>
          <p:cNvPr id="10" name="Text 7"/>
          <p:cNvSpPr txBox="1"/>
          <p:nvPr/>
        </p:nvSpPr>
        <p:spPr>
          <a:xfrm>
            <a:off x="9043416" y="3950208"/>
            <a:ext cx="2468880" cy="658368"/>
          </a:xfrm>
          <a:prstGeom prst="rect">
            <a:avLst/>
          </a:prstGeom>
          <a:noFill/>
          <a:ln/>
        </p:spPr>
        <p:txBody>
          <a:bodyPr wrap="square" lIns="0" tIns="0" rIns="0" bIns="0" rtlCol="0" anchor="ctr"/>
          <a:lstStyle/>
          <a:p>
            <a:pPr indent="0" marL="0">
              <a:lnSpc>
                <a:spcPct val="108000"/>
              </a:lnSpc>
              <a:buNone/>
            </a:pPr>
            <a:r>
              <a:rPr lang="en-US" sz="1250" dirty="0">
                <a:solidFill>
                  <a:srgbClr val="56597D"/>
                </a:solidFill>
                <a:latin typeface="Times New Roman" pitchFamily="34" charset="0"/>
                <a:ea typeface="Times New Roman" pitchFamily="34" charset="-122"/>
                <a:cs typeface="Times New Roman" pitchFamily="34" charset="-120"/>
              </a:rPr>
              <a:t>Price and uptake dominate. Event costs barely move the answer.</a:t>
            </a:r>
            <a:endParaRPr lang="en-US" sz="1250" dirty="0"/>
          </a:p>
        </p:txBody>
      </p:sp>
      <p:sp>
        <p:nvSpPr>
          <p:cNvPr id="11" name="Text 8"/>
          <p:cNvSpPr txBox="1"/>
          <p:nvPr/>
        </p:nvSpPr>
        <p:spPr>
          <a:xfrm>
            <a:off x="9043416" y="4663440"/>
            <a:ext cx="2468880" cy="658368"/>
          </a:xfrm>
          <a:prstGeom prst="rect">
            <a:avLst/>
          </a:prstGeom>
          <a:noFill/>
          <a:ln/>
        </p:spPr>
        <p:txBody>
          <a:bodyPr wrap="square" lIns="0" tIns="0" rIns="0" bIns="0" rtlCol="0" anchor="ctr"/>
          <a:lstStyle/>
          <a:p>
            <a:pPr indent="0" marL="0">
              <a:lnSpc>
                <a:spcPct val="108000"/>
              </a:lnSpc>
              <a:buNone/>
            </a:pPr>
            <a:r>
              <a:rPr lang="en-US" sz="1250" dirty="0">
                <a:solidFill>
                  <a:srgbClr val="56597D"/>
                </a:solidFill>
                <a:latin typeface="Times New Roman" pitchFamily="34" charset="0"/>
                <a:ea typeface="Times New Roman" pitchFamily="34" charset="-122"/>
                <a:cs typeface="Times New Roman" pitchFamily="34" charset="-120"/>
              </a:rPr>
              <a:t>It answers a reviewer's real question: what would change your mind?</a:t>
            </a:r>
            <a:endParaRPr lang="en-US" sz="1250" dirty="0"/>
          </a:p>
        </p:txBody>
      </p:sp>
      <p:sp>
        <p:nvSpPr>
          <p:cNvPr id="12" name="Text 9"/>
          <p:cNvSpPr txBox="1"/>
          <p:nvPr/>
        </p:nvSpPr>
        <p:spPr>
          <a:xfrm>
            <a:off x="566928" y="5705856"/>
            <a:ext cx="11057839" cy="274320"/>
          </a:xfrm>
          <a:prstGeom prst="rect">
            <a:avLst/>
          </a:prstGeom>
          <a:noFill/>
          <a:ln/>
        </p:spPr>
        <p:txBody>
          <a:bodyPr wrap="square" lIns="0" tIns="0" rIns="0" bIns="0" rtlCol="0" anchor="ctr"/>
          <a:lstStyle/>
          <a:p>
            <a:pPr indent="0" marL="0">
              <a:buNone/>
            </a:pPr>
            <a:r>
              <a:rPr lang="en-US" sz="1200" i="1" dirty="0">
                <a:solidFill>
                  <a:srgbClr val="56597D"/>
                </a:solidFill>
                <a:latin typeface="Times New Roman" pitchFamily="34" charset="0"/>
                <a:ea typeface="Times New Roman" pitchFamily="34" charset="-122"/>
                <a:cs typeface="Times New Roman" pitchFamily="34" charset="-120"/>
              </a:rPr>
              <a:t>One-way sensitivity only. There is no probabilistic analysis today, which is the first item on the roadmap.</a:t>
            </a:r>
            <a:endParaRPr lang="en-US" sz="1200" dirty="0"/>
          </a:p>
        </p:txBody>
      </p:sp>
      <p:sp>
        <p:nvSpPr>
          <p:cNvPr id="14" name="Text 10"/>
          <p:cNvSpPr txBox="1"/>
          <p:nvPr/>
        </p:nvSpPr>
        <p:spPr>
          <a:xfrm>
            <a:off x="566928" y="6336792"/>
            <a:ext cx="5486400" cy="256032"/>
          </a:xfrm>
          <a:prstGeom prst="rect">
            <a:avLst/>
          </a:prstGeom>
          <a:noFill/>
          <a:ln/>
        </p:spPr>
        <p:txBody>
          <a:bodyPr wrap="square" lIns="0" tIns="0" rIns="0" bIns="0" rtlCol="0" anchor="ctr"/>
          <a:lstStyle/>
          <a:p>
            <a:pPr indent="0" marL="0">
              <a:buNone/>
            </a:pPr>
            <a:r>
              <a:rPr lang="en-US" sz="1050" dirty="0">
                <a:solidFill>
                  <a:srgbClr val="DAD6F2"/>
                </a:solidFill>
                <a:latin typeface="Times New Roman" pitchFamily="34" charset="0"/>
                <a:ea typeface="Times New Roman" pitchFamily="34" charset="-122"/>
                <a:cs typeface="Times New Roman" pitchFamily="34" charset="-120"/>
              </a:rPr>
              <a:t>BIET  ·  Team Denovo  ·  IBAB</a:t>
            </a:r>
            <a:endParaRPr lang="en-US" sz="1050" dirty="0"/>
          </a:p>
        </p:txBody>
      </p:sp>
      <p:sp>
        <p:nvSpPr>
          <p:cNvPr id="15" name="Text 11"/>
          <p:cNvSpPr txBox="1"/>
          <p:nvPr/>
        </p:nvSpPr>
        <p:spPr>
          <a:xfrm>
            <a:off x="10710367" y="6336792"/>
            <a:ext cx="914400" cy="256032"/>
          </a:xfrm>
          <a:prstGeom prst="rect">
            <a:avLst/>
          </a:prstGeom>
          <a:noFill/>
          <a:ln/>
        </p:spPr>
        <p:txBody>
          <a:bodyPr wrap="square" lIns="0" tIns="0" rIns="0" bIns="0" rtlCol="0" anchor="ctr"/>
          <a:lstStyle/>
          <a:p>
            <a:pPr algn="r" indent="0" marL="0">
              <a:buNone/>
            </a:pPr>
            <a:r>
              <a:rPr lang="en-US" sz="1050" b="1" dirty="0">
                <a:solidFill>
                  <a:srgbClr val="DAD6F2"/>
                </a:solidFill>
                <a:latin typeface="Times New Roman" pitchFamily="34" charset="0"/>
                <a:ea typeface="Times New Roman" pitchFamily="34" charset="-122"/>
                <a:cs typeface="Times New Roman" pitchFamily="34" charset="-120"/>
              </a:rPr>
              <a:t>11</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65760"/>
            <a:ext cx="11057839" cy="237744"/>
          </a:xfrm>
          <a:prstGeom prst="rect">
            <a:avLst/>
          </a:prstGeom>
          <a:noFill/>
          <a:ln/>
        </p:spPr>
        <p:txBody>
          <a:bodyPr wrap="square" lIns="0" tIns="0" rIns="0" bIns="0" rtlCol="0" anchor="ctr"/>
          <a:lstStyle/>
          <a:p>
            <a:pPr indent="0" marL="0">
              <a:buNone/>
            </a:pPr>
            <a:r>
              <a:rPr lang="en-US" sz="1200" b="1" spc="240" kern="0" dirty="0">
                <a:solidFill>
                  <a:srgbClr val="5B3BD4"/>
                </a:solidFill>
                <a:latin typeface="Times New Roman" pitchFamily="34" charset="0"/>
                <a:ea typeface="Times New Roman" pitchFamily="34" charset="-122"/>
                <a:cs typeface="Times New Roman" pitchFamily="34" charset="-120"/>
              </a:rPr>
              <a:t>BACKUP · THE AUDIT TRAIL</a:t>
            </a:r>
            <a:endParaRPr lang="en-US" sz="1200" dirty="0"/>
          </a:p>
        </p:txBody>
      </p:sp>
      <p:sp>
        <p:nvSpPr>
          <p:cNvPr id="3" name="Text 1"/>
          <p:cNvSpPr txBox="1"/>
          <p:nvPr/>
        </p:nvSpPr>
        <p:spPr>
          <a:xfrm>
            <a:off x="566928" y="676656"/>
            <a:ext cx="11057839" cy="658368"/>
          </a:xfrm>
          <a:prstGeom prst="rect">
            <a:avLst/>
          </a:prstGeom>
          <a:noFill/>
          <a:ln/>
        </p:spPr>
        <p:txBody>
          <a:bodyPr wrap="square" lIns="0" tIns="0" rIns="0" bIns="0" rtlCol="0" anchor="ctr"/>
          <a:lstStyle/>
          <a:p>
            <a:pPr indent="0" marL="0">
              <a:lnSpc>
                <a:spcPct val="92000"/>
              </a:lnSpc>
              <a:buNone/>
            </a:pPr>
            <a:r>
              <a:rPr lang="en-US" sz="3200" b="1" dirty="0">
                <a:solidFill>
                  <a:srgbClr val="16173A"/>
                </a:solidFill>
                <a:latin typeface="Times New Roman" pitchFamily="34" charset="0"/>
                <a:ea typeface="Times New Roman" pitchFamily="34" charset="-122"/>
                <a:cs typeface="Times New Roman" pitchFamily="34" charset="-120"/>
              </a:rPr>
              <a:t>Every figure traces back to an input</a:t>
            </a:r>
            <a:endParaRPr lang="en-US" sz="3200" dirty="0"/>
          </a:p>
        </p:txBody>
      </p:sp>
      <p:sp>
        <p:nvSpPr>
          <p:cNvPr id="4" name="Text 2"/>
          <p:cNvSpPr txBox="1"/>
          <p:nvPr/>
        </p:nvSpPr>
        <p:spPr>
          <a:xfrm>
            <a:off x="566928" y="1335024"/>
            <a:ext cx="9966960" cy="365760"/>
          </a:xfrm>
          <a:prstGeom prst="rect">
            <a:avLst/>
          </a:prstGeom>
          <a:noFill/>
          <a:ln/>
        </p:spPr>
        <p:txBody>
          <a:bodyPr wrap="square" lIns="0" tIns="0" rIns="0" bIns="0" rtlCol="0" anchor="ctr"/>
          <a:lstStyle/>
          <a:p>
            <a:pPr indent="0" marL="0">
              <a:lnSpc>
                <a:spcPct val="112000"/>
              </a:lnSpc>
              <a:buNone/>
            </a:pPr>
            <a:r>
              <a:rPr lang="en-US" sz="1500" dirty="0">
                <a:solidFill>
                  <a:srgbClr val="56597D"/>
                </a:solidFill>
                <a:latin typeface="Times New Roman" pitchFamily="34" charset="0"/>
                <a:ea typeface="Times New Roman" pitchFamily="34" charset="-122"/>
                <a:cs typeface="Times New Roman" pitchFamily="34" charset="-120"/>
              </a:rPr>
              <a:t>The methodology view inside the app, rendered from the same result object as the headline. No reviewer has to open the code.</a:t>
            </a:r>
            <a:endParaRPr lang="en-US" sz="1500" dirty="0"/>
          </a:p>
        </p:txBody>
      </p:sp>
      <p:pic>
        <p:nvPicPr>
          <p:cNvPr id="5" name="Image 0" descr="/tmp/claude-0/-home-user-early-stage-bia-react-node-postgres/5291cbd1-ae36-596a-a23b-61f675f36b85/scratchpad/build/img/methodology.png">    </p:cNvPr>
          <p:cNvPicPr>
            <a:picLocks noChangeAspect="1"/>
          </p:cNvPicPr>
          <p:nvPr/>
        </p:nvPicPr>
        <p:blipFill>
          <a:blip r:embed="rId1"/>
          <a:stretch>
            <a:fillRect/>
          </a:stretch>
        </p:blipFill>
        <p:spPr>
          <a:xfrm>
            <a:off x="566928" y="1883664"/>
            <a:ext cx="7490322" cy="2916936"/>
          </a:xfrm>
          <a:prstGeom prst="rect">
            <a:avLst/>
          </a:prstGeom>
        </p:spPr>
      </p:pic>
      <p:sp>
        <p:nvSpPr>
          <p:cNvPr id="6" name="Text 3"/>
          <p:cNvSpPr txBox="1"/>
          <p:nvPr/>
        </p:nvSpPr>
        <p:spPr>
          <a:xfrm>
            <a:off x="8385048" y="1920240"/>
            <a:ext cx="3291840" cy="274320"/>
          </a:xfrm>
          <a:prstGeom prst="rect">
            <a:avLst/>
          </a:prstGeom>
          <a:noFill/>
          <a:ln/>
        </p:spPr>
        <p:txBody>
          <a:bodyPr wrap="square" lIns="0" tIns="0" rIns="0" bIns="0" rtlCol="0" anchor="ctr"/>
          <a:lstStyle/>
          <a:p>
            <a:pPr indent="0" marL="0">
              <a:buNone/>
            </a:pPr>
            <a:r>
              <a:rPr lang="en-US" sz="1450" b="1" dirty="0">
                <a:solidFill>
                  <a:srgbClr val="16173A"/>
                </a:solidFill>
                <a:latin typeface="Times New Roman" pitchFamily="34" charset="0"/>
                <a:ea typeface="Times New Roman" pitchFamily="34" charset="-122"/>
                <a:cs typeface="Times New Roman" pitchFamily="34" charset="-120"/>
              </a:rPr>
              <a:t>Parameter provenance</a:t>
            </a:r>
            <a:endParaRPr lang="en-US" sz="1450" dirty="0"/>
          </a:p>
        </p:txBody>
      </p:sp>
      <p:sp>
        <p:nvSpPr>
          <p:cNvPr id="7" name="Text 4"/>
          <p:cNvSpPr txBox="1"/>
          <p:nvPr/>
        </p:nvSpPr>
        <p:spPr>
          <a:xfrm>
            <a:off x="8385048" y="2212848"/>
            <a:ext cx="3291840" cy="932688"/>
          </a:xfrm>
          <a:prstGeom prst="rect">
            <a:avLst/>
          </a:prstGeom>
          <a:noFill/>
          <a:ln/>
        </p:spPr>
        <p:txBody>
          <a:bodyPr wrap="square" lIns="0" tIns="0" rIns="0" bIns="0" rtlCol="0" anchor="ctr"/>
          <a:lstStyle/>
          <a:p>
            <a:pPr indent="0" marL="0">
              <a:lnSpc>
                <a:spcPct val="108000"/>
              </a:lnSpc>
              <a:buNone/>
            </a:pPr>
            <a:r>
              <a:rPr lang="en-US" sz="1250" dirty="0">
                <a:solidFill>
                  <a:srgbClr val="56597D"/>
                </a:solidFill>
                <a:latin typeface="Times New Roman" pitchFamily="34" charset="0"/>
                <a:ea typeface="Times New Roman" pitchFamily="34" charset="-122"/>
                <a:cs typeface="Times New Roman" pitchFamily="34" charset="-120"/>
              </a:rPr>
              <a:t>The database records where each value came from, when it was retrieved, its bounds and whether a user overrode it.</a:t>
            </a:r>
            <a:endParaRPr lang="en-US" sz="1250" dirty="0"/>
          </a:p>
        </p:txBody>
      </p:sp>
      <p:sp>
        <p:nvSpPr>
          <p:cNvPr id="8" name="Text 5"/>
          <p:cNvSpPr txBox="1"/>
          <p:nvPr/>
        </p:nvSpPr>
        <p:spPr>
          <a:xfrm>
            <a:off x="8385048" y="3218688"/>
            <a:ext cx="3291840" cy="274320"/>
          </a:xfrm>
          <a:prstGeom prst="rect">
            <a:avLst/>
          </a:prstGeom>
          <a:noFill/>
          <a:ln/>
        </p:spPr>
        <p:txBody>
          <a:bodyPr wrap="square" lIns="0" tIns="0" rIns="0" bIns="0" rtlCol="0" anchor="ctr"/>
          <a:lstStyle/>
          <a:p>
            <a:pPr indent="0" marL="0">
              <a:buNone/>
            </a:pPr>
            <a:r>
              <a:rPr lang="en-US" sz="1450" b="1" dirty="0">
                <a:solidFill>
                  <a:srgbClr val="16173A"/>
                </a:solidFill>
                <a:latin typeface="Times New Roman" pitchFamily="34" charset="0"/>
                <a:ea typeface="Times New Roman" pitchFamily="34" charset="-122"/>
                <a:cs typeface="Times New Roman" pitchFamily="34" charset="-120"/>
              </a:rPr>
              <a:t>Precedence, in order</a:t>
            </a:r>
            <a:endParaRPr lang="en-US" sz="1450" dirty="0"/>
          </a:p>
        </p:txBody>
      </p:sp>
      <p:sp>
        <p:nvSpPr>
          <p:cNvPr id="9" name="Text 6"/>
          <p:cNvSpPr txBox="1"/>
          <p:nvPr/>
        </p:nvSpPr>
        <p:spPr>
          <a:xfrm>
            <a:off x="8385048" y="3511296"/>
            <a:ext cx="3291840" cy="932688"/>
          </a:xfrm>
          <a:prstGeom prst="rect">
            <a:avLst/>
          </a:prstGeom>
          <a:noFill/>
          <a:ln/>
        </p:spPr>
        <p:txBody>
          <a:bodyPr wrap="square" lIns="0" tIns="0" rIns="0" bIns="0" rtlCol="0" anchor="ctr"/>
          <a:lstStyle/>
          <a:p>
            <a:pPr indent="0" marL="0">
              <a:lnSpc>
                <a:spcPct val="108000"/>
              </a:lnSpc>
              <a:buNone/>
            </a:pPr>
            <a:r>
              <a:rPr lang="en-US" sz="1250" dirty="0">
                <a:solidFill>
                  <a:srgbClr val="56597D"/>
                </a:solidFill>
                <a:latin typeface="Times New Roman" pitchFamily="34" charset="0"/>
                <a:ea typeface="Times New Roman" pitchFamily="34" charset="-122"/>
                <a:cs typeface="Times New Roman" pitchFamily="34" charset="-120"/>
              </a:rPr>
              <a:t>User override, then scenario, then country-specific, then default assumption.</a:t>
            </a:r>
            <a:endParaRPr lang="en-US" sz="1250" dirty="0"/>
          </a:p>
        </p:txBody>
      </p:sp>
      <p:sp>
        <p:nvSpPr>
          <p:cNvPr id="10" name="Text 7"/>
          <p:cNvSpPr txBox="1"/>
          <p:nvPr/>
        </p:nvSpPr>
        <p:spPr>
          <a:xfrm>
            <a:off x="8385048" y="4517136"/>
            <a:ext cx="3291840" cy="274320"/>
          </a:xfrm>
          <a:prstGeom prst="rect">
            <a:avLst/>
          </a:prstGeom>
          <a:noFill/>
          <a:ln/>
        </p:spPr>
        <p:txBody>
          <a:bodyPr wrap="square" lIns="0" tIns="0" rIns="0" bIns="0" rtlCol="0" anchor="ctr"/>
          <a:lstStyle/>
          <a:p>
            <a:pPr indent="0" marL="0">
              <a:buNone/>
            </a:pPr>
            <a:r>
              <a:rPr lang="en-US" sz="1450" b="1" dirty="0">
                <a:solidFill>
                  <a:srgbClr val="16173A"/>
                </a:solidFill>
                <a:latin typeface="Times New Roman" pitchFamily="34" charset="0"/>
                <a:ea typeface="Times New Roman" pitchFamily="34" charset="-122"/>
                <a:cs typeface="Times New Roman" pitchFamily="34" charset="-120"/>
              </a:rPr>
              <a:t>Reconciled, not approximated</a:t>
            </a:r>
            <a:endParaRPr lang="en-US" sz="1450" dirty="0"/>
          </a:p>
        </p:txBody>
      </p:sp>
      <p:sp>
        <p:nvSpPr>
          <p:cNvPr id="11" name="Text 8"/>
          <p:cNvSpPr txBox="1"/>
          <p:nvPr/>
        </p:nvSpPr>
        <p:spPr>
          <a:xfrm>
            <a:off x="8385048" y="4809744"/>
            <a:ext cx="3291840" cy="932688"/>
          </a:xfrm>
          <a:prstGeom prst="rect">
            <a:avLst/>
          </a:prstGeom>
          <a:noFill/>
          <a:ln/>
        </p:spPr>
        <p:txBody>
          <a:bodyPr wrap="square" lIns="0" tIns="0" rIns="0" bIns="0" rtlCol="0" anchor="ctr"/>
          <a:lstStyle/>
          <a:p>
            <a:pPr indent="0" marL="0">
              <a:lnSpc>
                <a:spcPct val="108000"/>
              </a:lnSpc>
              <a:buNone/>
            </a:pPr>
            <a:r>
              <a:rPr lang="en-US" sz="1250" dirty="0">
                <a:solidFill>
                  <a:srgbClr val="56597D"/>
                </a:solidFill>
                <a:latin typeface="Times New Roman" pitchFamily="34" charset="0"/>
                <a:ea typeface="Times New Roman" pitchFamily="34" charset="-122"/>
                <a:cs typeface="Times New Roman" pitchFamily="34" charset="-120"/>
              </a:rPr>
              <a:t>Cost components sum exactly to the scenario totals. The split is the same arithmetic, not a second estimate.</a:t>
            </a:r>
            <a:endParaRPr lang="en-US" sz="1250" dirty="0"/>
          </a:p>
        </p:txBody>
      </p:sp>
      <p:sp>
        <p:nvSpPr>
          <p:cNvPr id="12" name="Shape 9"/>
          <p:cNvSpPr/>
          <p:nvPr/>
        </p:nvSpPr>
        <p:spPr>
          <a:xfrm>
            <a:off x="566928" y="5074920"/>
            <a:ext cx="7498080" cy="896112"/>
          </a:xfrm>
          <a:prstGeom prst="roundRect">
            <a:avLst>
              <a:gd name="adj" fmla="val 6122"/>
            </a:avLst>
          </a:prstGeom>
          <a:solidFill>
            <a:srgbClr val="16173A"/>
          </a:solidFill>
          <a:ln/>
          <a:effectLst>
            <a:outerShdw sx="100000" sy="100000" kx="0" ky="0" algn="bl" rotWithShape="0" blurRad="127000" dist="25400" dir="5400000">
              <a:srgbClr val="1B1B4A">
                <a:alpha val="10000"/>
              </a:srgbClr>
            </a:outerShdw>
          </a:effectLst>
        </p:spPr>
      </p:sp>
      <p:sp>
        <p:nvSpPr>
          <p:cNvPr id="13" name="Text 10"/>
          <p:cNvSpPr txBox="1"/>
          <p:nvPr/>
        </p:nvSpPr>
        <p:spPr>
          <a:xfrm>
            <a:off x="896112" y="5266944"/>
            <a:ext cx="6858000" cy="548640"/>
          </a:xfrm>
          <a:prstGeom prst="rect">
            <a:avLst/>
          </a:prstGeom>
          <a:noFill/>
          <a:ln/>
        </p:spPr>
        <p:txBody>
          <a:bodyPr wrap="square" lIns="0" tIns="0" rIns="0" bIns="0" rtlCol="0" anchor="ctr"/>
          <a:lstStyle/>
          <a:p>
            <a:pPr indent="0" marL="0">
              <a:lnSpc>
                <a:spcPct val="108000"/>
              </a:lnSpc>
              <a:buNone/>
            </a:pPr>
            <a:r>
              <a:rPr lang="en-US" sz="1350" dirty="0">
                <a:solidFill>
                  <a:srgbClr val="FFFFFF"/>
                </a:solidFill>
                <a:latin typeface="Times New Roman" pitchFamily="34" charset="0"/>
                <a:ea typeface="Times New Roman" pitchFamily="34" charset="-122"/>
                <a:cs typeface="Times New Roman" pitchFamily="34" charset="-120"/>
              </a:rPr>
              <a:t>Covered population → eligible patients → patients treated → cost per patient → net budget impact. Five steps, no hidden ones.</a:t>
            </a:r>
            <a:endParaRPr lang="en-US" sz="1350" dirty="0"/>
          </a:p>
        </p:txBody>
      </p:sp>
      <p:sp>
        <p:nvSpPr>
          <p:cNvPr id="15" name="Text 11"/>
          <p:cNvSpPr txBox="1"/>
          <p:nvPr/>
        </p:nvSpPr>
        <p:spPr>
          <a:xfrm>
            <a:off x="566928" y="6336792"/>
            <a:ext cx="5486400" cy="256032"/>
          </a:xfrm>
          <a:prstGeom prst="rect">
            <a:avLst/>
          </a:prstGeom>
          <a:noFill/>
          <a:ln/>
        </p:spPr>
        <p:txBody>
          <a:bodyPr wrap="square" lIns="0" tIns="0" rIns="0" bIns="0" rtlCol="0" anchor="ctr"/>
          <a:lstStyle/>
          <a:p>
            <a:pPr indent="0" marL="0">
              <a:buNone/>
            </a:pPr>
            <a:r>
              <a:rPr lang="en-US" sz="1050" dirty="0">
                <a:solidFill>
                  <a:srgbClr val="DAD6F2"/>
                </a:solidFill>
                <a:latin typeface="Times New Roman" pitchFamily="34" charset="0"/>
                <a:ea typeface="Times New Roman" pitchFamily="34" charset="-122"/>
                <a:cs typeface="Times New Roman" pitchFamily="34" charset="-120"/>
              </a:rPr>
              <a:t>BIET  ·  Team Denovo  ·  IBAB</a:t>
            </a:r>
            <a:endParaRPr lang="en-US" sz="1050" dirty="0"/>
          </a:p>
        </p:txBody>
      </p:sp>
      <p:sp>
        <p:nvSpPr>
          <p:cNvPr id="16" name="Text 12"/>
          <p:cNvSpPr txBox="1"/>
          <p:nvPr/>
        </p:nvSpPr>
        <p:spPr>
          <a:xfrm>
            <a:off x="10710367" y="6336792"/>
            <a:ext cx="914400" cy="256032"/>
          </a:xfrm>
          <a:prstGeom prst="rect">
            <a:avLst/>
          </a:prstGeom>
          <a:noFill/>
          <a:ln/>
        </p:spPr>
        <p:txBody>
          <a:bodyPr wrap="square" lIns="0" tIns="0" rIns="0" bIns="0" rtlCol="0" anchor="ctr"/>
          <a:lstStyle/>
          <a:p>
            <a:pPr algn="r" indent="0" marL="0">
              <a:buNone/>
            </a:pPr>
            <a:r>
              <a:rPr lang="en-US" sz="1050" b="1" dirty="0">
                <a:solidFill>
                  <a:srgbClr val="DAD6F2"/>
                </a:solidFill>
                <a:latin typeface="Times New Roman" pitchFamily="34" charset="0"/>
                <a:ea typeface="Times New Roman" pitchFamily="34" charset="-122"/>
                <a:cs typeface="Times New Roman" pitchFamily="34" charset="-120"/>
              </a:rPr>
              <a:t>12</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65760"/>
            <a:ext cx="11057839" cy="237744"/>
          </a:xfrm>
          <a:prstGeom prst="rect">
            <a:avLst/>
          </a:prstGeom>
          <a:noFill/>
          <a:ln/>
        </p:spPr>
        <p:txBody>
          <a:bodyPr wrap="square" lIns="0" tIns="0" rIns="0" bIns="0" rtlCol="0" anchor="ctr"/>
          <a:lstStyle/>
          <a:p>
            <a:pPr indent="0" marL="0">
              <a:buNone/>
            </a:pPr>
            <a:r>
              <a:rPr lang="en-US" sz="1200" b="1" spc="240" kern="0" dirty="0">
                <a:solidFill>
                  <a:srgbClr val="5B3BD4"/>
                </a:solidFill>
                <a:latin typeface="Times New Roman" pitchFamily="34" charset="0"/>
                <a:ea typeface="Times New Roman" pitchFamily="34" charset="-122"/>
                <a:cs typeface="Times New Roman" pitchFamily="34" charset="-120"/>
              </a:rPr>
              <a:t>BACKUP · VALIDATION</a:t>
            </a:r>
            <a:endParaRPr lang="en-US" sz="1200" dirty="0"/>
          </a:p>
        </p:txBody>
      </p:sp>
      <p:sp>
        <p:nvSpPr>
          <p:cNvPr id="3" name="Text 1"/>
          <p:cNvSpPr txBox="1"/>
          <p:nvPr/>
        </p:nvSpPr>
        <p:spPr>
          <a:xfrm>
            <a:off x="566928" y="676656"/>
            <a:ext cx="11057839" cy="658368"/>
          </a:xfrm>
          <a:prstGeom prst="rect">
            <a:avLst/>
          </a:prstGeom>
          <a:noFill/>
          <a:ln/>
        </p:spPr>
        <p:txBody>
          <a:bodyPr wrap="square" lIns="0" tIns="0" rIns="0" bIns="0" rtlCol="0" anchor="ctr"/>
          <a:lstStyle/>
          <a:p>
            <a:pPr indent="0" marL="0">
              <a:lnSpc>
                <a:spcPct val="92000"/>
              </a:lnSpc>
              <a:buNone/>
            </a:pPr>
            <a:r>
              <a:rPr lang="en-US" sz="3200" b="1" dirty="0">
                <a:solidFill>
                  <a:srgbClr val="16173A"/>
                </a:solidFill>
                <a:latin typeface="Times New Roman" pitchFamily="34" charset="0"/>
                <a:ea typeface="Times New Roman" pitchFamily="34" charset="-122"/>
                <a:cs typeface="Times New Roman" pitchFamily="34" charset="-120"/>
              </a:rPr>
              <a:t>How we test a number nobody can eyeball</a:t>
            </a:r>
            <a:endParaRPr lang="en-US" sz="3200" dirty="0"/>
          </a:p>
        </p:txBody>
      </p:sp>
      <p:sp>
        <p:nvSpPr>
          <p:cNvPr id="4" name="Text 2"/>
          <p:cNvSpPr txBox="1"/>
          <p:nvPr/>
        </p:nvSpPr>
        <p:spPr>
          <a:xfrm>
            <a:off x="566928" y="1335024"/>
            <a:ext cx="9966960" cy="365760"/>
          </a:xfrm>
          <a:prstGeom prst="rect">
            <a:avLst/>
          </a:prstGeom>
          <a:noFill/>
          <a:ln/>
        </p:spPr>
        <p:txBody>
          <a:bodyPr wrap="square" lIns="0" tIns="0" rIns="0" bIns="0" rtlCol="0" anchor="ctr"/>
          <a:lstStyle/>
          <a:p>
            <a:pPr indent="0" marL="0">
              <a:lnSpc>
                <a:spcPct val="112000"/>
              </a:lnSpc>
              <a:buNone/>
            </a:pPr>
            <a:r>
              <a:rPr lang="en-US" sz="1500" dirty="0">
                <a:solidFill>
                  <a:srgbClr val="56597D"/>
                </a:solidFill>
                <a:latin typeface="Times New Roman" pitchFamily="34" charset="0"/>
                <a:ea typeface="Times New Roman" pitchFamily="34" charset="-122"/>
                <a:cs typeface="Times New Roman" pitchFamily="34" charset="-120"/>
              </a:rPr>
              <a:t>38 unit tests run against the engine, plus browser checks against the built bundle and endpoint probes against a running server.</a:t>
            </a:r>
            <a:endParaRPr lang="en-US" sz="1500" dirty="0"/>
          </a:p>
        </p:txBody>
      </p:sp>
      <p:sp>
        <p:nvSpPr>
          <p:cNvPr id="5" name="Shape 3"/>
          <p:cNvSpPr/>
          <p:nvPr/>
        </p:nvSpPr>
        <p:spPr>
          <a:xfrm>
            <a:off x="566928" y="1883664"/>
            <a:ext cx="5486400" cy="3291840"/>
          </a:xfrm>
          <a:prstGeom prst="roundRect">
            <a:avLst>
              <a:gd name="adj" fmla="val 1667"/>
            </a:avLst>
          </a:prstGeom>
          <a:solidFill>
            <a:srgbClr val="F4F3FB"/>
          </a:solidFill>
          <a:ln/>
          <a:effectLst>
            <a:outerShdw sx="100000" sy="100000" kx="0" ky="0" algn="bl" rotWithShape="0" blurRad="127000" dist="25400" dir="5400000">
              <a:srgbClr val="1B1B4A">
                <a:alpha val="10000"/>
              </a:srgbClr>
            </a:outerShdw>
          </a:effectLst>
        </p:spPr>
      </p:sp>
      <p:sp>
        <p:nvSpPr>
          <p:cNvPr id="6" name="Text 4"/>
          <p:cNvSpPr txBox="1"/>
          <p:nvPr/>
        </p:nvSpPr>
        <p:spPr>
          <a:xfrm>
            <a:off x="914400" y="2121408"/>
            <a:ext cx="4754880" cy="274320"/>
          </a:xfrm>
          <a:prstGeom prst="rect">
            <a:avLst/>
          </a:prstGeom>
          <a:noFill/>
          <a:ln/>
        </p:spPr>
        <p:txBody>
          <a:bodyPr wrap="square" lIns="0" tIns="0" rIns="0" bIns="0" rtlCol="0" anchor="ctr"/>
          <a:lstStyle/>
          <a:p>
            <a:pPr indent="0" marL="0">
              <a:buNone/>
            </a:pPr>
            <a:r>
              <a:rPr lang="en-US" sz="1500" b="1" dirty="0">
                <a:solidFill>
                  <a:srgbClr val="16173A"/>
                </a:solidFill>
                <a:latin typeface="Times New Roman" pitchFamily="34" charset="0"/>
                <a:ea typeface="Times New Roman" pitchFamily="34" charset="-122"/>
                <a:cs typeface="Times New Roman" pitchFamily="34" charset="-120"/>
              </a:rPr>
              <a:t>The answer is arithmetically right</a:t>
            </a:r>
            <a:endParaRPr lang="en-US" sz="1500" dirty="0"/>
          </a:p>
        </p:txBody>
      </p:sp>
      <p:sp>
        <p:nvSpPr>
          <p:cNvPr id="7" name="Text 5"/>
          <p:cNvSpPr txBox="1"/>
          <p:nvPr/>
        </p:nvSpPr>
        <p:spPr>
          <a:xfrm>
            <a:off x="914400" y="2505456"/>
            <a:ext cx="1234440" cy="457200"/>
          </a:xfrm>
          <a:prstGeom prst="rect">
            <a:avLst/>
          </a:prstGeom>
          <a:noFill/>
          <a:ln/>
        </p:spPr>
        <p:txBody>
          <a:bodyPr wrap="square" lIns="0" tIns="0" rIns="0" bIns="0" rtlCol="0" anchor="ctr"/>
          <a:lstStyle/>
          <a:p>
            <a:pPr indent="0" marL="0">
              <a:buNone/>
            </a:pPr>
            <a:r>
              <a:rPr lang="en-US" sz="1250" b="1" dirty="0">
                <a:solidFill>
                  <a:srgbClr val="5B3BD4"/>
                </a:solidFill>
                <a:latin typeface="Times New Roman" pitchFamily="34" charset="0"/>
                <a:ea typeface="Times New Roman" pitchFamily="34" charset="-122"/>
                <a:cs typeface="Times New Roman" pitchFamily="34" charset="-120"/>
              </a:rPr>
              <a:t>Funnel</a:t>
            </a:r>
            <a:endParaRPr lang="en-US" sz="1250" dirty="0"/>
          </a:p>
        </p:txBody>
      </p:sp>
      <p:sp>
        <p:nvSpPr>
          <p:cNvPr id="8" name="Text 6"/>
          <p:cNvSpPr txBox="1"/>
          <p:nvPr/>
        </p:nvSpPr>
        <p:spPr>
          <a:xfrm>
            <a:off x="2139696" y="2505456"/>
            <a:ext cx="3611880" cy="457200"/>
          </a:xfrm>
          <a:prstGeom prst="rect">
            <a:avLst/>
          </a:prstGeom>
          <a:noFill/>
          <a:ln/>
        </p:spPr>
        <p:txBody>
          <a:bodyPr wrap="square" lIns="0" tIns="0" rIns="0" bIns="0" rtlCol="0" anchor="ctr"/>
          <a:lstStyle/>
          <a:p>
            <a:pPr indent="0" marL="0">
              <a:lnSpc>
                <a:spcPct val="104000"/>
              </a:lnSpc>
              <a:buNone/>
            </a:pPr>
            <a:r>
              <a:rPr lang="en-US" sz="1250" dirty="0">
                <a:solidFill>
                  <a:srgbClr val="56597D"/>
                </a:solidFill>
                <a:latin typeface="Times New Roman" pitchFamily="34" charset="0"/>
                <a:ea typeface="Times New Roman" pitchFamily="34" charset="-122"/>
                <a:cs typeface="Times New Roman" pitchFamily="34" charset="-120"/>
              </a:rPr>
              <a:t>8,000,000 covered lives resolve to 181,764 eligible in year 1.</a:t>
            </a:r>
            <a:endParaRPr lang="en-US" sz="1250" dirty="0"/>
          </a:p>
        </p:txBody>
      </p:sp>
      <p:sp>
        <p:nvSpPr>
          <p:cNvPr id="9" name="Text 7"/>
          <p:cNvSpPr txBox="1"/>
          <p:nvPr/>
        </p:nvSpPr>
        <p:spPr>
          <a:xfrm>
            <a:off x="914400" y="3008376"/>
            <a:ext cx="1234440" cy="457200"/>
          </a:xfrm>
          <a:prstGeom prst="rect">
            <a:avLst/>
          </a:prstGeom>
          <a:noFill/>
          <a:ln/>
        </p:spPr>
        <p:txBody>
          <a:bodyPr wrap="square" lIns="0" tIns="0" rIns="0" bIns="0" rtlCol="0" anchor="ctr"/>
          <a:lstStyle/>
          <a:p>
            <a:pPr indent="0" marL="0">
              <a:buNone/>
            </a:pPr>
            <a:r>
              <a:rPr lang="en-US" sz="1250" b="1" dirty="0">
                <a:solidFill>
                  <a:srgbClr val="5B3BD4"/>
                </a:solidFill>
                <a:latin typeface="Times New Roman" pitchFamily="34" charset="0"/>
                <a:ea typeface="Times New Roman" pitchFamily="34" charset="-122"/>
                <a:cs typeface="Times New Roman" pitchFamily="34" charset="-120"/>
              </a:rPr>
              <a:t>Components</a:t>
            </a:r>
            <a:endParaRPr lang="en-US" sz="1250" dirty="0"/>
          </a:p>
        </p:txBody>
      </p:sp>
      <p:sp>
        <p:nvSpPr>
          <p:cNvPr id="10" name="Text 8"/>
          <p:cNvSpPr txBox="1"/>
          <p:nvPr/>
        </p:nvSpPr>
        <p:spPr>
          <a:xfrm>
            <a:off x="2139696" y="3008376"/>
            <a:ext cx="3611880" cy="457200"/>
          </a:xfrm>
          <a:prstGeom prst="rect">
            <a:avLst/>
          </a:prstGeom>
          <a:noFill/>
          <a:ln/>
        </p:spPr>
        <p:txBody>
          <a:bodyPr wrap="square" lIns="0" tIns="0" rIns="0" bIns="0" rtlCol="0" anchor="ctr"/>
          <a:lstStyle/>
          <a:p>
            <a:pPr indent="0" marL="0">
              <a:lnSpc>
                <a:spcPct val="104000"/>
              </a:lnSpc>
              <a:buNone/>
            </a:pPr>
            <a:r>
              <a:rPr lang="en-US" sz="1250" dirty="0">
                <a:solidFill>
                  <a:srgbClr val="56597D"/>
                </a:solidFill>
                <a:latin typeface="Times New Roman" pitchFamily="34" charset="0"/>
                <a:ea typeface="Times New Roman" pitchFamily="34" charset="-122"/>
                <a:cs typeface="Times New Roman" pitchFamily="34" charset="-120"/>
              </a:rPr>
              <a:t>Category costs sum to the scenario total exactly, not approximately.</a:t>
            </a:r>
            <a:endParaRPr lang="en-US" sz="1250" dirty="0"/>
          </a:p>
        </p:txBody>
      </p:sp>
      <p:sp>
        <p:nvSpPr>
          <p:cNvPr id="11" name="Text 9"/>
          <p:cNvSpPr txBox="1"/>
          <p:nvPr/>
        </p:nvSpPr>
        <p:spPr>
          <a:xfrm>
            <a:off x="914400" y="3511296"/>
            <a:ext cx="1234440" cy="457200"/>
          </a:xfrm>
          <a:prstGeom prst="rect">
            <a:avLst/>
          </a:prstGeom>
          <a:noFill/>
          <a:ln/>
        </p:spPr>
        <p:txBody>
          <a:bodyPr wrap="square" lIns="0" tIns="0" rIns="0" bIns="0" rtlCol="0" anchor="ctr"/>
          <a:lstStyle/>
          <a:p>
            <a:pPr indent="0" marL="0">
              <a:buNone/>
            </a:pPr>
            <a:r>
              <a:rPr lang="en-US" sz="1250" b="1" dirty="0">
                <a:solidFill>
                  <a:srgbClr val="5B3BD4"/>
                </a:solidFill>
                <a:latin typeface="Times New Roman" pitchFamily="34" charset="0"/>
                <a:ea typeface="Times New Roman" pitchFamily="34" charset="-122"/>
                <a:cs typeface="Times New Roman" pitchFamily="34" charset="-120"/>
              </a:rPr>
              <a:t>Break-even</a:t>
            </a:r>
            <a:endParaRPr lang="en-US" sz="1250" dirty="0"/>
          </a:p>
        </p:txBody>
      </p:sp>
      <p:sp>
        <p:nvSpPr>
          <p:cNvPr id="12" name="Text 10"/>
          <p:cNvSpPr txBox="1"/>
          <p:nvPr/>
        </p:nvSpPr>
        <p:spPr>
          <a:xfrm>
            <a:off x="2139696" y="3511296"/>
            <a:ext cx="3611880" cy="457200"/>
          </a:xfrm>
          <a:prstGeom prst="rect">
            <a:avLst/>
          </a:prstGeom>
          <a:noFill/>
          <a:ln/>
        </p:spPr>
        <p:txBody>
          <a:bodyPr wrap="square" lIns="0" tIns="0" rIns="0" bIns="0" rtlCol="0" anchor="ctr"/>
          <a:lstStyle/>
          <a:p>
            <a:pPr indent="0" marL="0">
              <a:lnSpc>
                <a:spcPct val="104000"/>
              </a:lnSpc>
              <a:buNone/>
            </a:pPr>
            <a:r>
              <a:rPr lang="en-US" sz="1250" dirty="0">
                <a:solidFill>
                  <a:srgbClr val="56597D"/>
                </a:solidFill>
                <a:latin typeface="Times New Roman" pitchFamily="34" charset="0"/>
                <a:ea typeface="Times New Roman" pitchFamily="34" charset="-122"/>
                <a:cs typeface="Times New Roman" pitchFamily="34" charset="-120"/>
              </a:rPr>
              <a:t>Net impact is zero at €613, found by binary search.</a:t>
            </a:r>
            <a:endParaRPr lang="en-US" sz="1250" dirty="0"/>
          </a:p>
        </p:txBody>
      </p:sp>
      <p:sp>
        <p:nvSpPr>
          <p:cNvPr id="13" name="Text 11"/>
          <p:cNvSpPr txBox="1"/>
          <p:nvPr/>
        </p:nvSpPr>
        <p:spPr>
          <a:xfrm>
            <a:off x="914400" y="4014216"/>
            <a:ext cx="1234440" cy="457200"/>
          </a:xfrm>
          <a:prstGeom prst="rect">
            <a:avLst/>
          </a:prstGeom>
          <a:noFill/>
          <a:ln/>
        </p:spPr>
        <p:txBody>
          <a:bodyPr wrap="square" lIns="0" tIns="0" rIns="0" bIns="0" rtlCol="0" anchor="ctr"/>
          <a:lstStyle/>
          <a:p>
            <a:pPr indent="0" marL="0">
              <a:buNone/>
            </a:pPr>
            <a:r>
              <a:rPr lang="en-US" sz="1250" b="1" dirty="0">
                <a:solidFill>
                  <a:srgbClr val="5B3BD4"/>
                </a:solidFill>
                <a:latin typeface="Times New Roman" pitchFamily="34" charset="0"/>
                <a:ea typeface="Times New Roman" pitchFamily="34" charset="-122"/>
                <a:cs typeface="Times New Roman" pitchFamily="34" charset="-120"/>
              </a:rPr>
              <a:t>Monotonic</a:t>
            </a:r>
            <a:endParaRPr lang="en-US" sz="1250" dirty="0"/>
          </a:p>
        </p:txBody>
      </p:sp>
      <p:sp>
        <p:nvSpPr>
          <p:cNvPr id="14" name="Text 12"/>
          <p:cNvSpPr txBox="1"/>
          <p:nvPr/>
        </p:nvSpPr>
        <p:spPr>
          <a:xfrm>
            <a:off x="2139696" y="4014216"/>
            <a:ext cx="3611880" cy="457200"/>
          </a:xfrm>
          <a:prstGeom prst="rect">
            <a:avLst/>
          </a:prstGeom>
          <a:noFill/>
          <a:ln/>
        </p:spPr>
        <p:txBody>
          <a:bodyPr wrap="square" lIns="0" tIns="0" rIns="0" bIns="0" rtlCol="0" anchor="ctr"/>
          <a:lstStyle/>
          <a:p>
            <a:pPr indent="0" marL="0">
              <a:lnSpc>
                <a:spcPct val="104000"/>
              </a:lnSpc>
              <a:buNone/>
            </a:pPr>
            <a:r>
              <a:rPr lang="en-US" sz="1250" dirty="0">
                <a:solidFill>
                  <a:srgbClr val="56597D"/>
                </a:solidFill>
                <a:latin typeface="Times New Roman" pitchFamily="34" charset="0"/>
                <a:ea typeface="Times New Roman" pitchFamily="34" charset="-122"/>
                <a:cs typeface="Times New Roman" pitchFamily="34" charset="-120"/>
              </a:rPr>
              <a:t>€148.3M at half uptake, €296.6M at base, €444.9M at 1.5×.</a:t>
            </a:r>
            <a:endParaRPr lang="en-US" sz="1250" dirty="0"/>
          </a:p>
        </p:txBody>
      </p:sp>
      <p:sp>
        <p:nvSpPr>
          <p:cNvPr id="15" name="Text 13"/>
          <p:cNvSpPr txBox="1"/>
          <p:nvPr/>
        </p:nvSpPr>
        <p:spPr>
          <a:xfrm>
            <a:off x="914400" y="4517136"/>
            <a:ext cx="1234440" cy="457200"/>
          </a:xfrm>
          <a:prstGeom prst="rect">
            <a:avLst/>
          </a:prstGeom>
          <a:noFill/>
          <a:ln/>
        </p:spPr>
        <p:txBody>
          <a:bodyPr wrap="square" lIns="0" tIns="0" rIns="0" bIns="0" rtlCol="0" anchor="ctr"/>
          <a:lstStyle/>
          <a:p>
            <a:pPr indent="0" marL="0">
              <a:buNone/>
            </a:pPr>
            <a:r>
              <a:rPr lang="en-US" sz="1250" b="1" dirty="0">
                <a:solidFill>
                  <a:srgbClr val="5B3BD4"/>
                </a:solidFill>
                <a:latin typeface="Times New Roman" pitchFamily="34" charset="0"/>
                <a:ea typeface="Times New Roman" pitchFamily="34" charset="-122"/>
                <a:cs typeface="Times New Roman" pitchFamily="34" charset="-120"/>
              </a:rPr>
              <a:t>PMPM</a:t>
            </a:r>
            <a:endParaRPr lang="en-US" sz="1250" dirty="0"/>
          </a:p>
        </p:txBody>
      </p:sp>
      <p:sp>
        <p:nvSpPr>
          <p:cNvPr id="16" name="Text 14"/>
          <p:cNvSpPr txBox="1"/>
          <p:nvPr/>
        </p:nvSpPr>
        <p:spPr>
          <a:xfrm>
            <a:off x="2139696" y="4517136"/>
            <a:ext cx="3611880" cy="457200"/>
          </a:xfrm>
          <a:prstGeom prst="rect">
            <a:avLst/>
          </a:prstGeom>
          <a:noFill/>
          <a:ln/>
        </p:spPr>
        <p:txBody>
          <a:bodyPr wrap="square" lIns="0" tIns="0" rIns="0" bIns="0" rtlCol="0" anchor="ctr"/>
          <a:lstStyle/>
          <a:p>
            <a:pPr indent="0" marL="0">
              <a:lnSpc>
                <a:spcPct val="104000"/>
              </a:lnSpc>
              <a:buNone/>
            </a:pPr>
            <a:r>
              <a:rPr lang="en-US" sz="1250" dirty="0">
                <a:solidFill>
                  <a:srgbClr val="56597D"/>
                </a:solidFill>
                <a:latin typeface="Times New Roman" pitchFamily="34" charset="0"/>
                <a:ea typeface="Times New Roman" pitchFamily="34" charset="-122"/>
                <a:cs typeface="Times New Roman" pitchFamily="34" charset="-120"/>
              </a:rPr>
              <a:t>€12,269,434 in year 1 over 8,000,000 lives over 12 is €0.13.</a:t>
            </a:r>
            <a:endParaRPr lang="en-US" sz="1250" dirty="0"/>
          </a:p>
        </p:txBody>
      </p:sp>
      <p:sp>
        <p:nvSpPr>
          <p:cNvPr id="17" name="Shape 15"/>
          <p:cNvSpPr/>
          <p:nvPr/>
        </p:nvSpPr>
        <p:spPr>
          <a:xfrm>
            <a:off x="6309360" y="1883664"/>
            <a:ext cx="5315407" cy="3291840"/>
          </a:xfrm>
          <a:prstGeom prst="roundRect">
            <a:avLst>
              <a:gd name="adj" fmla="val 1667"/>
            </a:avLst>
          </a:prstGeom>
          <a:solidFill>
            <a:srgbClr val="F4F3FB"/>
          </a:solidFill>
          <a:ln/>
          <a:effectLst>
            <a:outerShdw sx="100000" sy="100000" kx="0" ky="0" algn="bl" rotWithShape="0" blurRad="127000" dist="25400" dir="5400000">
              <a:srgbClr val="1B1B4A">
                <a:alpha val="10000"/>
              </a:srgbClr>
            </a:outerShdw>
          </a:effectLst>
        </p:spPr>
      </p:sp>
      <p:sp>
        <p:nvSpPr>
          <p:cNvPr id="18" name="Text 16"/>
          <p:cNvSpPr txBox="1"/>
          <p:nvPr/>
        </p:nvSpPr>
        <p:spPr>
          <a:xfrm>
            <a:off x="6656832" y="2121408"/>
            <a:ext cx="4754880" cy="274320"/>
          </a:xfrm>
          <a:prstGeom prst="rect">
            <a:avLst/>
          </a:prstGeom>
          <a:noFill/>
          <a:ln/>
        </p:spPr>
        <p:txBody>
          <a:bodyPr wrap="square" lIns="0" tIns="0" rIns="0" bIns="0" rtlCol="0" anchor="ctr"/>
          <a:lstStyle/>
          <a:p>
            <a:pPr indent="0" marL="0">
              <a:buNone/>
            </a:pPr>
            <a:r>
              <a:rPr lang="en-US" sz="1500" b="1" dirty="0">
                <a:solidFill>
                  <a:srgbClr val="16173A"/>
                </a:solidFill>
                <a:latin typeface="Times New Roman" pitchFamily="34" charset="0"/>
                <a:ea typeface="Times New Roman" pitchFamily="34" charset="-122"/>
                <a:cs typeface="Times New Roman" pitchFamily="34" charset="-120"/>
              </a:rPr>
              <a:t>It fails loudly rather than quietly</a:t>
            </a:r>
            <a:endParaRPr lang="en-US" sz="1500" dirty="0"/>
          </a:p>
        </p:txBody>
      </p:sp>
      <p:sp>
        <p:nvSpPr>
          <p:cNvPr id="19" name="Text 17"/>
          <p:cNvSpPr txBox="1"/>
          <p:nvPr/>
        </p:nvSpPr>
        <p:spPr>
          <a:xfrm>
            <a:off x="6656832" y="2505456"/>
            <a:ext cx="1371600" cy="457200"/>
          </a:xfrm>
          <a:prstGeom prst="rect">
            <a:avLst/>
          </a:prstGeom>
          <a:noFill/>
          <a:ln/>
        </p:spPr>
        <p:txBody>
          <a:bodyPr wrap="square" lIns="0" tIns="0" rIns="0" bIns="0" rtlCol="0" anchor="ctr"/>
          <a:lstStyle/>
          <a:p>
            <a:pPr indent="0" marL="0">
              <a:buNone/>
            </a:pPr>
            <a:r>
              <a:rPr lang="en-US" sz="1250" b="1" dirty="0">
                <a:solidFill>
                  <a:srgbClr val="C2521A"/>
                </a:solidFill>
                <a:latin typeface="Times New Roman" pitchFamily="34" charset="0"/>
                <a:ea typeface="Times New Roman" pitchFamily="34" charset="-122"/>
                <a:cs typeface="Times New Roman" pitchFamily="34" charset="-120"/>
              </a:rPr>
              <a:t>Shares ≠ 1.0</a:t>
            </a:r>
            <a:endParaRPr lang="en-US" sz="1250" dirty="0"/>
          </a:p>
        </p:txBody>
      </p:sp>
      <p:sp>
        <p:nvSpPr>
          <p:cNvPr id="20" name="Text 18"/>
          <p:cNvSpPr txBox="1"/>
          <p:nvPr/>
        </p:nvSpPr>
        <p:spPr>
          <a:xfrm>
            <a:off x="8028432" y="2505456"/>
            <a:ext cx="3429000" cy="457200"/>
          </a:xfrm>
          <a:prstGeom prst="rect">
            <a:avLst/>
          </a:prstGeom>
          <a:noFill/>
          <a:ln/>
        </p:spPr>
        <p:txBody>
          <a:bodyPr wrap="square" lIns="0" tIns="0" rIns="0" bIns="0" rtlCol="0" anchor="ctr"/>
          <a:lstStyle/>
          <a:p>
            <a:pPr indent="0" marL="0">
              <a:lnSpc>
                <a:spcPct val="104000"/>
              </a:lnSpc>
              <a:buNone/>
            </a:pPr>
            <a:r>
              <a:rPr lang="en-US" sz="1250" dirty="0">
                <a:solidFill>
                  <a:srgbClr val="56597D"/>
                </a:solidFill>
                <a:latin typeface="Times New Roman" pitchFamily="34" charset="0"/>
                <a:ea typeface="Times New Roman" pitchFamily="34" charset="-122"/>
                <a:cs typeface="Times New Roman" pitchFamily="34" charset="-120"/>
              </a:rPr>
              <a:t>Throws and names the total, rather than modelling 90% of a market.</a:t>
            </a:r>
            <a:endParaRPr lang="en-US" sz="1250" dirty="0"/>
          </a:p>
        </p:txBody>
      </p:sp>
      <p:sp>
        <p:nvSpPr>
          <p:cNvPr id="21" name="Text 19"/>
          <p:cNvSpPr txBox="1"/>
          <p:nvPr/>
        </p:nvSpPr>
        <p:spPr>
          <a:xfrm>
            <a:off x="6656832" y="3008376"/>
            <a:ext cx="1371600" cy="457200"/>
          </a:xfrm>
          <a:prstGeom prst="rect">
            <a:avLst/>
          </a:prstGeom>
          <a:noFill/>
          <a:ln/>
        </p:spPr>
        <p:txBody>
          <a:bodyPr wrap="square" lIns="0" tIns="0" rIns="0" bIns="0" rtlCol="0" anchor="ctr"/>
          <a:lstStyle/>
          <a:p>
            <a:pPr indent="0" marL="0">
              <a:buNone/>
            </a:pPr>
            <a:r>
              <a:rPr lang="en-US" sz="1250" b="1" dirty="0">
                <a:solidFill>
                  <a:srgbClr val="C2521A"/>
                </a:solidFill>
                <a:latin typeface="Times New Roman" pitchFamily="34" charset="0"/>
                <a:ea typeface="Times New Roman" pitchFamily="34" charset="-122"/>
                <a:cs typeface="Times New Roman" pitchFamily="34" charset="-120"/>
              </a:rPr>
              <a:t>No comparator</a:t>
            </a:r>
            <a:endParaRPr lang="en-US" sz="1250" dirty="0"/>
          </a:p>
        </p:txBody>
      </p:sp>
      <p:sp>
        <p:nvSpPr>
          <p:cNvPr id="22" name="Text 20"/>
          <p:cNvSpPr txBox="1"/>
          <p:nvPr/>
        </p:nvSpPr>
        <p:spPr>
          <a:xfrm>
            <a:off x="8028432" y="3008376"/>
            <a:ext cx="3429000" cy="457200"/>
          </a:xfrm>
          <a:prstGeom prst="rect">
            <a:avLst/>
          </a:prstGeom>
          <a:noFill/>
          <a:ln/>
        </p:spPr>
        <p:txBody>
          <a:bodyPr wrap="square" lIns="0" tIns="0" rIns="0" bIns="0" rtlCol="0" anchor="ctr"/>
          <a:lstStyle/>
          <a:p>
            <a:pPr indent="0" marL="0">
              <a:lnSpc>
                <a:spcPct val="104000"/>
              </a:lnSpc>
              <a:buNone/>
            </a:pPr>
            <a:r>
              <a:rPr lang="en-US" sz="1250" dirty="0">
                <a:solidFill>
                  <a:srgbClr val="56597D"/>
                </a:solidFill>
                <a:latin typeface="Times New Roman" pitchFamily="34" charset="0"/>
                <a:ea typeface="Times New Roman" pitchFamily="34" charset="-122"/>
                <a:cs typeface="Times New Roman" pitchFamily="34" charset="-120"/>
              </a:rPr>
              <a:t>Throws. There is nothing to compare the intervention against.</a:t>
            </a:r>
            <a:endParaRPr lang="en-US" sz="1250" dirty="0"/>
          </a:p>
        </p:txBody>
      </p:sp>
      <p:sp>
        <p:nvSpPr>
          <p:cNvPr id="23" name="Text 21"/>
          <p:cNvSpPr txBox="1"/>
          <p:nvPr/>
        </p:nvSpPr>
        <p:spPr>
          <a:xfrm>
            <a:off x="6656832" y="3511296"/>
            <a:ext cx="1371600" cy="457200"/>
          </a:xfrm>
          <a:prstGeom prst="rect">
            <a:avLst/>
          </a:prstGeom>
          <a:noFill/>
          <a:ln/>
        </p:spPr>
        <p:txBody>
          <a:bodyPr wrap="square" lIns="0" tIns="0" rIns="0" bIns="0" rtlCol="0" anchor="ctr"/>
          <a:lstStyle/>
          <a:p>
            <a:pPr indent="0" marL="0">
              <a:buNone/>
            </a:pPr>
            <a:r>
              <a:rPr lang="en-US" sz="1250" b="1" dirty="0">
                <a:solidFill>
                  <a:srgbClr val="C2521A"/>
                </a:solidFill>
                <a:latin typeface="Times New Roman" pitchFamily="34" charset="0"/>
                <a:ea typeface="Times New Roman" pitchFamily="34" charset="-122"/>
                <a:cs typeface="Times New Roman" pitchFamily="34" charset="-120"/>
              </a:rPr>
              <a:t>Negative rate</a:t>
            </a:r>
            <a:endParaRPr lang="en-US" sz="1250" dirty="0"/>
          </a:p>
        </p:txBody>
      </p:sp>
      <p:sp>
        <p:nvSpPr>
          <p:cNvPr id="24" name="Text 22"/>
          <p:cNvSpPr txBox="1"/>
          <p:nvPr/>
        </p:nvSpPr>
        <p:spPr>
          <a:xfrm>
            <a:off x="8028432" y="3511296"/>
            <a:ext cx="3429000" cy="457200"/>
          </a:xfrm>
          <a:prstGeom prst="rect">
            <a:avLst/>
          </a:prstGeom>
          <a:noFill/>
          <a:ln/>
        </p:spPr>
        <p:txBody>
          <a:bodyPr wrap="square" lIns="0" tIns="0" rIns="0" bIns="0" rtlCol="0" anchor="ctr"/>
          <a:lstStyle/>
          <a:p>
            <a:pPr indent="0" marL="0">
              <a:lnSpc>
                <a:spcPct val="104000"/>
              </a:lnSpc>
              <a:buNone/>
            </a:pPr>
            <a:r>
              <a:rPr lang="en-US" sz="1250" dirty="0">
                <a:solidFill>
                  <a:srgbClr val="56597D"/>
                </a:solidFill>
                <a:latin typeface="Times New Roman" pitchFamily="34" charset="0"/>
                <a:ea typeface="Times New Roman" pitchFamily="34" charset="-122"/>
                <a:cs typeface="Times New Roman" pitchFamily="34" charset="-120"/>
              </a:rPr>
              <a:t>Clamped to zero. No NaN propagates into a currency figure.</a:t>
            </a:r>
            <a:endParaRPr lang="en-US" sz="1250" dirty="0"/>
          </a:p>
        </p:txBody>
      </p:sp>
      <p:sp>
        <p:nvSpPr>
          <p:cNvPr id="25" name="Text 23"/>
          <p:cNvSpPr txBox="1"/>
          <p:nvPr/>
        </p:nvSpPr>
        <p:spPr>
          <a:xfrm>
            <a:off x="6656832" y="4014216"/>
            <a:ext cx="1371600" cy="457200"/>
          </a:xfrm>
          <a:prstGeom prst="rect">
            <a:avLst/>
          </a:prstGeom>
          <a:noFill/>
          <a:ln/>
        </p:spPr>
        <p:txBody>
          <a:bodyPr wrap="square" lIns="0" tIns="0" rIns="0" bIns="0" rtlCol="0" anchor="ctr"/>
          <a:lstStyle/>
          <a:p>
            <a:pPr indent="0" marL="0">
              <a:buNone/>
            </a:pPr>
            <a:r>
              <a:rPr lang="en-US" sz="1250" b="1" dirty="0">
                <a:solidFill>
                  <a:srgbClr val="C2521A"/>
                </a:solidFill>
                <a:latin typeface="Times New Roman" pitchFamily="34" charset="0"/>
                <a:ea typeface="Times New Roman" pitchFamily="34" charset="-122"/>
                <a:cs typeface="Times New Roman" pitchFamily="34" charset="-120"/>
              </a:rPr>
              <a:t>Zero population</a:t>
            </a:r>
            <a:endParaRPr lang="en-US" sz="1250" dirty="0"/>
          </a:p>
        </p:txBody>
      </p:sp>
      <p:sp>
        <p:nvSpPr>
          <p:cNvPr id="26" name="Text 24"/>
          <p:cNvSpPr txBox="1"/>
          <p:nvPr/>
        </p:nvSpPr>
        <p:spPr>
          <a:xfrm>
            <a:off x="8028432" y="4014216"/>
            <a:ext cx="3429000" cy="457200"/>
          </a:xfrm>
          <a:prstGeom prst="rect">
            <a:avLst/>
          </a:prstGeom>
          <a:noFill/>
          <a:ln/>
        </p:spPr>
        <p:txBody>
          <a:bodyPr wrap="square" lIns="0" tIns="0" rIns="0" bIns="0" rtlCol="0" anchor="ctr"/>
          <a:lstStyle/>
          <a:p>
            <a:pPr indent="0" marL="0">
              <a:lnSpc>
                <a:spcPct val="104000"/>
              </a:lnSpc>
              <a:buNone/>
            </a:pPr>
            <a:r>
              <a:rPr lang="en-US" sz="1250" dirty="0">
                <a:solidFill>
                  <a:srgbClr val="56597D"/>
                </a:solidFill>
                <a:latin typeface="Times New Roman" pitchFamily="34" charset="0"/>
                <a:ea typeface="Times New Roman" pitchFamily="34" charset="-122"/>
                <a:cs typeface="Times New Roman" pitchFamily="34" charset="-120"/>
              </a:rPr>
              <a:t>Net impact is zero, with no division by zero.</a:t>
            </a:r>
            <a:endParaRPr lang="en-US" sz="1250" dirty="0"/>
          </a:p>
        </p:txBody>
      </p:sp>
      <p:sp>
        <p:nvSpPr>
          <p:cNvPr id="27" name="Text 25"/>
          <p:cNvSpPr txBox="1"/>
          <p:nvPr/>
        </p:nvSpPr>
        <p:spPr>
          <a:xfrm>
            <a:off x="6656832" y="4517136"/>
            <a:ext cx="1371600" cy="457200"/>
          </a:xfrm>
          <a:prstGeom prst="rect">
            <a:avLst/>
          </a:prstGeom>
          <a:noFill/>
          <a:ln/>
        </p:spPr>
        <p:txBody>
          <a:bodyPr wrap="square" lIns="0" tIns="0" rIns="0" bIns="0" rtlCol="0" anchor="ctr"/>
          <a:lstStyle/>
          <a:p>
            <a:pPr indent="0" marL="0">
              <a:buNone/>
            </a:pPr>
            <a:r>
              <a:rPr lang="en-US" sz="1250" b="1" dirty="0">
                <a:solidFill>
                  <a:srgbClr val="C2521A"/>
                </a:solidFill>
                <a:latin typeface="Times New Roman" pitchFamily="34" charset="0"/>
                <a:ea typeface="Times New Roman" pitchFamily="34" charset="-122"/>
                <a:cs typeface="Times New Roman" pitchFamily="34" charset="-120"/>
              </a:rPr>
              <a:t>No database</a:t>
            </a:r>
            <a:endParaRPr lang="en-US" sz="1250" dirty="0"/>
          </a:p>
        </p:txBody>
      </p:sp>
      <p:sp>
        <p:nvSpPr>
          <p:cNvPr id="28" name="Text 26"/>
          <p:cNvSpPr txBox="1"/>
          <p:nvPr/>
        </p:nvSpPr>
        <p:spPr>
          <a:xfrm>
            <a:off x="8028432" y="4517136"/>
            <a:ext cx="3429000" cy="457200"/>
          </a:xfrm>
          <a:prstGeom prst="rect">
            <a:avLst/>
          </a:prstGeom>
          <a:noFill/>
          <a:ln/>
        </p:spPr>
        <p:txBody>
          <a:bodyPr wrap="square" lIns="0" tIns="0" rIns="0" bIns="0" rtlCol="0" anchor="ctr"/>
          <a:lstStyle/>
          <a:p>
            <a:pPr indent="0" marL="0">
              <a:lnSpc>
                <a:spcPct val="104000"/>
              </a:lnSpc>
              <a:buNone/>
            </a:pPr>
            <a:r>
              <a:rPr lang="en-US" sz="1250" dirty="0">
                <a:solidFill>
                  <a:srgbClr val="56597D"/>
                </a:solidFill>
                <a:latin typeface="Times New Roman" pitchFamily="34" charset="0"/>
                <a:ea typeface="Times New Roman" pitchFamily="34" charset="-122"/>
                <a:cs typeface="Times New Roman" pitchFamily="34" charset="-120"/>
              </a:rPr>
              <a:t>The server boots, health reports it, and the tool still works.</a:t>
            </a:r>
            <a:endParaRPr lang="en-US" sz="1250" dirty="0"/>
          </a:p>
        </p:txBody>
      </p:sp>
      <p:sp>
        <p:nvSpPr>
          <p:cNvPr id="29" name="Text 27"/>
          <p:cNvSpPr txBox="1"/>
          <p:nvPr/>
        </p:nvSpPr>
        <p:spPr>
          <a:xfrm>
            <a:off x="566928" y="5431536"/>
            <a:ext cx="11057839" cy="457200"/>
          </a:xfrm>
          <a:prstGeom prst="rect">
            <a:avLst/>
          </a:prstGeom>
          <a:noFill/>
          <a:ln/>
        </p:spPr>
        <p:txBody>
          <a:bodyPr wrap="square" lIns="0" tIns="0" rIns="0" bIns="0" rtlCol="0" anchor="ctr"/>
          <a:lstStyle/>
          <a:p>
            <a:pPr indent="0" marL="0">
              <a:lnSpc>
                <a:spcPct val="106000"/>
              </a:lnSpc>
              <a:buNone/>
            </a:pPr>
            <a:r>
              <a:rPr lang="en-US" sz="1250" b="1" dirty="0">
                <a:solidFill>
                  <a:srgbClr val="16173A"/>
                </a:solidFill>
                <a:latin typeface="Times New Roman" pitchFamily="34" charset="0"/>
                <a:ea typeface="Times New Roman" pitchFamily="34" charset="-122"/>
                <a:cs typeface="Times New Roman" pitchFamily="34" charset="-120"/>
              </a:rPr>
              <a:t>Stated plainly:  </a:t>
            </a:r>
            <a:pPr indent="0" marL="0">
              <a:lnSpc>
                <a:spcPct val="106000"/>
              </a:lnSpc>
              <a:buNone/>
            </a:pPr>
            <a:r>
              <a:rPr lang="en-US" sz="1250" dirty="0">
                <a:solidFill>
                  <a:srgbClr val="56597D"/>
                </a:solidFill>
                <a:latin typeface="Times New Roman" pitchFamily="34" charset="0"/>
                <a:ea typeface="Times New Roman" pitchFamily="34" charset="-122"/>
                <a:cs typeface="Times New Roman" pitchFamily="34" charset="-120"/>
              </a:rPr>
              <a:t>the browser checks are run per change rather than committed to CI, no test covers the PostgreSQL-backed paths end to end, and live third-party calls are stubbed.</a:t>
            </a:r>
            <a:endParaRPr lang="en-US" sz="1250" dirty="0"/>
          </a:p>
        </p:txBody>
      </p:sp>
      <p:sp>
        <p:nvSpPr>
          <p:cNvPr id="31" name="Text 28"/>
          <p:cNvSpPr txBox="1"/>
          <p:nvPr/>
        </p:nvSpPr>
        <p:spPr>
          <a:xfrm>
            <a:off x="566928" y="6336792"/>
            <a:ext cx="5486400" cy="256032"/>
          </a:xfrm>
          <a:prstGeom prst="rect">
            <a:avLst/>
          </a:prstGeom>
          <a:noFill/>
          <a:ln/>
        </p:spPr>
        <p:txBody>
          <a:bodyPr wrap="square" lIns="0" tIns="0" rIns="0" bIns="0" rtlCol="0" anchor="ctr"/>
          <a:lstStyle/>
          <a:p>
            <a:pPr indent="0" marL="0">
              <a:buNone/>
            </a:pPr>
            <a:r>
              <a:rPr lang="en-US" sz="1050" dirty="0">
                <a:solidFill>
                  <a:srgbClr val="DAD6F2"/>
                </a:solidFill>
                <a:latin typeface="Times New Roman" pitchFamily="34" charset="0"/>
                <a:ea typeface="Times New Roman" pitchFamily="34" charset="-122"/>
                <a:cs typeface="Times New Roman" pitchFamily="34" charset="-120"/>
              </a:rPr>
              <a:t>BIET  ·  Team Denovo  ·  IBAB</a:t>
            </a:r>
            <a:endParaRPr lang="en-US" sz="1050" dirty="0"/>
          </a:p>
        </p:txBody>
      </p:sp>
      <p:sp>
        <p:nvSpPr>
          <p:cNvPr id="32" name="Text 29"/>
          <p:cNvSpPr txBox="1"/>
          <p:nvPr/>
        </p:nvSpPr>
        <p:spPr>
          <a:xfrm>
            <a:off x="10710367" y="6336792"/>
            <a:ext cx="914400" cy="256032"/>
          </a:xfrm>
          <a:prstGeom prst="rect">
            <a:avLst/>
          </a:prstGeom>
          <a:noFill/>
          <a:ln/>
        </p:spPr>
        <p:txBody>
          <a:bodyPr wrap="square" lIns="0" tIns="0" rIns="0" bIns="0" rtlCol="0" anchor="ctr"/>
          <a:lstStyle/>
          <a:p>
            <a:pPr algn="r" indent="0" marL="0">
              <a:buNone/>
            </a:pPr>
            <a:r>
              <a:rPr lang="en-US" sz="1050" b="1" dirty="0">
                <a:solidFill>
                  <a:srgbClr val="DAD6F2"/>
                </a:solidFill>
                <a:latin typeface="Times New Roman" pitchFamily="34" charset="0"/>
                <a:ea typeface="Times New Roman" pitchFamily="34" charset="-122"/>
                <a:cs typeface="Times New Roman" pitchFamily="34" charset="-120"/>
              </a:rPr>
              <a:t>13</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65760"/>
            <a:ext cx="11057839" cy="237744"/>
          </a:xfrm>
          <a:prstGeom prst="rect">
            <a:avLst/>
          </a:prstGeom>
          <a:noFill/>
          <a:ln/>
        </p:spPr>
        <p:txBody>
          <a:bodyPr wrap="square" lIns="0" tIns="0" rIns="0" bIns="0" rtlCol="0" anchor="ctr"/>
          <a:lstStyle/>
          <a:p>
            <a:pPr indent="0" marL="0">
              <a:buNone/>
            </a:pPr>
            <a:r>
              <a:rPr lang="en-US" sz="1200" b="1" spc="240" kern="0" dirty="0">
                <a:solidFill>
                  <a:srgbClr val="5B3BD4"/>
                </a:solidFill>
                <a:latin typeface="Times New Roman" pitchFamily="34" charset="0"/>
                <a:ea typeface="Times New Roman" pitchFamily="34" charset="-122"/>
                <a:cs typeface="Times New Roman" pitchFamily="34" charset="-120"/>
              </a:rPr>
              <a:t>BACKUP · LIMITATIONS</a:t>
            </a:r>
            <a:endParaRPr lang="en-US" sz="1200" dirty="0"/>
          </a:p>
        </p:txBody>
      </p:sp>
      <p:sp>
        <p:nvSpPr>
          <p:cNvPr id="3" name="Text 1"/>
          <p:cNvSpPr txBox="1"/>
          <p:nvPr/>
        </p:nvSpPr>
        <p:spPr>
          <a:xfrm>
            <a:off x="566928" y="676656"/>
            <a:ext cx="11057839" cy="658368"/>
          </a:xfrm>
          <a:prstGeom prst="rect">
            <a:avLst/>
          </a:prstGeom>
          <a:noFill/>
          <a:ln/>
        </p:spPr>
        <p:txBody>
          <a:bodyPr wrap="square" lIns="0" tIns="0" rIns="0" bIns="0" rtlCol="0" anchor="ctr"/>
          <a:lstStyle/>
          <a:p>
            <a:pPr indent="0" marL="0">
              <a:lnSpc>
                <a:spcPct val="92000"/>
              </a:lnSpc>
              <a:buNone/>
            </a:pPr>
            <a:r>
              <a:rPr lang="en-US" sz="3200" b="1" dirty="0">
                <a:solidFill>
                  <a:srgbClr val="16173A"/>
                </a:solidFill>
                <a:latin typeface="Times New Roman" pitchFamily="34" charset="0"/>
                <a:ea typeface="Times New Roman" pitchFamily="34" charset="-122"/>
                <a:cs typeface="Times New Roman" pitchFamily="34" charset="-120"/>
              </a:rPr>
              <a:t>What this is not</a:t>
            </a:r>
            <a:endParaRPr lang="en-US" sz="3200" dirty="0"/>
          </a:p>
        </p:txBody>
      </p:sp>
      <p:sp>
        <p:nvSpPr>
          <p:cNvPr id="4" name="Text 2"/>
          <p:cNvSpPr txBox="1"/>
          <p:nvPr/>
        </p:nvSpPr>
        <p:spPr>
          <a:xfrm>
            <a:off x="566928" y="1335024"/>
            <a:ext cx="9966960" cy="457200"/>
          </a:xfrm>
          <a:prstGeom prst="rect">
            <a:avLst/>
          </a:prstGeom>
          <a:noFill/>
          <a:ln/>
        </p:spPr>
        <p:txBody>
          <a:bodyPr wrap="square" lIns="0" tIns="0" rIns="0" bIns="0" rtlCol="0" anchor="ctr"/>
          <a:lstStyle/>
          <a:p>
            <a:pPr indent="0" marL="0">
              <a:lnSpc>
                <a:spcPct val="112000"/>
              </a:lnSpc>
              <a:buNone/>
            </a:pPr>
            <a:r>
              <a:rPr lang="en-US" sz="1500" dirty="0">
                <a:solidFill>
                  <a:srgbClr val="56597D"/>
                </a:solidFill>
                <a:latin typeface="Times New Roman" pitchFamily="34" charset="0"/>
                <a:ea typeface="Times New Roman" pitchFamily="34" charset="-122"/>
                <a:cs typeface="Times New Roman" pitchFamily="34" charset="-120"/>
              </a:rPr>
              <a:t>An early-stage estimation tool, not a validated HTA submission model. Clinical, payer, epidemiological and price assumptions should be reviewed by HEOR specialists before any decision relies on them.</a:t>
            </a:r>
            <a:endParaRPr lang="en-US" sz="1500" dirty="0"/>
          </a:p>
        </p:txBody>
      </p:sp>
      <p:sp>
        <p:nvSpPr>
          <p:cNvPr id="5" name="Shape 3"/>
          <p:cNvSpPr/>
          <p:nvPr/>
        </p:nvSpPr>
        <p:spPr>
          <a:xfrm>
            <a:off x="566928" y="2121408"/>
            <a:ext cx="3466490" cy="1554480"/>
          </a:xfrm>
          <a:prstGeom prst="roundRect">
            <a:avLst>
              <a:gd name="adj" fmla="val 3529"/>
            </a:avLst>
          </a:prstGeom>
          <a:solidFill>
            <a:srgbClr val="F4F3FB"/>
          </a:solidFill>
          <a:ln/>
          <a:effectLst>
            <a:outerShdw sx="100000" sy="100000" kx="0" ky="0" algn="bl" rotWithShape="0" blurRad="127000" dist="25400" dir="5400000">
              <a:srgbClr val="1B1B4A">
                <a:alpha val="10000"/>
              </a:srgbClr>
            </a:outerShdw>
          </a:effectLst>
        </p:spPr>
      </p:sp>
      <p:sp>
        <p:nvSpPr>
          <p:cNvPr id="6" name="Text 4"/>
          <p:cNvSpPr txBox="1"/>
          <p:nvPr/>
        </p:nvSpPr>
        <p:spPr>
          <a:xfrm>
            <a:off x="859536" y="2377440"/>
            <a:ext cx="2881274" cy="310896"/>
          </a:xfrm>
          <a:prstGeom prst="rect">
            <a:avLst/>
          </a:prstGeom>
          <a:noFill/>
          <a:ln/>
        </p:spPr>
        <p:txBody>
          <a:bodyPr wrap="square" lIns="0" tIns="0" rIns="0" bIns="0" rtlCol="0" anchor="ctr"/>
          <a:lstStyle/>
          <a:p>
            <a:pPr indent="0" marL="0">
              <a:buNone/>
            </a:pPr>
            <a:r>
              <a:rPr lang="en-US" sz="1500" b="1" dirty="0">
                <a:solidFill>
                  <a:srgbClr val="16173A"/>
                </a:solidFill>
                <a:latin typeface="Times New Roman" pitchFamily="34" charset="0"/>
                <a:ea typeface="Times New Roman" pitchFamily="34" charset="-122"/>
                <a:cs typeface="Times New Roman" pitchFamily="34" charset="-120"/>
              </a:rPr>
              <a:t>Single country</a:t>
            </a:r>
            <a:endParaRPr lang="en-US" sz="1500" dirty="0"/>
          </a:p>
        </p:txBody>
      </p:sp>
      <p:sp>
        <p:nvSpPr>
          <p:cNvPr id="7" name="Text 5"/>
          <p:cNvSpPr txBox="1"/>
          <p:nvPr/>
        </p:nvSpPr>
        <p:spPr>
          <a:xfrm>
            <a:off x="859536" y="2743200"/>
            <a:ext cx="2881274" cy="768096"/>
          </a:xfrm>
          <a:prstGeom prst="rect">
            <a:avLst/>
          </a:prstGeom>
          <a:noFill/>
          <a:ln/>
        </p:spPr>
        <p:txBody>
          <a:bodyPr wrap="square" lIns="0" tIns="0" rIns="0" bIns="0" rtlCol="0" anchor="ctr"/>
          <a:lstStyle/>
          <a:p>
            <a:pPr indent="0" marL="0">
              <a:lnSpc>
                <a:spcPct val="108000"/>
              </a:lnSpc>
              <a:buNone/>
            </a:pPr>
            <a:r>
              <a:rPr lang="en-US" sz="1250" dirty="0">
                <a:solidFill>
                  <a:srgbClr val="56597D"/>
                </a:solidFill>
                <a:latin typeface="Times New Roman" pitchFamily="34" charset="0"/>
                <a:ea typeface="Times New Roman" pitchFamily="34" charset="-122"/>
                <a:cs typeface="Times New Roman" pitchFamily="34" charset="-120"/>
              </a:rPr>
              <a:t>One market, one currency and one price set per run. Multi-country aggregation is not implemented.</a:t>
            </a:r>
            <a:endParaRPr lang="en-US" sz="1250" dirty="0"/>
          </a:p>
        </p:txBody>
      </p:sp>
      <p:sp>
        <p:nvSpPr>
          <p:cNvPr id="8" name="Shape 6"/>
          <p:cNvSpPr/>
          <p:nvPr/>
        </p:nvSpPr>
        <p:spPr>
          <a:xfrm>
            <a:off x="4362602" y="2121408"/>
            <a:ext cx="3466490" cy="1554480"/>
          </a:xfrm>
          <a:prstGeom prst="roundRect">
            <a:avLst>
              <a:gd name="adj" fmla="val 3529"/>
            </a:avLst>
          </a:prstGeom>
          <a:solidFill>
            <a:srgbClr val="F4F3FB"/>
          </a:solidFill>
          <a:ln/>
          <a:effectLst>
            <a:outerShdw sx="100000" sy="100000" kx="0" ky="0" algn="bl" rotWithShape="0" blurRad="127000" dist="25400" dir="5400000">
              <a:srgbClr val="1B1B4A">
                <a:alpha val="10000"/>
              </a:srgbClr>
            </a:outerShdw>
          </a:effectLst>
        </p:spPr>
      </p:sp>
      <p:sp>
        <p:nvSpPr>
          <p:cNvPr id="9" name="Text 7"/>
          <p:cNvSpPr txBox="1"/>
          <p:nvPr/>
        </p:nvSpPr>
        <p:spPr>
          <a:xfrm>
            <a:off x="4655210" y="2377440"/>
            <a:ext cx="2881274" cy="310896"/>
          </a:xfrm>
          <a:prstGeom prst="rect">
            <a:avLst/>
          </a:prstGeom>
          <a:noFill/>
          <a:ln/>
        </p:spPr>
        <p:txBody>
          <a:bodyPr wrap="square" lIns="0" tIns="0" rIns="0" bIns="0" rtlCol="0" anchor="ctr"/>
          <a:lstStyle/>
          <a:p>
            <a:pPr indent="0" marL="0">
              <a:buNone/>
            </a:pPr>
            <a:r>
              <a:rPr lang="en-US" sz="1500" b="1" dirty="0">
                <a:solidFill>
                  <a:srgbClr val="16173A"/>
                </a:solidFill>
                <a:latin typeface="Times New Roman" pitchFamily="34" charset="0"/>
                <a:ea typeface="Times New Roman" pitchFamily="34" charset="-122"/>
                <a:cs typeface="Times New Roman" pitchFamily="34" charset="-120"/>
              </a:rPr>
              <a:t>Subgroups are partial</a:t>
            </a:r>
            <a:endParaRPr lang="en-US" sz="1500" dirty="0"/>
          </a:p>
        </p:txBody>
      </p:sp>
      <p:sp>
        <p:nvSpPr>
          <p:cNvPr id="10" name="Text 8"/>
          <p:cNvSpPr txBox="1"/>
          <p:nvPr/>
        </p:nvSpPr>
        <p:spPr>
          <a:xfrm>
            <a:off x="4655210" y="2743200"/>
            <a:ext cx="2881274" cy="768096"/>
          </a:xfrm>
          <a:prstGeom prst="rect">
            <a:avLst/>
          </a:prstGeom>
          <a:noFill/>
          <a:ln/>
        </p:spPr>
        <p:txBody>
          <a:bodyPr wrap="square" lIns="0" tIns="0" rIns="0" bIns="0" rtlCol="0" anchor="ctr"/>
          <a:lstStyle/>
          <a:p>
            <a:pPr indent="0" marL="0">
              <a:lnSpc>
                <a:spcPct val="108000"/>
              </a:lnSpc>
              <a:buNone/>
            </a:pPr>
            <a:r>
              <a:rPr lang="en-US" sz="1250" dirty="0">
                <a:solidFill>
                  <a:srgbClr val="56597D"/>
                </a:solidFill>
                <a:latin typeface="Times New Roman" pitchFamily="34" charset="0"/>
                <a:ea typeface="Times New Roman" pitchFamily="34" charset="-122"/>
                <a:cs typeface="Times New Roman" pitchFamily="34" charset="-120"/>
              </a:rPr>
              <a:t>Selecting a subgroup narrows the population but inherits the parent's cost and outcome parameters.</a:t>
            </a:r>
            <a:endParaRPr lang="en-US" sz="1250" dirty="0"/>
          </a:p>
        </p:txBody>
      </p:sp>
      <p:sp>
        <p:nvSpPr>
          <p:cNvPr id="11" name="Shape 9"/>
          <p:cNvSpPr/>
          <p:nvPr/>
        </p:nvSpPr>
        <p:spPr>
          <a:xfrm>
            <a:off x="8158277" y="2121408"/>
            <a:ext cx="3466490" cy="1554480"/>
          </a:xfrm>
          <a:prstGeom prst="roundRect">
            <a:avLst>
              <a:gd name="adj" fmla="val 3529"/>
            </a:avLst>
          </a:prstGeom>
          <a:solidFill>
            <a:srgbClr val="F4F3FB"/>
          </a:solidFill>
          <a:ln/>
          <a:effectLst>
            <a:outerShdw sx="100000" sy="100000" kx="0" ky="0" algn="bl" rotWithShape="0" blurRad="127000" dist="25400" dir="5400000">
              <a:srgbClr val="1B1B4A">
                <a:alpha val="10000"/>
              </a:srgbClr>
            </a:outerShdw>
          </a:effectLst>
        </p:spPr>
      </p:sp>
      <p:sp>
        <p:nvSpPr>
          <p:cNvPr id="12" name="Text 10"/>
          <p:cNvSpPr txBox="1"/>
          <p:nvPr/>
        </p:nvSpPr>
        <p:spPr>
          <a:xfrm>
            <a:off x="8450885" y="2377440"/>
            <a:ext cx="2881274" cy="310896"/>
          </a:xfrm>
          <a:prstGeom prst="rect">
            <a:avLst/>
          </a:prstGeom>
          <a:noFill/>
          <a:ln/>
        </p:spPr>
        <p:txBody>
          <a:bodyPr wrap="square" lIns="0" tIns="0" rIns="0" bIns="0" rtlCol="0" anchor="ctr"/>
          <a:lstStyle/>
          <a:p>
            <a:pPr indent="0" marL="0">
              <a:buNone/>
            </a:pPr>
            <a:r>
              <a:rPr lang="en-US" sz="1500" b="1" dirty="0">
                <a:solidFill>
                  <a:srgbClr val="16173A"/>
                </a:solidFill>
                <a:latin typeface="Times New Roman" pitchFamily="34" charset="0"/>
                <a:ea typeface="Times New Roman" pitchFamily="34" charset="-122"/>
                <a:cs typeface="Times New Roman" pitchFamily="34" charset="-120"/>
              </a:rPr>
              <a:t>Proportional displacement</a:t>
            </a:r>
            <a:endParaRPr lang="en-US" sz="1500" dirty="0"/>
          </a:p>
        </p:txBody>
      </p:sp>
      <p:sp>
        <p:nvSpPr>
          <p:cNvPr id="13" name="Text 11"/>
          <p:cNvSpPr txBox="1"/>
          <p:nvPr/>
        </p:nvSpPr>
        <p:spPr>
          <a:xfrm>
            <a:off x="8450885" y="2743200"/>
            <a:ext cx="2881274" cy="768096"/>
          </a:xfrm>
          <a:prstGeom prst="rect">
            <a:avLst/>
          </a:prstGeom>
          <a:noFill/>
          <a:ln/>
        </p:spPr>
        <p:txBody>
          <a:bodyPr wrap="square" lIns="0" tIns="0" rIns="0" bIns="0" rtlCol="0" anchor="ctr"/>
          <a:lstStyle/>
          <a:p>
            <a:pPr indent="0" marL="0">
              <a:lnSpc>
                <a:spcPct val="108000"/>
              </a:lnSpc>
              <a:buNone/>
            </a:pPr>
            <a:r>
              <a:rPr lang="en-US" sz="1250" dirty="0">
                <a:solidFill>
                  <a:srgbClr val="56597D"/>
                </a:solidFill>
                <a:latin typeface="Times New Roman" pitchFamily="34" charset="0"/>
                <a:ea typeface="Times New Roman" pitchFamily="34" charset="-122"/>
                <a:cs typeface="Times New Roman" pitchFamily="34" charset="-120"/>
              </a:rPr>
              <a:t>When the new drug takes share it is drawn evenly from comparators. Real displacement rarely is.</a:t>
            </a:r>
            <a:endParaRPr lang="en-US" sz="1250" dirty="0"/>
          </a:p>
        </p:txBody>
      </p:sp>
      <p:sp>
        <p:nvSpPr>
          <p:cNvPr id="14" name="Shape 12"/>
          <p:cNvSpPr/>
          <p:nvPr/>
        </p:nvSpPr>
        <p:spPr>
          <a:xfrm>
            <a:off x="566928" y="3895344"/>
            <a:ext cx="3466490" cy="1554480"/>
          </a:xfrm>
          <a:prstGeom prst="roundRect">
            <a:avLst>
              <a:gd name="adj" fmla="val 3529"/>
            </a:avLst>
          </a:prstGeom>
          <a:solidFill>
            <a:srgbClr val="F4F3FB"/>
          </a:solidFill>
          <a:ln/>
          <a:effectLst>
            <a:outerShdw sx="100000" sy="100000" kx="0" ky="0" algn="bl" rotWithShape="0" blurRad="127000" dist="25400" dir="5400000">
              <a:srgbClr val="1B1B4A">
                <a:alpha val="10000"/>
              </a:srgbClr>
            </a:outerShdw>
          </a:effectLst>
        </p:spPr>
      </p:sp>
      <p:sp>
        <p:nvSpPr>
          <p:cNvPr id="15" name="Text 13"/>
          <p:cNvSpPr txBox="1"/>
          <p:nvPr/>
        </p:nvSpPr>
        <p:spPr>
          <a:xfrm>
            <a:off x="859536" y="4151376"/>
            <a:ext cx="2881274" cy="310896"/>
          </a:xfrm>
          <a:prstGeom prst="rect">
            <a:avLst/>
          </a:prstGeom>
          <a:noFill/>
          <a:ln/>
        </p:spPr>
        <p:txBody>
          <a:bodyPr wrap="square" lIns="0" tIns="0" rIns="0" bIns="0" rtlCol="0" anchor="ctr"/>
          <a:lstStyle/>
          <a:p>
            <a:pPr indent="0" marL="0">
              <a:buNone/>
            </a:pPr>
            <a:r>
              <a:rPr lang="en-US" sz="1500" b="1" dirty="0">
                <a:solidFill>
                  <a:srgbClr val="16173A"/>
                </a:solidFill>
                <a:latin typeface="Times New Roman" pitchFamily="34" charset="0"/>
                <a:ea typeface="Times New Roman" pitchFamily="34" charset="-122"/>
                <a:cs typeface="Times New Roman" pitchFamily="34" charset="-120"/>
              </a:rPr>
              <a:t>One-way sensitivity</a:t>
            </a:r>
            <a:endParaRPr lang="en-US" sz="1500" dirty="0"/>
          </a:p>
        </p:txBody>
      </p:sp>
      <p:sp>
        <p:nvSpPr>
          <p:cNvPr id="16" name="Text 14"/>
          <p:cNvSpPr txBox="1"/>
          <p:nvPr/>
        </p:nvSpPr>
        <p:spPr>
          <a:xfrm>
            <a:off x="859536" y="4517136"/>
            <a:ext cx="2881274" cy="768096"/>
          </a:xfrm>
          <a:prstGeom prst="rect">
            <a:avLst/>
          </a:prstGeom>
          <a:noFill/>
          <a:ln/>
        </p:spPr>
        <p:txBody>
          <a:bodyPr wrap="square" lIns="0" tIns="0" rIns="0" bIns="0" rtlCol="0" anchor="ctr"/>
          <a:lstStyle/>
          <a:p>
            <a:pPr indent="0" marL="0">
              <a:lnSpc>
                <a:spcPct val="108000"/>
              </a:lnSpc>
              <a:buNone/>
            </a:pPr>
            <a:r>
              <a:rPr lang="en-US" sz="1250" dirty="0">
                <a:solidFill>
                  <a:srgbClr val="56597D"/>
                </a:solidFill>
                <a:latin typeface="Times New Roman" pitchFamily="34" charset="0"/>
                <a:ea typeface="Times New Roman" pitchFamily="34" charset="-122"/>
                <a:cs typeface="Times New Roman" pitchFamily="34" charset="-120"/>
              </a:rPr>
              <a:t>No probabilistic analysis and no correlated parameter sampling.</a:t>
            </a:r>
            <a:endParaRPr lang="en-US" sz="1250" dirty="0"/>
          </a:p>
        </p:txBody>
      </p:sp>
      <p:sp>
        <p:nvSpPr>
          <p:cNvPr id="17" name="Shape 15"/>
          <p:cNvSpPr/>
          <p:nvPr/>
        </p:nvSpPr>
        <p:spPr>
          <a:xfrm>
            <a:off x="4362602" y="3895344"/>
            <a:ext cx="3466490" cy="1554480"/>
          </a:xfrm>
          <a:prstGeom prst="roundRect">
            <a:avLst>
              <a:gd name="adj" fmla="val 3529"/>
            </a:avLst>
          </a:prstGeom>
          <a:solidFill>
            <a:srgbClr val="F4F3FB"/>
          </a:solidFill>
          <a:ln/>
          <a:effectLst>
            <a:outerShdw sx="100000" sy="100000" kx="0" ky="0" algn="bl" rotWithShape="0" blurRad="127000" dist="25400" dir="5400000">
              <a:srgbClr val="1B1B4A">
                <a:alpha val="10000"/>
              </a:srgbClr>
            </a:outerShdw>
          </a:effectLst>
        </p:spPr>
      </p:sp>
      <p:sp>
        <p:nvSpPr>
          <p:cNvPr id="18" name="Text 16"/>
          <p:cNvSpPr txBox="1"/>
          <p:nvPr/>
        </p:nvSpPr>
        <p:spPr>
          <a:xfrm>
            <a:off x="4655210" y="4151376"/>
            <a:ext cx="2881274" cy="310896"/>
          </a:xfrm>
          <a:prstGeom prst="rect">
            <a:avLst/>
          </a:prstGeom>
          <a:noFill/>
          <a:ln/>
        </p:spPr>
        <p:txBody>
          <a:bodyPr wrap="square" lIns="0" tIns="0" rIns="0" bIns="0" rtlCol="0" anchor="ctr"/>
          <a:lstStyle/>
          <a:p>
            <a:pPr indent="0" marL="0">
              <a:buNone/>
            </a:pPr>
            <a:r>
              <a:rPr lang="en-US" sz="1500" b="1" dirty="0">
                <a:solidFill>
                  <a:srgbClr val="16173A"/>
                </a:solidFill>
                <a:latin typeface="Times New Roman" pitchFamily="34" charset="0"/>
                <a:ea typeface="Times New Roman" pitchFamily="34" charset="-122"/>
                <a:cs typeface="Times New Roman" pitchFamily="34" charset="-120"/>
              </a:rPr>
              <a:t>Illustrative demo values</a:t>
            </a:r>
            <a:endParaRPr lang="en-US" sz="1500" dirty="0"/>
          </a:p>
        </p:txBody>
      </p:sp>
      <p:sp>
        <p:nvSpPr>
          <p:cNvPr id="19" name="Text 17"/>
          <p:cNvSpPr txBox="1"/>
          <p:nvPr/>
        </p:nvSpPr>
        <p:spPr>
          <a:xfrm>
            <a:off x="4655210" y="4517136"/>
            <a:ext cx="2881274" cy="768096"/>
          </a:xfrm>
          <a:prstGeom prst="rect">
            <a:avLst/>
          </a:prstGeom>
          <a:noFill/>
          <a:ln/>
        </p:spPr>
        <p:txBody>
          <a:bodyPr wrap="square" lIns="0" tIns="0" rIns="0" bIns="0" rtlCol="0" anchor="ctr"/>
          <a:lstStyle/>
          <a:p>
            <a:pPr indent="0" marL="0">
              <a:lnSpc>
                <a:spcPct val="108000"/>
              </a:lnSpc>
              <a:buNone/>
            </a:pPr>
            <a:r>
              <a:rPr lang="en-US" sz="1250" dirty="0">
                <a:solidFill>
                  <a:srgbClr val="56597D"/>
                </a:solidFill>
                <a:latin typeface="Times New Roman" pitchFamily="34" charset="0"/>
                <a:ea typeface="Times New Roman" pitchFamily="34" charset="-122"/>
                <a:cs typeface="Times New Roman" pitchFamily="34" charset="-120"/>
              </a:rPr>
              <a:t>The built-in scenario is plausible but not drawn from a validated published source.</a:t>
            </a:r>
            <a:endParaRPr lang="en-US" sz="1250" dirty="0"/>
          </a:p>
        </p:txBody>
      </p:sp>
      <p:sp>
        <p:nvSpPr>
          <p:cNvPr id="20" name="Shape 18"/>
          <p:cNvSpPr/>
          <p:nvPr/>
        </p:nvSpPr>
        <p:spPr>
          <a:xfrm>
            <a:off x="8158277" y="3895344"/>
            <a:ext cx="3466490" cy="1554480"/>
          </a:xfrm>
          <a:prstGeom prst="roundRect">
            <a:avLst>
              <a:gd name="adj" fmla="val 3529"/>
            </a:avLst>
          </a:prstGeom>
          <a:solidFill>
            <a:srgbClr val="F4F3FB"/>
          </a:solidFill>
          <a:ln/>
          <a:effectLst>
            <a:outerShdw sx="100000" sy="100000" kx="0" ky="0" algn="bl" rotWithShape="0" blurRad="127000" dist="25400" dir="5400000">
              <a:srgbClr val="1B1B4A">
                <a:alpha val="10000"/>
              </a:srgbClr>
            </a:outerShdw>
          </a:effectLst>
        </p:spPr>
      </p:sp>
      <p:sp>
        <p:nvSpPr>
          <p:cNvPr id="21" name="Text 19"/>
          <p:cNvSpPr txBox="1"/>
          <p:nvPr/>
        </p:nvSpPr>
        <p:spPr>
          <a:xfrm>
            <a:off x="8450885" y="4151376"/>
            <a:ext cx="2881274" cy="310896"/>
          </a:xfrm>
          <a:prstGeom prst="rect">
            <a:avLst/>
          </a:prstGeom>
          <a:noFill/>
          <a:ln/>
        </p:spPr>
        <p:txBody>
          <a:bodyPr wrap="square" lIns="0" tIns="0" rIns="0" bIns="0" rtlCol="0" anchor="ctr"/>
          <a:lstStyle/>
          <a:p>
            <a:pPr indent="0" marL="0">
              <a:buNone/>
            </a:pPr>
            <a:r>
              <a:rPr lang="en-US" sz="1500" b="1" dirty="0">
                <a:solidFill>
                  <a:srgbClr val="16173A"/>
                </a:solidFill>
                <a:latin typeface="Times New Roman" pitchFamily="34" charset="0"/>
                <a:ea typeface="Times New Roman" pitchFamily="34" charset="-122"/>
                <a:cs typeface="Times New Roman" pitchFamily="34" charset="-120"/>
              </a:rPr>
              <a:t>Free-tier hosting</a:t>
            </a:r>
            <a:endParaRPr lang="en-US" sz="1500" dirty="0"/>
          </a:p>
        </p:txBody>
      </p:sp>
      <p:sp>
        <p:nvSpPr>
          <p:cNvPr id="22" name="Text 20"/>
          <p:cNvSpPr txBox="1"/>
          <p:nvPr/>
        </p:nvSpPr>
        <p:spPr>
          <a:xfrm>
            <a:off x="8450885" y="4517136"/>
            <a:ext cx="2881274" cy="768096"/>
          </a:xfrm>
          <a:prstGeom prst="rect">
            <a:avLst/>
          </a:prstGeom>
          <a:noFill/>
          <a:ln/>
        </p:spPr>
        <p:txBody>
          <a:bodyPr wrap="square" lIns="0" tIns="0" rIns="0" bIns="0" rtlCol="0" anchor="ctr"/>
          <a:lstStyle/>
          <a:p>
            <a:pPr indent="0" marL="0">
              <a:lnSpc>
                <a:spcPct val="108000"/>
              </a:lnSpc>
              <a:buNone/>
            </a:pPr>
            <a:r>
              <a:rPr lang="en-US" sz="1250" dirty="0">
                <a:solidFill>
                  <a:srgbClr val="56597D"/>
                </a:solidFill>
                <a:latin typeface="Times New Roman" pitchFamily="34" charset="0"/>
                <a:ea typeface="Times New Roman" pitchFamily="34" charset="-122"/>
                <a:cs typeface="Times New Roman" pitchFamily="34" charset="-120"/>
              </a:rPr>
              <a:t>The instance sleeps after 15 minutes and the free database expires after 30 days, which is why the tool runs without one.</a:t>
            </a:r>
            <a:endParaRPr lang="en-US" sz="1250" dirty="0"/>
          </a:p>
        </p:txBody>
      </p:sp>
      <p:sp>
        <p:nvSpPr>
          <p:cNvPr id="24" name="Text 21"/>
          <p:cNvSpPr txBox="1"/>
          <p:nvPr/>
        </p:nvSpPr>
        <p:spPr>
          <a:xfrm>
            <a:off x="566928" y="6336792"/>
            <a:ext cx="5486400" cy="256032"/>
          </a:xfrm>
          <a:prstGeom prst="rect">
            <a:avLst/>
          </a:prstGeom>
          <a:noFill/>
          <a:ln/>
        </p:spPr>
        <p:txBody>
          <a:bodyPr wrap="square" lIns="0" tIns="0" rIns="0" bIns="0" rtlCol="0" anchor="ctr"/>
          <a:lstStyle/>
          <a:p>
            <a:pPr indent="0" marL="0">
              <a:buNone/>
            </a:pPr>
            <a:r>
              <a:rPr lang="en-US" sz="1050" dirty="0">
                <a:solidFill>
                  <a:srgbClr val="DAD6F2"/>
                </a:solidFill>
                <a:latin typeface="Times New Roman" pitchFamily="34" charset="0"/>
                <a:ea typeface="Times New Roman" pitchFamily="34" charset="-122"/>
                <a:cs typeface="Times New Roman" pitchFamily="34" charset="-120"/>
              </a:rPr>
              <a:t>BIET  ·  Team Denovo  ·  IBAB</a:t>
            </a:r>
            <a:endParaRPr lang="en-US" sz="1050" dirty="0"/>
          </a:p>
        </p:txBody>
      </p:sp>
      <p:sp>
        <p:nvSpPr>
          <p:cNvPr id="25" name="Text 22"/>
          <p:cNvSpPr txBox="1"/>
          <p:nvPr/>
        </p:nvSpPr>
        <p:spPr>
          <a:xfrm>
            <a:off x="10710367" y="6336792"/>
            <a:ext cx="914400" cy="256032"/>
          </a:xfrm>
          <a:prstGeom prst="rect">
            <a:avLst/>
          </a:prstGeom>
          <a:noFill/>
          <a:ln/>
        </p:spPr>
        <p:txBody>
          <a:bodyPr wrap="square" lIns="0" tIns="0" rIns="0" bIns="0" rtlCol="0" anchor="ctr"/>
          <a:lstStyle/>
          <a:p>
            <a:pPr algn="r" indent="0" marL="0">
              <a:buNone/>
            </a:pPr>
            <a:r>
              <a:rPr lang="en-US" sz="1050" b="1" dirty="0">
                <a:solidFill>
                  <a:srgbClr val="DAD6F2"/>
                </a:solidFill>
                <a:latin typeface="Times New Roman" pitchFamily="34" charset="0"/>
                <a:ea typeface="Times New Roman" pitchFamily="34" charset="-122"/>
                <a:cs typeface="Times New Roman" pitchFamily="34" charset="-120"/>
              </a:rPr>
              <a:t>14</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Institute of Bioinformatics and Applied Biotechnology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BIET - Budget Impact Estimation Tool</dc:title>
  <dc:subject>10-minute presentation</dc:subject>
  <dc:creator>Team Denovo, IBAB</dc:creator>
  <cp:lastModifiedBy>Team Denovo, IBAB</cp:lastModifiedBy>
  <cp:revision>1</cp:revision>
  <dcterms:created xsi:type="dcterms:W3CDTF">2026-09-09T03:37:15Z</dcterms:created>
  <dcterms:modified xsi:type="dcterms:W3CDTF">2026-09-09T03:37:15Z</dcterms:modified>
</cp:coreProperties>
</file>